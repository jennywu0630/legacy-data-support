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24"/>
  </p:notesMasterIdLst>
  <p:sldIdLst>
    <p:sldId id="256" r:id="rId3"/>
    <p:sldId id="258" r:id="rId4"/>
    <p:sldId id="259" r:id="rId5"/>
    <p:sldId id="260" r:id="rId6"/>
    <p:sldId id="261" r:id="rId7"/>
    <p:sldId id="262" r:id="rId8"/>
    <p:sldId id="263" r:id="rId9"/>
    <p:sldId id="264" r:id="rId10"/>
    <p:sldId id="277" r:id="rId11"/>
    <p:sldId id="278" r:id="rId12"/>
    <p:sldId id="267" r:id="rId13"/>
    <p:sldId id="270" r:id="rId14"/>
    <p:sldId id="279" r:id="rId15"/>
    <p:sldId id="281" r:id="rId16"/>
    <p:sldId id="269" r:id="rId17"/>
    <p:sldId id="272" r:id="rId18"/>
    <p:sldId id="273" r:id="rId19"/>
    <p:sldId id="282" r:id="rId20"/>
    <p:sldId id="275" r:id="rId21"/>
    <p:sldId id="283" r:id="rId22"/>
    <p:sldId id="276" r:id="rId23"/>
  </p:sldIdLst>
  <p:sldSz cx="9144000" cy="5143500" type="screen16x9"/>
  <p:notesSz cx="6858000" cy="9144000"/>
  <p:embeddedFontLst>
    <p:embeddedFont>
      <p:font typeface="Microsoft Yahei" panose="020B0503020204020204" pitchFamily="34" charset="-122"/>
      <p:regular r:id="rId25"/>
      <p:bold r:id="rId26"/>
    </p:embeddedFont>
    <p:embeddedFont>
      <p:font typeface="Lora" pitchFamily="2" charset="0"/>
      <p:regular r:id="rId27"/>
      <p:bold r:id="rId28"/>
      <p:italic r:id="rId29"/>
      <p:boldItalic r:id="rId30"/>
    </p:embeddedFont>
    <p:embeddedFont>
      <p:font typeface="Roboto Mono" panose="00000009000000000000" pitchFamily="49"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F6D9E4-0644-472F-A213-E06104138BE8}">
  <a:tblStyle styleId="{64F6D9E4-0644-472F-A213-E06104138BE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0" d="100"/>
          <a:sy n="120" d="100"/>
        </p:scale>
        <p:origin x="144" y="4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font" Target="fonts/font10.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7.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34b71270e38_2_4: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 name="Google Shape;56;g34b71270e38_2_4: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57" name="Google Shape;57;g34b71270e38_2_4: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a:t>
            </a:fld>
            <a:endParaRPr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4b71270e38_2_62: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g34b71270e38_2_62: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06" name="Google Shape;106;g34b71270e38_2_62: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2</a:t>
            </a:fld>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4b71270e38_2_79: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g34b71270e38_2_79: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24" name="Google Shape;124;g34b71270e38_2_79: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3</a:t>
            </a:fld>
            <a:endParaRPr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4b71270e38_2_100: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g34b71270e38_2_100: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36" name="Google Shape;136;g34b71270e38_2_100: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4</a:t>
            </a:fld>
            <a:endParaRPr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4b71270e38_2_130:notes"/>
          <p:cNvSpPr>
            <a:spLocks noGrp="1" noRot="1" noChangeAspect="1"/>
          </p:cNvSpPr>
          <p:nvPr>
            <p:ph type="sldImg" idx="2"/>
          </p:nvPr>
        </p:nvSpPr>
        <p:spPr>
          <a:xfrm>
            <a:off x="465906" y="1143215"/>
            <a:ext cx="5928046" cy="308639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g34b71270e38_2_130: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48" name="Google Shape;148;g34b71270e38_2_130: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5</a:t>
            </a:fld>
            <a:endParaRPr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b71270e38_2_167: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g34b71270e38_2_167: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64" name="Google Shape;164;g34b71270e38_2_167: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6</a:t>
            </a:fld>
            <a:endParaRPr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4b71270e38_2_217: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g34b71270e38_2_217: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84" name="Google Shape;184;g34b71270e38_2_217: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7</a:t>
            </a:fld>
            <a:endParaRPr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4b71270e38_2_186: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4b71270e38_2_186: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96" name="Google Shape;196;g34b71270e38_2_186: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8</a:t>
            </a:fld>
            <a:endParaRPr sz="13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AD75A0F0-FAD7-7A89-9BAE-F088316FD8D7}"/>
            </a:ext>
          </a:extLst>
        </p:cNvPr>
        <p:cNvGrpSpPr/>
        <p:nvPr/>
      </p:nvGrpSpPr>
      <p:grpSpPr>
        <a:xfrm>
          <a:off x="0" y="0"/>
          <a:ext cx="0" cy="0"/>
          <a:chOff x="0" y="0"/>
          <a:chExt cx="0" cy="0"/>
        </a:xfrm>
      </p:grpSpPr>
      <p:sp>
        <p:nvSpPr>
          <p:cNvPr id="194" name="Google Shape;194;g34b71270e38_2_186:notes">
            <a:extLst>
              <a:ext uri="{FF2B5EF4-FFF2-40B4-BE49-F238E27FC236}">
                <a16:creationId xmlns:a16="http://schemas.microsoft.com/office/drawing/2014/main" id="{C3DBAFAA-4B6B-20E9-AABF-A839650B412B}"/>
              </a:ext>
            </a:extLst>
          </p:cNvPr>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4b71270e38_2_186:notes">
            <a:extLst>
              <a:ext uri="{FF2B5EF4-FFF2-40B4-BE49-F238E27FC236}">
                <a16:creationId xmlns:a16="http://schemas.microsoft.com/office/drawing/2014/main" id="{A669ED03-9E00-5C3A-5074-69F37BFD29E9}"/>
              </a:ext>
            </a:extLst>
          </p:cNvPr>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96" name="Google Shape;196;g34b71270e38_2_186:notes">
            <a:extLst>
              <a:ext uri="{FF2B5EF4-FFF2-40B4-BE49-F238E27FC236}">
                <a16:creationId xmlns:a16="http://schemas.microsoft.com/office/drawing/2014/main" id="{EF6F1A8B-7CF7-54AD-5530-171B7EA75CF9}"/>
              </a:ext>
            </a:extLst>
          </p:cNvPr>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9</a:t>
            </a:fld>
            <a:endParaRPr sz="1300"/>
          </a:p>
        </p:txBody>
      </p:sp>
    </p:spTree>
    <p:extLst>
      <p:ext uri="{BB962C8B-B14F-4D97-AF65-F5344CB8AC3E}">
        <p14:creationId xmlns:p14="http://schemas.microsoft.com/office/powerpoint/2010/main" val="862705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BE7B63B3-7282-EE6F-DFCB-C0B3C1D062B4}"/>
            </a:ext>
          </a:extLst>
        </p:cNvPr>
        <p:cNvGrpSpPr/>
        <p:nvPr/>
      </p:nvGrpSpPr>
      <p:grpSpPr>
        <a:xfrm>
          <a:off x="0" y="0"/>
          <a:ext cx="0" cy="0"/>
          <a:chOff x="0" y="0"/>
          <a:chExt cx="0" cy="0"/>
        </a:xfrm>
      </p:grpSpPr>
      <p:sp>
        <p:nvSpPr>
          <p:cNvPr id="194" name="Google Shape;194;g34b71270e38_2_186:notes">
            <a:extLst>
              <a:ext uri="{FF2B5EF4-FFF2-40B4-BE49-F238E27FC236}">
                <a16:creationId xmlns:a16="http://schemas.microsoft.com/office/drawing/2014/main" id="{2C95BE99-9C3E-FA01-1F00-DC3FB435811C}"/>
              </a:ext>
            </a:extLst>
          </p:cNvPr>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4b71270e38_2_186:notes">
            <a:extLst>
              <a:ext uri="{FF2B5EF4-FFF2-40B4-BE49-F238E27FC236}">
                <a16:creationId xmlns:a16="http://schemas.microsoft.com/office/drawing/2014/main" id="{E50F3E93-B2AF-6A3D-EAC3-DF507D91B638}"/>
              </a:ext>
            </a:extLst>
          </p:cNvPr>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196" name="Google Shape;196;g34b71270e38_2_186:notes">
            <a:extLst>
              <a:ext uri="{FF2B5EF4-FFF2-40B4-BE49-F238E27FC236}">
                <a16:creationId xmlns:a16="http://schemas.microsoft.com/office/drawing/2014/main" id="{D9396267-5310-2717-1008-37169D461B0C}"/>
              </a:ext>
            </a:extLst>
          </p:cNvPr>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10</a:t>
            </a:fld>
            <a:endParaRPr sz="1300"/>
          </a:p>
        </p:txBody>
      </p:sp>
    </p:spTree>
    <p:extLst>
      <p:ext uri="{BB962C8B-B14F-4D97-AF65-F5344CB8AC3E}">
        <p14:creationId xmlns:p14="http://schemas.microsoft.com/office/powerpoint/2010/main" val="563806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4b71270e38_2_313: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34b71270e38_2_313: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243" name="Google Shape;243;g34b71270e38_2_313: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11</a:t>
            </a:fld>
            <a:endParaRPr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4b71270e38_2_358: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g34b71270e38_2_358: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295" name="Google Shape;295;g34b71270e38_2_358: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12</a:t>
            </a:fld>
            <a:endParaRPr sz="13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3DB70B8E-B78B-FD9E-C5B4-92109DBCDC75}"/>
            </a:ext>
          </a:extLst>
        </p:cNvPr>
        <p:cNvGrpSpPr/>
        <p:nvPr/>
      </p:nvGrpSpPr>
      <p:grpSpPr>
        <a:xfrm>
          <a:off x="0" y="0"/>
          <a:ext cx="0" cy="0"/>
          <a:chOff x="0" y="0"/>
          <a:chExt cx="0" cy="0"/>
        </a:xfrm>
      </p:grpSpPr>
      <p:sp>
        <p:nvSpPr>
          <p:cNvPr id="293" name="Google Shape;293;g34b71270e38_2_358:notes">
            <a:extLst>
              <a:ext uri="{FF2B5EF4-FFF2-40B4-BE49-F238E27FC236}">
                <a16:creationId xmlns:a16="http://schemas.microsoft.com/office/drawing/2014/main" id="{FB71B48D-95E8-9702-C234-48D6DFB35000}"/>
              </a:ext>
            </a:extLst>
          </p:cNvPr>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g34b71270e38_2_358:notes">
            <a:extLst>
              <a:ext uri="{FF2B5EF4-FFF2-40B4-BE49-F238E27FC236}">
                <a16:creationId xmlns:a16="http://schemas.microsoft.com/office/drawing/2014/main" id="{BA6AA9E8-8C79-B926-1455-04EADD3D45B7}"/>
              </a:ext>
            </a:extLst>
          </p:cNvPr>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295" name="Google Shape;295;g34b71270e38_2_358:notes">
            <a:extLst>
              <a:ext uri="{FF2B5EF4-FFF2-40B4-BE49-F238E27FC236}">
                <a16:creationId xmlns:a16="http://schemas.microsoft.com/office/drawing/2014/main" id="{14FBE8F5-5F12-D2C6-11D3-FBF8BD2DD867}"/>
              </a:ext>
            </a:extLst>
          </p:cNvPr>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13</a:t>
            </a:fld>
            <a:endParaRPr sz="1300"/>
          </a:p>
        </p:txBody>
      </p:sp>
    </p:spTree>
    <p:extLst>
      <p:ext uri="{BB962C8B-B14F-4D97-AF65-F5344CB8AC3E}">
        <p14:creationId xmlns:p14="http://schemas.microsoft.com/office/powerpoint/2010/main" val="1280655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FE03FACF-81C2-34F5-6D98-80DD46147FCC}"/>
            </a:ext>
          </a:extLst>
        </p:cNvPr>
        <p:cNvGrpSpPr/>
        <p:nvPr/>
      </p:nvGrpSpPr>
      <p:grpSpPr>
        <a:xfrm>
          <a:off x="0" y="0"/>
          <a:ext cx="0" cy="0"/>
          <a:chOff x="0" y="0"/>
          <a:chExt cx="0" cy="0"/>
        </a:xfrm>
      </p:grpSpPr>
      <p:sp>
        <p:nvSpPr>
          <p:cNvPr id="293" name="Google Shape;293;g34b71270e38_2_358:notes">
            <a:extLst>
              <a:ext uri="{FF2B5EF4-FFF2-40B4-BE49-F238E27FC236}">
                <a16:creationId xmlns:a16="http://schemas.microsoft.com/office/drawing/2014/main" id="{B572AFBA-F4A2-4160-F1A0-2EA4BD2D7F8C}"/>
              </a:ext>
            </a:extLst>
          </p:cNvPr>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4" name="Google Shape;294;g34b71270e38_2_358:notes">
            <a:extLst>
              <a:ext uri="{FF2B5EF4-FFF2-40B4-BE49-F238E27FC236}">
                <a16:creationId xmlns:a16="http://schemas.microsoft.com/office/drawing/2014/main" id="{C2DCA111-3C16-8180-BED2-888694A86EB1}"/>
              </a:ext>
            </a:extLst>
          </p:cNvPr>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295" name="Google Shape;295;g34b71270e38_2_358:notes">
            <a:extLst>
              <a:ext uri="{FF2B5EF4-FFF2-40B4-BE49-F238E27FC236}">
                <a16:creationId xmlns:a16="http://schemas.microsoft.com/office/drawing/2014/main" id="{5C5D1BA1-0836-C86F-EFE1-4039267C55B6}"/>
              </a:ext>
            </a:extLst>
          </p:cNvPr>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14</a:t>
            </a:fld>
            <a:endParaRPr sz="1300"/>
          </a:p>
        </p:txBody>
      </p:sp>
    </p:spTree>
    <p:extLst>
      <p:ext uri="{BB962C8B-B14F-4D97-AF65-F5344CB8AC3E}">
        <p14:creationId xmlns:p14="http://schemas.microsoft.com/office/powerpoint/2010/main" val="3117673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4b71270e38_2_334: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g34b71270e38_2_334: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dirty="0"/>
          </a:p>
        </p:txBody>
      </p:sp>
      <p:sp>
        <p:nvSpPr>
          <p:cNvPr id="280" name="Google Shape;280;g34b71270e38_2_334: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15</a:t>
            </a:fld>
            <a:endParaRPr sz="13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4b71270e38_2_452: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g34b71270e38_2_452: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325" name="Google Shape;325;g34b71270e38_2_452: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16</a:t>
            </a:fld>
            <a:endParaRPr sz="13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34b71270e38_2_404: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g34b71270e38_2_404: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342" name="Google Shape;342;g34b71270e38_2_404: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17</a:t>
            </a:fld>
            <a:endParaRPr sz="13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a:extLst>
            <a:ext uri="{FF2B5EF4-FFF2-40B4-BE49-F238E27FC236}">
              <a16:creationId xmlns:a16="http://schemas.microsoft.com/office/drawing/2014/main" id="{7CD19EE1-3988-45BA-C1A6-8A5FA83BF90C}"/>
            </a:ext>
          </a:extLst>
        </p:cNvPr>
        <p:cNvGrpSpPr/>
        <p:nvPr/>
      </p:nvGrpSpPr>
      <p:grpSpPr>
        <a:xfrm>
          <a:off x="0" y="0"/>
          <a:ext cx="0" cy="0"/>
          <a:chOff x="0" y="0"/>
          <a:chExt cx="0" cy="0"/>
        </a:xfrm>
      </p:grpSpPr>
      <p:sp>
        <p:nvSpPr>
          <p:cNvPr id="340" name="Google Shape;340;g34b71270e38_2_404:notes">
            <a:extLst>
              <a:ext uri="{FF2B5EF4-FFF2-40B4-BE49-F238E27FC236}">
                <a16:creationId xmlns:a16="http://schemas.microsoft.com/office/drawing/2014/main" id="{A96EDE5A-FDF5-F266-45DB-26FEFCFAFBC2}"/>
              </a:ext>
            </a:extLst>
          </p:cNvPr>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g34b71270e38_2_404:notes">
            <a:extLst>
              <a:ext uri="{FF2B5EF4-FFF2-40B4-BE49-F238E27FC236}">
                <a16:creationId xmlns:a16="http://schemas.microsoft.com/office/drawing/2014/main" id="{A275C778-9016-55C0-17A4-D87D2CEB8DC4}"/>
              </a:ext>
            </a:extLst>
          </p:cNvPr>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342" name="Google Shape;342;g34b71270e38_2_404:notes">
            <a:extLst>
              <a:ext uri="{FF2B5EF4-FFF2-40B4-BE49-F238E27FC236}">
                <a16:creationId xmlns:a16="http://schemas.microsoft.com/office/drawing/2014/main" id="{588F9732-A46A-0E93-4984-E5453ACD30EB}"/>
              </a:ext>
            </a:extLst>
          </p:cNvPr>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18</a:t>
            </a:fld>
            <a:endParaRPr sz="1300"/>
          </a:p>
        </p:txBody>
      </p:sp>
    </p:spTree>
    <p:extLst>
      <p:ext uri="{BB962C8B-B14F-4D97-AF65-F5344CB8AC3E}">
        <p14:creationId xmlns:p14="http://schemas.microsoft.com/office/powerpoint/2010/main" val="712336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4b71270e38_2_475:notes"/>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g34b71270e38_2_475: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370" name="Google Shape;370;g34b71270e38_2_475: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19</a:t>
            </a:fld>
            <a:endParaRPr sz="13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a:extLst>
            <a:ext uri="{FF2B5EF4-FFF2-40B4-BE49-F238E27FC236}">
              <a16:creationId xmlns:a16="http://schemas.microsoft.com/office/drawing/2014/main" id="{7886D0E2-CFF2-6384-1F98-BD34039760AB}"/>
            </a:ext>
          </a:extLst>
        </p:cNvPr>
        <p:cNvGrpSpPr/>
        <p:nvPr/>
      </p:nvGrpSpPr>
      <p:grpSpPr>
        <a:xfrm>
          <a:off x="0" y="0"/>
          <a:ext cx="0" cy="0"/>
          <a:chOff x="0" y="0"/>
          <a:chExt cx="0" cy="0"/>
        </a:xfrm>
      </p:grpSpPr>
      <p:sp>
        <p:nvSpPr>
          <p:cNvPr id="368" name="Google Shape;368;g34b71270e38_2_475:notes">
            <a:extLst>
              <a:ext uri="{FF2B5EF4-FFF2-40B4-BE49-F238E27FC236}">
                <a16:creationId xmlns:a16="http://schemas.microsoft.com/office/drawing/2014/main" id="{BB650C37-8467-9DB9-F430-BE1F599BA2DA}"/>
              </a:ext>
            </a:extLst>
          </p:cNvPr>
          <p:cNvSpPr>
            <a:spLocks noGrp="1" noRot="1" noChangeAspect="1"/>
          </p:cNvSpPr>
          <p:nvPr>
            <p:ph type="sldImg" idx="2"/>
          </p:nvPr>
        </p:nvSpPr>
        <p:spPr>
          <a:xfrm>
            <a:off x="685800" y="1143000"/>
            <a:ext cx="5487988"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9" name="Google Shape;369;g34b71270e38_2_475:notes">
            <a:extLst>
              <a:ext uri="{FF2B5EF4-FFF2-40B4-BE49-F238E27FC236}">
                <a16:creationId xmlns:a16="http://schemas.microsoft.com/office/drawing/2014/main" id="{BEED4610-6A22-65F0-EBA3-98B24499623A}"/>
              </a:ext>
            </a:extLst>
          </p:cNvPr>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370" name="Google Shape;370;g34b71270e38_2_475:notes">
            <a:extLst>
              <a:ext uri="{FF2B5EF4-FFF2-40B4-BE49-F238E27FC236}">
                <a16:creationId xmlns:a16="http://schemas.microsoft.com/office/drawing/2014/main" id="{F85E4D7C-2330-4238-75D0-6476A227CC90}"/>
              </a:ext>
            </a:extLst>
          </p:cNvPr>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20</a:t>
            </a:fld>
            <a:endParaRPr sz="1300"/>
          </a:p>
        </p:txBody>
      </p:sp>
    </p:spTree>
    <p:extLst>
      <p:ext uri="{BB962C8B-B14F-4D97-AF65-F5344CB8AC3E}">
        <p14:creationId xmlns:p14="http://schemas.microsoft.com/office/powerpoint/2010/main" val="31660623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4b71270e38_2_573:notes"/>
          <p:cNvSpPr>
            <a:spLocks noGrp="1" noRot="1" noChangeAspect="1"/>
          </p:cNvSpPr>
          <p:nvPr>
            <p:ph type="sldImg" idx="2"/>
          </p:nvPr>
        </p:nvSpPr>
        <p:spPr>
          <a:xfrm>
            <a:off x="465906" y="1143215"/>
            <a:ext cx="5928046" cy="308639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g34b71270e38_2_573:notes"/>
          <p:cNvSpPr txBox="1">
            <a:spLocks noGrp="1"/>
          </p:cNvSpPr>
          <p:nvPr>
            <p:ph type="body" idx="1"/>
          </p:nvPr>
        </p:nvSpPr>
        <p:spPr>
          <a:xfrm>
            <a:off x="686599" y="4401236"/>
            <a:ext cx="5486661" cy="3599851"/>
          </a:xfrm>
          <a:prstGeom prst="rect">
            <a:avLst/>
          </a:prstGeom>
          <a:noFill/>
          <a:ln>
            <a:noFill/>
          </a:ln>
        </p:spPr>
        <p:txBody>
          <a:bodyPr spcFirstLastPara="1" wrap="square" lIns="86075" tIns="43025" rIns="86075" bIns="43025" anchor="t" anchorCtr="0">
            <a:noAutofit/>
          </a:bodyPr>
          <a:lstStyle/>
          <a:p>
            <a:pPr marL="0" lvl="0" indent="0" algn="l" rtl="0">
              <a:spcBef>
                <a:spcPts val="0"/>
              </a:spcBef>
              <a:spcAft>
                <a:spcPts val="0"/>
              </a:spcAft>
              <a:buNone/>
            </a:pPr>
            <a:endParaRPr sz="1300"/>
          </a:p>
        </p:txBody>
      </p:sp>
      <p:sp>
        <p:nvSpPr>
          <p:cNvPr id="385" name="Google Shape;385;g34b71270e38_2_573:notes"/>
          <p:cNvSpPr txBox="1">
            <a:spLocks noGrp="1"/>
          </p:cNvSpPr>
          <p:nvPr>
            <p:ph type="sldNum" idx="12"/>
          </p:nvPr>
        </p:nvSpPr>
        <p:spPr>
          <a:xfrm>
            <a:off x="3885108" y="8686165"/>
            <a:ext cx="2971685" cy="458137"/>
          </a:xfrm>
          <a:prstGeom prst="rect">
            <a:avLst/>
          </a:prstGeom>
          <a:noFill/>
          <a:ln>
            <a:noFill/>
          </a:ln>
        </p:spPr>
        <p:txBody>
          <a:bodyPr spcFirstLastPara="1" wrap="square" lIns="86075" tIns="43025" rIns="86075" bIns="43025" anchor="b" anchorCtr="0">
            <a:noAutofit/>
          </a:bodyPr>
          <a:lstStyle/>
          <a:p>
            <a:pPr marL="0" lvl="0" indent="0" algn="r" rtl="0">
              <a:spcBef>
                <a:spcPts val="0"/>
              </a:spcBef>
              <a:spcAft>
                <a:spcPts val="0"/>
              </a:spcAft>
              <a:buNone/>
            </a:pPr>
            <a:fld id="{00000000-1234-1234-1234-123412341234}" type="slidenum">
              <a:rPr lang="en" sz="1300"/>
              <a:t>21</a:t>
            </a:fld>
            <a:endParaRPr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52"/>
        <p:cNvGrpSpPr/>
        <p:nvPr/>
      </p:nvGrpSpPr>
      <p:grpSpPr>
        <a:xfrm>
          <a:off x="0" y="0"/>
          <a:ext cx="0" cy="0"/>
          <a:chOff x="0" y="0"/>
          <a:chExt cx="0" cy="0"/>
        </a:xfrm>
      </p:grpSpPr>
      <p:sp>
        <p:nvSpPr>
          <p:cNvPr id="53" name="Google Shape;53;p14"/>
          <p:cNvSpPr txBox="1"/>
          <p:nvPr/>
        </p:nvSpPr>
        <p:spPr>
          <a:xfrm>
            <a:off x="3238500" y="2228850"/>
            <a:ext cx="2667000" cy="17240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00">
                <a:solidFill>
                  <a:srgbClr val="F2F2F2"/>
                </a:solidFill>
                <a:latin typeface="Microsoft Yahei"/>
                <a:ea typeface="Microsoft Yahei"/>
                <a:cs typeface="Microsoft Yahei"/>
                <a:sym typeface="Microsoft Yahei"/>
              </a:rPr>
              <a:t>感谢您下载小木头平台上提供的PPT作品，为了您和小木头以及原创作者的利益，请勿复制、传播、销售，否则将承担法律责任！小木头将对作品进行维权，按照传播下载次数进行十倍的索取赔偿！</a:t>
            </a:r>
            <a:endParaRPr sz="200">
              <a:solidFill>
                <a:srgbClr val="F2F2F2"/>
              </a:solidFill>
              <a:latin typeface="Microsoft Yahei"/>
              <a:ea typeface="Microsoft Yahei"/>
              <a:cs typeface="Microsoft Yahei"/>
              <a:sym typeface="Microsoft Yahei"/>
            </a:endParaRPr>
          </a:p>
          <a:p>
            <a:pPr marL="0" marR="0" lvl="0" indent="0" algn="l" rtl="0">
              <a:spcBef>
                <a:spcPts val="0"/>
              </a:spcBef>
              <a:spcAft>
                <a:spcPts val="0"/>
              </a:spcAft>
              <a:buNone/>
            </a:pPr>
            <a:r>
              <a:rPr lang="en" sz="500">
                <a:solidFill>
                  <a:srgbClr val="F2F2F2"/>
                </a:solidFill>
                <a:latin typeface="Microsoft Yahei"/>
                <a:ea typeface="Microsoft Yahei"/>
                <a:cs typeface="Microsoft Yahei"/>
                <a:sym typeface="Microsoft Yahei"/>
              </a:rPr>
              <a:t>ibaotu.com</a:t>
            </a:r>
            <a:endParaRPr sz="500">
              <a:solidFill>
                <a:srgbClr val="F2F2F2"/>
              </a:solidFill>
              <a:latin typeface="Microsoft Yahei"/>
              <a:ea typeface="Microsoft Yahei"/>
              <a:cs typeface="Microsoft Yahei"/>
              <a:sym typeface="Microsoft Yahei"/>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50"/>
        <p:cNvGrpSpPr/>
        <p:nvPr/>
      </p:nvGrpSpPr>
      <p:grpSpPr>
        <a:xfrm>
          <a:off x="0" y="0"/>
          <a:ext cx="0" cy="0"/>
          <a:chOff x="0" y="0"/>
          <a:chExt cx="0" cy="0"/>
        </a:xfrm>
      </p:grpSpPr>
      <p:sp>
        <p:nvSpPr>
          <p:cNvPr id="51" name="Google Shape;51;p13"/>
          <p:cNvSpPr txBox="1"/>
          <p:nvPr/>
        </p:nvSpPr>
        <p:spPr>
          <a:xfrm>
            <a:off x="3238500" y="2228850"/>
            <a:ext cx="2667000" cy="17240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00" b="0" i="0" u="none" strike="noStrike" cap="none">
                <a:solidFill>
                  <a:srgbClr val="F2F2F2"/>
                </a:solidFill>
                <a:latin typeface="Microsoft Yahei"/>
                <a:ea typeface="Microsoft Yahei"/>
                <a:cs typeface="Microsoft Yahei"/>
                <a:sym typeface="Microsoft Yahei"/>
              </a:rPr>
              <a:t>感谢您下载小木头平台上提供的PPT作品，为了您和小木头以及原创作者的利益，请勿复制、传播、销售，否则将承担法律责任！小木头将对作品进行维权，按照传播下载次数进行十倍的索取赔偿！</a:t>
            </a:r>
            <a:endParaRPr sz="200">
              <a:solidFill>
                <a:srgbClr val="F2F2F2"/>
              </a:solidFill>
              <a:latin typeface="Microsoft Yahei"/>
              <a:ea typeface="Microsoft Yahei"/>
              <a:cs typeface="Microsoft Yahei"/>
              <a:sym typeface="Microsoft Yahei"/>
            </a:endParaRPr>
          </a:p>
          <a:p>
            <a:pPr marL="0" marR="0" lvl="0" indent="0" algn="l" rtl="0">
              <a:spcBef>
                <a:spcPts val="0"/>
              </a:spcBef>
              <a:spcAft>
                <a:spcPts val="0"/>
              </a:spcAft>
              <a:buNone/>
            </a:pPr>
            <a:r>
              <a:rPr lang="en" sz="500">
                <a:solidFill>
                  <a:srgbClr val="F2F2F2"/>
                </a:solidFill>
                <a:latin typeface="Microsoft Yahei"/>
                <a:ea typeface="Microsoft Yahei"/>
                <a:cs typeface="Microsoft Yahei"/>
                <a:sym typeface="Microsoft Yahei"/>
              </a:rPr>
              <a:t>ibaotu.com</a:t>
            </a:r>
            <a:endParaRPr sz="500">
              <a:solidFill>
                <a:srgbClr val="F2F2F2"/>
              </a:solidFill>
              <a:latin typeface="Microsoft Yahei"/>
              <a:ea typeface="Microsoft Yahei"/>
              <a:cs typeface="Microsoft Yahei"/>
              <a:sym typeface="Microsoft Yahei"/>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5"/>
          <p:cNvSpPr/>
          <p:nvPr/>
        </p:nvSpPr>
        <p:spPr>
          <a:xfrm>
            <a:off x="276701" y="433219"/>
            <a:ext cx="8590500" cy="4030500"/>
          </a:xfrm>
          <a:prstGeom prst="rect">
            <a:avLst/>
          </a:prstGeom>
          <a:solidFill>
            <a:srgbClr val="F2F2F2"/>
          </a:solidFill>
          <a:ln>
            <a:noFill/>
          </a:ln>
          <a:effectLst>
            <a:outerShdw blurRad="50800" dist="38100" dir="10800000" algn="r"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60" name="Google Shape;60;p15"/>
          <p:cNvSpPr txBox="1"/>
          <p:nvPr/>
        </p:nvSpPr>
        <p:spPr>
          <a:xfrm>
            <a:off x="927475" y="878321"/>
            <a:ext cx="7454400" cy="1054104"/>
          </a:xfrm>
          <a:prstGeom prst="rect">
            <a:avLst/>
          </a:prstGeom>
          <a:noFill/>
          <a:ln>
            <a:noFill/>
          </a:ln>
        </p:spPr>
        <p:txBody>
          <a:bodyPr spcFirstLastPara="1" wrap="square" lIns="68575" tIns="34275" rIns="68575" bIns="34275" anchor="t" anchorCtr="0">
            <a:spAutoFit/>
          </a:bodyPr>
          <a:lstStyle/>
          <a:p>
            <a:pPr lvl="0" algn="ctr"/>
            <a:r>
              <a:rPr lang="en-US" sz="3200" b="1" dirty="0"/>
              <a:t>Predicting Next-Day Stock Trends Using Machine Learning</a:t>
            </a:r>
            <a:endParaRPr lang="en-US" sz="3000" b="1" dirty="0">
              <a:solidFill>
                <a:srgbClr val="3F3F3F"/>
              </a:solidFill>
            </a:endParaRPr>
          </a:p>
        </p:txBody>
      </p:sp>
      <p:sp>
        <p:nvSpPr>
          <p:cNvPr id="61" name="Google Shape;61;p15"/>
          <p:cNvSpPr txBox="1"/>
          <p:nvPr/>
        </p:nvSpPr>
        <p:spPr>
          <a:xfrm>
            <a:off x="5304472" y="1893570"/>
            <a:ext cx="2486400" cy="700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4100">
              <a:solidFill>
                <a:srgbClr val="3F3F3F"/>
              </a:solidFill>
              <a:latin typeface="Arial"/>
              <a:ea typeface="Arial"/>
              <a:cs typeface="Arial"/>
              <a:sym typeface="Arial"/>
            </a:endParaRPr>
          </a:p>
        </p:txBody>
      </p:sp>
      <p:cxnSp>
        <p:nvCxnSpPr>
          <p:cNvPr id="62" name="Google Shape;62;p15"/>
          <p:cNvCxnSpPr/>
          <p:nvPr/>
        </p:nvCxnSpPr>
        <p:spPr>
          <a:xfrm rot="10800000" flipH="1">
            <a:off x="281600" y="2178275"/>
            <a:ext cx="8895600" cy="66300"/>
          </a:xfrm>
          <a:prstGeom prst="straightConnector1">
            <a:avLst/>
          </a:prstGeom>
          <a:noFill/>
          <a:ln w="25400" cap="flat" cmpd="sng">
            <a:solidFill>
              <a:srgbClr val="3F3F3F"/>
            </a:solidFill>
            <a:prstDash val="solid"/>
            <a:miter lim="800000"/>
            <a:headEnd type="none" w="sm" len="sm"/>
            <a:tailEnd type="none" w="sm" len="sm"/>
          </a:ln>
        </p:spPr>
      </p:cxnSp>
      <p:sp>
        <p:nvSpPr>
          <p:cNvPr id="63" name="Google Shape;63;p15"/>
          <p:cNvSpPr txBox="1"/>
          <p:nvPr/>
        </p:nvSpPr>
        <p:spPr>
          <a:xfrm>
            <a:off x="1930000" y="3687700"/>
            <a:ext cx="5283900" cy="346218"/>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r>
              <a:rPr lang="en" sz="1200" dirty="0">
                <a:solidFill>
                  <a:srgbClr val="595959"/>
                </a:solidFill>
                <a:latin typeface="Lora"/>
                <a:ea typeface="Lora"/>
                <a:cs typeface="Lora"/>
                <a:sym typeface="Lora"/>
              </a:rPr>
              <a:t>Group member :  Jianyi Wu 530569</a:t>
            </a:r>
            <a:endParaRPr sz="1200" dirty="0">
              <a:solidFill>
                <a:srgbClr val="595959"/>
              </a:solidFill>
              <a:latin typeface="Lora"/>
              <a:ea typeface="Lora"/>
              <a:cs typeface="Lora"/>
              <a:sym typeface="Lora"/>
            </a:endParaRPr>
          </a:p>
        </p:txBody>
      </p:sp>
      <p:pic>
        <p:nvPicPr>
          <p:cNvPr id="64" name="Google Shape;64;p15"/>
          <p:cNvPicPr preferRelativeResize="0"/>
          <p:nvPr/>
        </p:nvPicPr>
        <p:blipFill rotWithShape="1">
          <a:blip r:embed="rId3">
            <a:alphaModFix/>
          </a:blip>
          <a:srcRect/>
          <a:stretch/>
        </p:blipFill>
        <p:spPr>
          <a:xfrm>
            <a:off x="-599122" y="183356"/>
            <a:ext cx="457200" cy="457200"/>
          </a:xfrm>
          <a:prstGeom prst="rect">
            <a:avLst/>
          </a:prstGeom>
          <a:noFill/>
          <a:ln>
            <a:noFill/>
          </a:ln>
        </p:spPr>
      </p:pic>
      <p:sp>
        <p:nvSpPr>
          <p:cNvPr id="65" name="Google Shape;65;p15"/>
          <p:cNvSpPr txBox="1"/>
          <p:nvPr/>
        </p:nvSpPr>
        <p:spPr>
          <a:xfrm>
            <a:off x="1532275" y="2455775"/>
            <a:ext cx="6849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dirty="0"/>
              <a:t>Econ 6140 – Machine Learning and Data Science in Economics</a:t>
            </a:r>
            <a:endParaRPr lang="en-US" sz="16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
                                        <p:tgtEl>
                                          <p:spTgt spid="64"/>
                                        </p:tgtEl>
                                      </p:cBhvr>
                                    </p:animEffect>
                                  </p:childTnLst>
                                </p:cTn>
                              </p:par>
                            </p:childTnLst>
                          </p:cTn>
                        </p:par>
                        <p:par>
                          <p:cTn id="8" fill="hold">
                            <p:stCondLst>
                              <p:cond delay="1"/>
                            </p:stCondLst>
                            <p:childTnLst>
                              <p:par>
                                <p:cTn id="9" presetID="10"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500"/>
                                        <p:tgtEl>
                                          <p:spTgt spid="59"/>
                                        </p:tgtEl>
                                      </p:cBhvr>
                                    </p:animEffect>
                                  </p:childTnLst>
                                </p:cTn>
                              </p:par>
                            </p:childTnLst>
                          </p:cTn>
                        </p:par>
                        <p:par>
                          <p:cTn id="12" fill="hold">
                            <p:stCondLst>
                              <p:cond delay="501"/>
                            </p:stCondLst>
                            <p:childTnLst>
                              <p:par>
                                <p:cTn id="13" presetID="2" presetClass="entr" presetSubtype="8"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 calcmode="lin" valueType="num">
                                      <p:cBhvr additive="base">
                                        <p:cTn id="15" dur="500"/>
                                        <p:tgtEl>
                                          <p:spTgt spid="60"/>
                                        </p:tgtEl>
                                        <p:attrNameLst>
                                          <p:attrName>ppt_x</p:attrName>
                                        </p:attrNameLst>
                                      </p:cBhvr>
                                      <p:tavLst>
                                        <p:tav tm="0">
                                          <p:val>
                                            <p:strVal val="#ppt_x-1"/>
                                          </p:val>
                                        </p:tav>
                                        <p:tav tm="100000">
                                          <p:val>
                                            <p:strVal val="#ppt_x"/>
                                          </p:val>
                                        </p:tav>
                                      </p:tavLst>
                                    </p:anim>
                                  </p:childTnLst>
                                </p:cTn>
                              </p:par>
                            </p:childTnLst>
                          </p:cTn>
                        </p:par>
                        <p:par>
                          <p:cTn id="16" fill="hold">
                            <p:stCondLst>
                              <p:cond delay="1001"/>
                            </p:stCondLst>
                            <p:childTnLst>
                              <p:par>
                                <p:cTn id="17" presetID="2" presetClass="entr" presetSubtype="2" fill="hold" nodeType="afterEffect">
                                  <p:stCondLst>
                                    <p:cond delay="0"/>
                                  </p:stCondLst>
                                  <p:childTnLst>
                                    <p:set>
                                      <p:cBhvr>
                                        <p:cTn id="18" dur="1" fill="hold">
                                          <p:stCondLst>
                                            <p:cond delay="0"/>
                                          </p:stCondLst>
                                        </p:cTn>
                                        <p:tgtEl>
                                          <p:spTgt spid="61"/>
                                        </p:tgtEl>
                                        <p:attrNameLst>
                                          <p:attrName>style.visibility</p:attrName>
                                        </p:attrNameLst>
                                      </p:cBhvr>
                                      <p:to>
                                        <p:strVal val="visible"/>
                                      </p:to>
                                    </p:set>
                                    <p:anim calcmode="lin" valueType="num">
                                      <p:cBhvr additive="base">
                                        <p:cTn id="19" dur="500"/>
                                        <p:tgtEl>
                                          <p:spTgt spid="61"/>
                                        </p:tgtEl>
                                        <p:attrNameLst>
                                          <p:attrName>ppt_x</p:attrName>
                                        </p:attrNameLst>
                                      </p:cBhvr>
                                      <p:tavLst>
                                        <p:tav tm="0">
                                          <p:val>
                                            <p:strVal val="#ppt_x+1"/>
                                          </p:val>
                                        </p:tav>
                                        <p:tav tm="100000">
                                          <p:val>
                                            <p:strVal val="#ppt_x"/>
                                          </p:val>
                                        </p:tav>
                                      </p:tavLst>
                                    </p:anim>
                                  </p:childTnLst>
                                </p:cTn>
                              </p:par>
                            </p:childTnLst>
                          </p:cTn>
                        </p:par>
                        <p:par>
                          <p:cTn id="20" fill="hold">
                            <p:stCondLst>
                              <p:cond delay="1501"/>
                            </p:stCondLst>
                            <p:childTnLst>
                              <p:par>
                                <p:cTn id="21" presetID="10" presetClass="entr" presetSubtype="0"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fade">
                                      <p:cBhvr>
                                        <p:cTn id="23" dur="500"/>
                                        <p:tgtEl>
                                          <p:spTgt spid="62"/>
                                        </p:tgtEl>
                                      </p:cBhvr>
                                    </p:animEffect>
                                  </p:childTnLst>
                                </p:cTn>
                              </p:par>
                            </p:childTnLst>
                          </p:cTn>
                        </p:par>
                        <p:par>
                          <p:cTn id="24" fill="hold">
                            <p:stCondLst>
                              <p:cond delay="2001"/>
                            </p:stCondLst>
                            <p:childTnLst>
                              <p:par>
                                <p:cTn id="25" presetID="10" presetClass="entr" presetSubtype="0" fill="hold" nodeType="after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p:nvPr/>
        </p:nvSpPr>
        <p:spPr>
          <a:xfrm>
            <a:off x="573881" y="301466"/>
            <a:ext cx="7996238" cy="4102418"/>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109" name="Google Shape;109;p17"/>
          <p:cNvSpPr/>
          <p:nvPr/>
        </p:nvSpPr>
        <p:spPr>
          <a:xfrm>
            <a:off x="573881" y="301466"/>
            <a:ext cx="2377440" cy="4101941"/>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nvGrpSpPr>
          <p:cNvPr id="110" name="Google Shape;110;p17"/>
          <p:cNvGrpSpPr/>
          <p:nvPr/>
        </p:nvGrpSpPr>
        <p:grpSpPr>
          <a:xfrm>
            <a:off x="7416641" y="3250406"/>
            <a:ext cx="1153478" cy="1153478"/>
            <a:chOff x="15573" y="6825"/>
            <a:chExt cx="2422" cy="2422"/>
          </a:xfrm>
        </p:grpSpPr>
        <p:sp>
          <p:nvSpPr>
            <p:cNvPr id="111" name="Google Shape;111;p17"/>
            <p:cNvSpPr/>
            <p:nvPr/>
          </p:nvSpPr>
          <p:spPr>
            <a:xfrm flipH="1">
              <a:off x="15573" y="6825"/>
              <a:ext cx="2422" cy="2422"/>
            </a:xfrm>
            <a:prstGeom prst="rtTriangle">
              <a:avLst/>
            </a:prstGeom>
            <a:solidFill>
              <a:srgbClr val="3F3F3F">
                <a:alpha val="49803"/>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2" name="Google Shape;112;p17"/>
            <p:cNvSpPr/>
            <p:nvPr/>
          </p:nvSpPr>
          <p:spPr>
            <a:xfrm flipH="1">
              <a:off x="16017" y="7268"/>
              <a:ext cx="1978" cy="1978"/>
            </a:xfrm>
            <a:prstGeom prst="rtTriangl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3" name="Google Shape;113;p17"/>
            <p:cNvSpPr/>
            <p:nvPr/>
          </p:nvSpPr>
          <p:spPr>
            <a:xfrm flipH="1">
              <a:off x="16439" y="7690"/>
              <a:ext cx="1556" cy="1556"/>
            </a:xfrm>
            <a:prstGeom prst="rtTriangle">
              <a:avLst/>
            </a:prstGeom>
            <a:solidFill>
              <a:srgbClr val="3F3F3F">
                <a:alpha val="80000"/>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sp>
        <p:nvSpPr>
          <p:cNvPr id="114" name="Google Shape;114;p17"/>
          <p:cNvSpPr/>
          <p:nvPr/>
        </p:nvSpPr>
        <p:spPr>
          <a:xfrm>
            <a:off x="8234363" y="458629"/>
            <a:ext cx="155257" cy="155257"/>
          </a:xfrm>
          <a:prstGeom prst="ellipse">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15" name="Google Shape;115;p17"/>
          <p:cNvCxnSpPr/>
          <p:nvPr/>
        </p:nvCxnSpPr>
        <p:spPr>
          <a:xfrm>
            <a:off x="1474946" y="3101816"/>
            <a:ext cx="1250633" cy="0"/>
          </a:xfrm>
          <a:prstGeom prst="straightConnector1">
            <a:avLst/>
          </a:prstGeom>
          <a:noFill/>
          <a:ln w="19050" cap="flat" cmpd="sng">
            <a:solidFill>
              <a:schemeClr val="lt1"/>
            </a:solidFill>
            <a:prstDash val="solid"/>
            <a:miter lim="800000"/>
            <a:headEnd type="none" w="sm" len="sm"/>
            <a:tailEnd type="none" w="sm" len="sm"/>
          </a:ln>
        </p:spPr>
      </p:cxnSp>
      <p:sp>
        <p:nvSpPr>
          <p:cNvPr id="116" name="Google Shape;116;p17"/>
          <p:cNvSpPr txBox="1"/>
          <p:nvPr/>
        </p:nvSpPr>
        <p:spPr>
          <a:xfrm>
            <a:off x="1528763" y="1958340"/>
            <a:ext cx="1415891" cy="1222534"/>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500" b="1">
                <a:solidFill>
                  <a:schemeClr val="lt1"/>
                </a:solidFill>
                <a:latin typeface="Arial"/>
                <a:ea typeface="Arial"/>
                <a:cs typeface="Arial"/>
                <a:sym typeface="Arial"/>
              </a:rPr>
              <a:t>01</a:t>
            </a:r>
            <a:endParaRPr sz="7500" b="1">
              <a:solidFill>
                <a:schemeClr val="lt1"/>
              </a:solidFill>
              <a:latin typeface="Arial"/>
              <a:ea typeface="Arial"/>
              <a:cs typeface="Arial"/>
              <a:sym typeface="Arial"/>
            </a:endParaRPr>
          </a:p>
        </p:txBody>
      </p:sp>
      <p:sp>
        <p:nvSpPr>
          <p:cNvPr id="117" name="Google Shape;117;p17"/>
          <p:cNvSpPr txBox="1"/>
          <p:nvPr/>
        </p:nvSpPr>
        <p:spPr>
          <a:xfrm>
            <a:off x="1599724" y="1729740"/>
            <a:ext cx="1208246" cy="299085"/>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None/>
            </a:pPr>
            <a:r>
              <a:rPr lang="en" sz="1500" b="1">
                <a:solidFill>
                  <a:schemeClr val="lt1"/>
                </a:solidFill>
                <a:latin typeface="Microsoft Yahei"/>
                <a:ea typeface="Microsoft Yahei"/>
                <a:cs typeface="Microsoft Yahei"/>
                <a:sym typeface="Microsoft Yahei"/>
              </a:rPr>
              <a:t>PART ONE</a:t>
            </a:r>
            <a:endParaRPr sz="1500" b="1">
              <a:solidFill>
                <a:schemeClr val="lt1"/>
              </a:solidFill>
              <a:latin typeface="Microsoft Yahei"/>
              <a:ea typeface="Microsoft Yahei"/>
              <a:cs typeface="Microsoft Yahei"/>
              <a:sym typeface="Microsoft Yahei"/>
            </a:endParaRPr>
          </a:p>
        </p:txBody>
      </p:sp>
      <p:sp>
        <p:nvSpPr>
          <p:cNvPr id="118" name="Google Shape;118;p17"/>
          <p:cNvSpPr/>
          <p:nvPr/>
        </p:nvSpPr>
        <p:spPr>
          <a:xfrm>
            <a:off x="3482816" y="1978819"/>
            <a:ext cx="558165" cy="89535"/>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19" name="Google Shape;119;p17"/>
          <p:cNvSpPr txBox="1"/>
          <p:nvPr/>
        </p:nvSpPr>
        <p:spPr>
          <a:xfrm>
            <a:off x="3562537" y="2336996"/>
            <a:ext cx="4052700" cy="561900"/>
          </a:xfrm>
          <a:prstGeom prst="rect">
            <a:avLst/>
          </a:prstGeom>
          <a:noFill/>
          <a:ln>
            <a:noFill/>
          </a:ln>
        </p:spPr>
        <p:txBody>
          <a:bodyPr spcFirstLastPara="1" wrap="square" lIns="68575" tIns="34275" rIns="68575" bIns="34275" anchor="t" anchorCtr="0">
            <a:spAutoFit/>
          </a:bodyPr>
          <a:lstStyle/>
          <a:p>
            <a:pPr lvl="0" algn="just">
              <a:buClr>
                <a:schemeClr val="dk1"/>
              </a:buClr>
            </a:pPr>
            <a:r>
              <a:rPr lang="en-US" b="1" dirty="0">
                <a:solidFill>
                  <a:srgbClr val="3F3F3F"/>
                </a:solidFill>
                <a:latin typeface="Microsoft Yahei"/>
                <a:ea typeface="Microsoft Yahei"/>
                <a:cs typeface="Microsoft Yahei"/>
                <a:sym typeface="Microsoft Yahei"/>
              </a:rPr>
              <a:t>Research Questions &amp; Dataset</a:t>
            </a:r>
          </a:p>
          <a:p>
            <a:pPr marL="0" marR="0" lvl="0" indent="0" algn="just" rtl="0">
              <a:spcBef>
                <a:spcPts val="0"/>
              </a:spcBef>
              <a:spcAft>
                <a:spcPts val="0"/>
              </a:spcAft>
              <a:buNone/>
            </a:pPr>
            <a:endParaRPr sz="1800" b="1" dirty="0">
              <a:solidFill>
                <a:srgbClr val="3F3F3F"/>
              </a:solidFill>
              <a:latin typeface="Microsoft Yahei"/>
              <a:ea typeface="Microsoft Yahei"/>
              <a:cs typeface="Microsoft Yahei"/>
              <a:sym typeface="Microsoft Yahei"/>
            </a:endParaRPr>
          </a:p>
        </p:txBody>
      </p:sp>
      <p:sp>
        <p:nvSpPr>
          <p:cNvPr id="120" name="Google Shape;120;p17"/>
          <p:cNvSpPr txBox="1"/>
          <p:nvPr/>
        </p:nvSpPr>
        <p:spPr>
          <a:xfrm>
            <a:off x="3417094" y="2617946"/>
            <a:ext cx="42111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900">
              <a:solidFill>
                <a:srgbClr val="3F3F3F"/>
              </a:solidFill>
              <a:latin typeface="Arial"/>
              <a:ea typeface="Arial"/>
              <a:cs typeface="Arial"/>
              <a:sym typeface="Aria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9"/>
                                        </p:tgtEl>
                                        <p:attrNameLst>
                                          <p:attrName>style.visibility</p:attrName>
                                        </p:attrNameLst>
                                      </p:cBhvr>
                                      <p:to>
                                        <p:strVal val="visible"/>
                                      </p:to>
                                    </p:set>
                                    <p:animEffect transition="in" filter="fade">
                                      <p:cBhvr>
                                        <p:cTn id="11" dur="500"/>
                                        <p:tgtEl>
                                          <p:spTgt spid="109"/>
                                        </p:tgtEl>
                                      </p:cBhvr>
                                    </p:animEffect>
                                  </p:childTnLst>
                                </p:cTn>
                              </p:par>
                              <p:par>
                                <p:cTn id="12" presetID="10" presetClass="entr" presetSubtype="0" fill="hold" nodeType="withEffect">
                                  <p:stCondLst>
                                    <p:cond delay="0"/>
                                  </p:stCondLst>
                                  <p:childTnLst>
                                    <p:set>
                                      <p:cBhvr>
                                        <p:cTn id="13" dur="1" fill="hold">
                                          <p:stCondLst>
                                            <p:cond delay="0"/>
                                          </p:stCondLst>
                                        </p:cTn>
                                        <p:tgtEl>
                                          <p:spTgt spid="110"/>
                                        </p:tgtEl>
                                        <p:attrNameLst>
                                          <p:attrName>style.visibility</p:attrName>
                                        </p:attrNameLst>
                                      </p:cBhvr>
                                      <p:to>
                                        <p:strVal val="visible"/>
                                      </p:to>
                                    </p:set>
                                    <p:animEffect transition="in" filter="fade">
                                      <p:cBhvr>
                                        <p:cTn id="14" dur="500"/>
                                        <p:tgtEl>
                                          <p:spTgt spid="110"/>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17"/>
                                        </p:tgtEl>
                                        <p:attrNameLst>
                                          <p:attrName>style.visibility</p:attrName>
                                        </p:attrNameLst>
                                      </p:cBhvr>
                                      <p:to>
                                        <p:strVal val="visible"/>
                                      </p:to>
                                    </p:set>
                                    <p:animEffect transition="in" filter="fade">
                                      <p:cBhvr>
                                        <p:cTn id="18" dur="500"/>
                                        <p:tgtEl>
                                          <p:spTgt spid="117"/>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116"/>
                                        </p:tgtEl>
                                        <p:attrNameLst>
                                          <p:attrName>style.visibility</p:attrName>
                                        </p:attrNameLst>
                                      </p:cBhvr>
                                      <p:to>
                                        <p:strVal val="visible"/>
                                      </p:to>
                                    </p:set>
                                    <p:animEffect transition="in" filter="fade">
                                      <p:cBhvr>
                                        <p:cTn id="22" dur="500"/>
                                        <p:tgtEl>
                                          <p:spTgt spid="116"/>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115"/>
                                        </p:tgtEl>
                                        <p:attrNameLst>
                                          <p:attrName>style.visibility</p:attrName>
                                        </p:attrNameLst>
                                      </p:cBhvr>
                                      <p:to>
                                        <p:strVal val="visible"/>
                                      </p:to>
                                    </p:set>
                                    <p:animEffect transition="in" filter="fade">
                                      <p:cBhvr>
                                        <p:cTn id="26" dur="500"/>
                                        <p:tgtEl>
                                          <p:spTgt spid="115"/>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118"/>
                                        </p:tgtEl>
                                        <p:attrNameLst>
                                          <p:attrName>style.visibility</p:attrName>
                                        </p:attrNameLst>
                                      </p:cBhvr>
                                      <p:to>
                                        <p:strVal val="visible"/>
                                      </p:to>
                                    </p:set>
                                    <p:animEffect transition="in" filter="fade">
                                      <p:cBhvr>
                                        <p:cTn id="30" dur="500"/>
                                        <p:tgtEl>
                                          <p:spTgt spid="118"/>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119"/>
                                        </p:tgtEl>
                                        <p:attrNameLst>
                                          <p:attrName>style.visibility</p:attrName>
                                        </p:attrNameLst>
                                      </p:cBhvr>
                                      <p:to>
                                        <p:strVal val="visible"/>
                                      </p:to>
                                    </p:set>
                                    <p:animEffect transition="in" filter="fade">
                                      <p:cBhvr>
                                        <p:cTn id="34" dur="500"/>
                                        <p:tgtEl>
                                          <p:spTgt spid="119"/>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120"/>
                                        </p:tgtEl>
                                        <p:attrNameLst>
                                          <p:attrName>style.visibility</p:attrName>
                                        </p:attrNameLst>
                                      </p:cBhvr>
                                      <p:to>
                                        <p:strVal val="visible"/>
                                      </p:to>
                                    </p:set>
                                    <p:animEffect transition="in" filter="fade">
                                      <p:cBhvr>
                                        <p:cTn id="38" dur="500"/>
                                        <p:tgtEl>
                                          <p:spTgt spid="120"/>
                                        </p:tgtEl>
                                      </p:cBhvr>
                                    </p:animEffect>
                                  </p:childTnLst>
                                </p:cTn>
                              </p:par>
                            </p:childTnLst>
                          </p:cTn>
                        </p:par>
                        <p:par>
                          <p:cTn id="39" fill="hold">
                            <p:stCondLst>
                              <p:cond delay="4000"/>
                            </p:stCondLst>
                            <p:childTnLst>
                              <p:par>
                                <p:cTn id="40" presetID="2" presetClass="entr" presetSubtype="2" fill="hold" nodeType="afterEffect">
                                  <p:stCondLst>
                                    <p:cond delay="0"/>
                                  </p:stCondLst>
                                  <p:childTnLst>
                                    <p:set>
                                      <p:cBhvr>
                                        <p:cTn id="41" dur="1" fill="hold">
                                          <p:stCondLst>
                                            <p:cond delay="0"/>
                                          </p:stCondLst>
                                        </p:cTn>
                                        <p:tgtEl>
                                          <p:spTgt spid="114"/>
                                        </p:tgtEl>
                                        <p:attrNameLst>
                                          <p:attrName>style.visibility</p:attrName>
                                        </p:attrNameLst>
                                      </p:cBhvr>
                                      <p:to>
                                        <p:strVal val="visible"/>
                                      </p:to>
                                    </p:set>
                                    <p:anim calcmode="lin" valueType="num">
                                      <p:cBhvr additive="base">
                                        <p:cTn id="42" dur="500"/>
                                        <p:tgtEl>
                                          <p:spTgt spid="11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p:nvPr/>
        </p:nvSpPr>
        <p:spPr>
          <a:xfrm>
            <a:off x="4552950" y="-32385"/>
            <a:ext cx="4603433" cy="5208270"/>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27" name="Google Shape;127;p18"/>
          <p:cNvSpPr txBox="1"/>
          <p:nvPr/>
        </p:nvSpPr>
        <p:spPr>
          <a:xfrm>
            <a:off x="52750" y="953850"/>
            <a:ext cx="4140000" cy="5539178"/>
          </a:xfrm>
          <a:prstGeom prst="rect">
            <a:avLst/>
          </a:prstGeom>
          <a:noFill/>
          <a:ln>
            <a:noFill/>
          </a:ln>
        </p:spPr>
        <p:txBody>
          <a:bodyPr spcFirstLastPara="1" wrap="square" lIns="68575" tIns="34275" rIns="68575" bIns="34275" anchor="t" anchorCtr="0">
            <a:spAutoFit/>
          </a:bodyPr>
          <a:lstStyle/>
          <a:p>
            <a:pPr>
              <a:lnSpc>
                <a:spcPct val="150000"/>
              </a:lnSpc>
            </a:pPr>
            <a:r>
              <a:rPr lang="en-US" sz="1800" b="1" dirty="0"/>
              <a:t>Main Question</a:t>
            </a:r>
            <a:r>
              <a:rPr lang="en-US" sz="1800" dirty="0"/>
              <a:t>:</a:t>
            </a:r>
            <a:br>
              <a:rPr lang="en-US" sz="1800" dirty="0"/>
            </a:br>
            <a:r>
              <a:rPr lang="en-US" sz="1800" dirty="0"/>
              <a:t>Can we build a </a:t>
            </a:r>
            <a:r>
              <a:rPr lang="en-US" sz="1800" b="1" dirty="0"/>
              <a:t>multiclass classification model</a:t>
            </a:r>
            <a:r>
              <a:rPr lang="en-US" sz="1800" dirty="0"/>
              <a:t> to predict next-day stock trend (Bullish / Bearish / Stable) using:</a:t>
            </a:r>
          </a:p>
          <a:p>
            <a:pPr>
              <a:lnSpc>
                <a:spcPct val="150000"/>
              </a:lnSpc>
            </a:pPr>
            <a:r>
              <a:rPr lang="en-US" sz="1800" dirty="0"/>
              <a:t>Technical indicators</a:t>
            </a:r>
          </a:p>
          <a:p>
            <a:pPr>
              <a:lnSpc>
                <a:spcPct val="150000"/>
              </a:lnSpc>
            </a:pPr>
            <a:r>
              <a:rPr lang="en-US" sz="1800" dirty="0"/>
              <a:t>Financial metrics (e.g., P/E ratio, volatility)</a:t>
            </a:r>
          </a:p>
          <a:p>
            <a:pPr>
              <a:lnSpc>
                <a:spcPct val="150000"/>
              </a:lnSpc>
            </a:pPr>
            <a:r>
              <a:rPr lang="en-US" sz="1800" dirty="0"/>
              <a:t>Market sentiment scores</a:t>
            </a:r>
          </a:p>
          <a:p>
            <a:pPr lvl="0">
              <a:lnSpc>
                <a:spcPct val="115000"/>
              </a:lnSpc>
              <a:spcBef>
                <a:spcPts val="900"/>
              </a:spcBef>
              <a:buClr>
                <a:schemeClr val="dk1"/>
              </a:buClr>
              <a:buSzPts val="1100"/>
            </a:pPr>
            <a:br>
              <a:rPr lang="en-US" sz="1050" dirty="0">
                <a:solidFill>
                  <a:schemeClr val="dk1"/>
                </a:solidFill>
              </a:rPr>
            </a:br>
            <a:endParaRPr lang="en-US" sz="105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100" dirty="0">
              <a:solidFill>
                <a:schemeClr val="dk1"/>
              </a:solidFill>
            </a:endParaRPr>
          </a:p>
          <a:p>
            <a:pPr marL="0" lvl="0" indent="0" algn="l" rtl="0">
              <a:lnSpc>
                <a:spcPct val="115000"/>
              </a:lnSpc>
              <a:spcBef>
                <a:spcPts val="900"/>
              </a:spcBef>
              <a:spcAft>
                <a:spcPts val="0"/>
              </a:spcAft>
              <a:buClr>
                <a:schemeClr val="dk1"/>
              </a:buClr>
              <a:buSzPts val="1100"/>
              <a:buFont typeface="Arial"/>
              <a:buNone/>
            </a:pPr>
            <a:endParaRPr sz="1300" b="1" dirty="0">
              <a:solidFill>
                <a:schemeClr val="dk1"/>
              </a:solidFill>
            </a:endParaRPr>
          </a:p>
          <a:p>
            <a:pPr marL="0" lvl="0" indent="0" algn="l" rtl="0">
              <a:lnSpc>
                <a:spcPct val="115000"/>
              </a:lnSpc>
              <a:spcBef>
                <a:spcPts val="900"/>
              </a:spcBef>
              <a:spcAft>
                <a:spcPts val="900"/>
              </a:spcAft>
              <a:buClr>
                <a:schemeClr val="dk1"/>
              </a:buClr>
              <a:buSzPts val="1100"/>
              <a:buFont typeface="Arial"/>
              <a:buNone/>
            </a:pPr>
            <a:endParaRPr sz="1800" dirty="0">
              <a:solidFill>
                <a:schemeClr val="dk1"/>
              </a:solidFill>
            </a:endParaRPr>
          </a:p>
        </p:txBody>
      </p:sp>
      <p:sp>
        <p:nvSpPr>
          <p:cNvPr id="128" name="Google Shape;128;p18"/>
          <p:cNvSpPr txBox="1"/>
          <p:nvPr/>
        </p:nvSpPr>
        <p:spPr>
          <a:xfrm>
            <a:off x="600075" y="2845118"/>
            <a:ext cx="30123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a:solidFill>
                <a:srgbClr val="595959"/>
              </a:solidFill>
              <a:latin typeface="Microsoft Yahei"/>
              <a:ea typeface="Microsoft Yahei"/>
              <a:cs typeface="Microsoft Yahei"/>
              <a:sym typeface="Microsoft Yahei"/>
            </a:endParaRPr>
          </a:p>
        </p:txBody>
      </p:sp>
      <p:sp>
        <p:nvSpPr>
          <p:cNvPr id="129" name="Google Shape;129;p18"/>
          <p:cNvSpPr/>
          <p:nvPr/>
        </p:nvSpPr>
        <p:spPr>
          <a:xfrm>
            <a:off x="670081" y="595134"/>
            <a:ext cx="1959900" cy="225600"/>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130" name="Google Shape;130;p18"/>
          <p:cNvSpPr txBox="1"/>
          <p:nvPr/>
        </p:nvSpPr>
        <p:spPr>
          <a:xfrm>
            <a:off x="192850" y="111475"/>
            <a:ext cx="4360100" cy="89697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200" b="1" dirty="0"/>
              <a:t>Research Questions</a:t>
            </a:r>
            <a:endParaRPr sz="3200" b="1" dirty="0"/>
          </a:p>
        </p:txBody>
      </p:sp>
      <p:sp>
        <p:nvSpPr>
          <p:cNvPr id="131" name="Google Shape;131;p18"/>
          <p:cNvSpPr txBox="1"/>
          <p:nvPr/>
        </p:nvSpPr>
        <p:spPr>
          <a:xfrm>
            <a:off x="4676113" y="156675"/>
            <a:ext cx="4248600" cy="473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300" dirty="0">
              <a:solidFill>
                <a:schemeClr val="lt1"/>
              </a:solidFill>
            </a:endParaRPr>
          </a:p>
        </p:txBody>
      </p:sp>
      <p:sp>
        <p:nvSpPr>
          <p:cNvPr id="2" name="文本框 1">
            <a:extLst>
              <a:ext uri="{FF2B5EF4-FFF2-40B4-BE49-F238E27FC236}">
                <a16:creationId xmlns:a16="http://schemas.microsoft.com/office/drawing/2014/main" id="{85077C8A-BF02-91F5-1945-AB73BA2EDC16}"/>
              </a:ext>
            </a:extLst>
          </p:cNvPr>
          <p:cNvSpPr txBox="1"/>
          <p:nvPr/>
        </p:nvSpPr>
        <p:spPr>
          <a:xfrm>
            <a:off x="4796681" y="595134"/>
            <a:ext cx="4211465" cy="4462760"/>
          </a:xfrm>
          <a:prstGeom prst="rect">
            <a:avLst/>
          </a:prstGeom>
          <a:noFill/>
        </p:spPr>
        <p:txBody>
          <a:bodyPr wrap="square" rtlCol="0">
            <a:spAutoFit/>
          </a:bodyPr>
          <a:lstStyle/>
          <a:p>
            <a:pPr>
              <a:lnSpc>
                <a:spcPct val="150000"/>
              </a:lnSpc>
            </a:pPr>
            <a:r>
              <a:rPr lang="en-US" sz="2000" b="1" dirty="0">
                <a:solidFill>
                  <a:schemeClr val="bg1"/>
                </a:solidFill>
              </a:rPr>
              <a:t>Motivation:</a:t>
            </a:r>
          </a:p>
          <a:p>
            <a:pPr>
              <a:lnSpc>
                <a:spcPct val="150000"/>
              </a:lnSpc>
              <a:buFont typeface="Arial" panose="020B0604020202020204" pitchFamily="34" charset="0"/>
              <a:buChar char="•"/>
            </a:pPr>
            <a:endParaRPr lang="en-US" sz="2000" dirty="0">
              <a:solidFill>
                <a:schemeClr val="bg1"/>
              </a:solidFill>
            </a:endParaRPr>
          </a:p>
          <a:p>
            <a:pPr marL="457200" lvl="1">
              <a:lnSpc>
                <a:spcPct val="150000"/>
              </a:lnSpc>
            </a:pPr>
            <a:r>
              <a:rPr lang="en-US" sz="2000" dirty="0">
                <a:solidFill>
                  <a:schemeClr val="bg1"/>
                </a:solidFill>
              </a:rPr>
              <a:t>Daily stock movement prediction is crucial for traders and investors.</a:t>
            </a:r>
          </a:p>
          <a:p>
            <a:pPr marL="457200" lvl="1">
              <a:lnSpc>
                <a:spcPct val="150000"/>
              </a:lnSpc>
            </a:pPr>
            <a:r>
              <a:rPr lang="en-US" sz="2000" dirty="0">
                <a:solidFill>
                  <a:schemeClr val="bg1"/>
                </a:solidFill>
              </a:rPr>
              <a:t>Combining </a:t>
            </a:r>
            <a:r>
              <a:rPr lang="en-US" sz="2000" b="1" dirty="0">
                <a:solidFill>
                  <a:schemeClr val="bg1"/>
                </a:solidFill>
              </a:rPr>
              <a:t>quantitative fundamentals</a:t>
            </a:r>
            <a:r>
              <a:rPr lang="en-US" sz="2000" dirty="0">
                <a:solidFill>
                  <a:schemeClr val="bg1"/>
                </a:solidFill>
              </a:rPr>
              <a:t> and </a:t>
            </a:r>
            <a:r>
              <a:rPr lang="en-US" sz="2000" b="1" dirty="0">
                <a:solidFill>
                  <a:schemeClr val="bg1"/>
                </a:solidFill>
              </a:rPr>
              <a:t>qualitative sentiment</a:t>
            </a:r>
            <a:r>
              <a:rPr lang="en-US" sz="2000" dirty="0">
                <a:solidFill>
                  <a:schemeClr val="bg1"/>
                </a:solidFill>
              </a:rPr>
              <a:t> adds predictive depth.</a:t>
            </a:r>
          </a:p>
          <a:p>
            <a:endParaRPr lang="en-US"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126"/>
                                        </p:tgtEl>
                                        <p:attrNameLst>
                                          <p:attrName>style.visibility</p:attrName>
                                        </p:attrNameLst>
                                      </p:cBhvr>
                                      <p:to>
                                        <p:strVal val="visible"/>
                                      </p:to>
                                    </p:set>
                                    <p:anim calcmode="lin" valueType="num">
                                      <p:cBhvr additive="base">
                                        <p:cTn id="7" dur="500"/>
                                        <p:tgtEl>
                                          <p:spTgt spid="126"/>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129"/>
                                        </p:tgtEl>
                                        <p:attrNameLst>
                                          <p:attrName>style.visibility</p:attrName>
                                        </p:attrNameLst>
                                      </p:cBhvr>
                                      <p:to>
                                        <p:strVal val="visible"/>
                                      </p:to>
                                    </p:set>
                                    <p:anim calcmode="lin" valueType="num">
                                      <p:cBhvr additive="base">
                                        <p:cTn id="11" dur="500"/>
                                        <p:tgtEl>
                                          <p:spTgt spid="129"/>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7"/>
                                        </p:tgtEl>
                                        <p:attrNameLst>
                                          <p:attrName>style.visibility</p:attrName>
                                        </p:attrNameLst>
                                      </p:cBhvr>
                                      <p:to>
                                        <p:strVal val="visible"/>
                                      </p:to>
                                    </p:set>
                                    <p:animEffect transition="in" filter="fade">
                                      <p:cBhvr>
                                        <p:cTn id="15" dur="500"/>
                                        <p:tgtEl>
                                          <p:spTgt spid="12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28"/>
                                        </p:tgtEl>
                                        <p:attrNameLst>
                                          <p:attrName>style.visibility</p:attrName>
                                        </p:attrNameLst>
                                      </p:cBhvr>
                                      <p:to>
                                        <p:strVal val="visible"/>
                                      </p:to>
                                    </p:set>
                                    <p:animEffect transition="in" filter="fade">
                                      <p:cBhvr>
                                        <p:cTn id="19"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137"/>
        <p:cNvGrpSpPr/>
        <p:nvPr/>
      </p:nvGrpSpPr>
      <p:grpSpPr>
        <a:xfrm>
          <a:off x="0" y="0"/>
          <a:ext cx="0" cy="0"/>
          <a:chOff x="0" y="0"/>
          <a:chExt cx="0" cy="0"/>
        </a:xfrm>
      </p:grpSpPr>
      <p:sp>
        <p:nvSpPr>
          <p:cNvPr id="138" name="Google Shape;138;p19"/>
          <p:cNvSpPr/>
          <p:nvPr/>
        </p:nvSpPr>
        <p:spPr>
          <a:xfrm>
            <a:off x="148114" y="163354"/>
            <a:ext cx="8847772" cy="4816316"/>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39" name="Google Shape;139;p19"/>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140" name="Google Shape;140;p19"/>
          <p:cNvSpPr/>
          <p:nvPr/>
        </p:nvSpPr>
        <p:spPr>
          <a:xfrm>
            <a:off x="4459605" y="3117295"/>
            <a:ext cx="1203960" cy="230029"/>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3F3F3F"/>
              </a:buClr>
              <a:buSzPts val="1100"/>
              <a:buFont typeface="Arial"/>
              <a:buNone/>
            </a:pPr>
            <a:endParaRPr sz="1100" b="1">
              <a:solidFill>
                <a:srgbClr val="3F3F3F"/>
              </a:solidFill>
              <a:latin typeface="Microsoft Yahei"/>
              <a:ea typeface="Microsoft Yahei"/>
              <a:cs typeface="Microsoft Yahei"/>
              <a:sym typeface="Microsoft Yahei"/>
            </a:endParaRPr>
          </a:p>
        </p:txBody>
      </p:sp>
      <p:sp>
        <p:nvSpPr>
          <p:cNvPr id="141" name="Google Shape;141;p19"/>
          <p:cNvSpPr/>
          <p:nvPr/>
        </p:nvSpPr>
        <p:spPr>
          <a:xfrm>
            <a:off x="7484031" y="1806655"/>
            <a:ext cx="1203960" cy="230029"/>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3F3F3F"/>
              </a:buClr>
              <a:buSzPts val="1100"/>
              <a:buFont typeface="Arial"/>
              <a:buNone/>
            </a:pPr>
            <a:endParaRPr sz="1100" b="1">
              <a:solidFill>
                <a:srgbClr val="3F3F3F"/>
              </a:solidFill>
              <a:latin typeface="Microsoft Yahei"/>
              <a:ea typeface="Microsoft Yahei"/>
              <a:cs typeface="Microsoft Yahei"/>
              <a:sym typeface="Microsoft Yahei"/>
            </a:endParaRPr>
          </a:p>
        </p:txBody>
      </p:sp>
      <p:sp>
        <p:nvSpPr>
          <p:cNvPr id="142" name="Google Shape;142;p19"/>
          <p:cNvSpPr/>
          <p:nvPr/>
        </p:nvSpPr>
        <p:spPr>
          <a:xfrm>
            <a:off x="647700" y="2049304"/>
            <a:ext cx="2893695" cy="1688306"/>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Clr>
                <a:srgbClr val="3F3F3F"/>
              </a:buClr>
              <a:buSzPts val="800"/>
              <a:buFont typeface="Arial"/>
              <a:buNone/>
            </a:pPr>
            <a:endParaRPr sz="800">
              <a:solidFill>
                <a:srgbClr val="3F3F3F"/>
              </a:solidFill>
              <a:latin typeface="Microsoft Yahei"/>
              <a:ea typeface="Microsoft Yahei"/>
              <a:cs typeface="Microsoft Yahei"/>
              <a:sym typeface="Microsoft Yahei"/>
            </a:endParaRPr>
          </a:p>
        </p:txBody>
      </p:sp>
      <p:sp>
        <p:nvSpPr>
          <p:cNvPr id="143" name="Google Shape;143;p19"/>
          <p:cNvSpPr txBox="1"/>
          <p:nvPr/>
        </p:nvSpPr>
        <p:spPr>
          <a:xfrm>
            <a:off x="318926" y="1090350"/>
            <a:ext cx="4211274" cy="3640241"/>
          </a:xfrm>
          <a:prstGeom prst="rect">
            <a:avLst/>
          </a:prstGeom>
          <a:noFill/>
          <a:ln>
            <a:noFill/>
          </a:ln>
        </p:spPr>
        <p:txBody>
          <a:bodyPr spcFirstLastPara="1" wrap="square" lIns="91425" tIns="91425" rIns="91425" bIns="91425" anchor="t" anchorCtr="0">
            <a:noAutofit/>
          </a:bodyPr>
          <a:lstStyle/>
          <a:p>
            <a:pPr marL="457200" lvl="0" indent="0" rtl="0">
              <a:lnSpc>
                <a:spcPct val="115000"/>
              </a:lnSpc>
              <a:spcBef>
                <a:spcPts val="1200"/>
              </a:spcBef>
              <a:spcAft>
                <a:spcPts val="0"/>
              </a:spcAft>
              <a:buNone/>
            </a:pPr>
            <a:r>
              <a:rPr lang="en-US" sz="1600" dirty="0"/>
              <a:t>This study utilizes a historical dataset of S&amp;P 500 stocks from the </a:t>
            </a:r>
            <a:r>
              <a:rPr lang="en-US" sz="1600" b="1" dirty="0"/>
              <a:t>Kaggle</a:t>
            </a:r>
            <a:r>
              <a:rPr lang="en-US" sz="1600" dirty="0"/>
              <a:t> platform, covering the period from February 2013 to February 2018. The dataset includes daily trading information for hundreds of stocks, providing key technical indicators such as opening price, closing price, price volatility, and trading volume. These features form a solid foundation for model training.</a:t>
            </a:r>
            <a:endParaRPr sz="1200" b="1" dirty="0">
              <a:solidFill>
                <a:schemeClr val="dk1"/>
              </a:solidFill>
            </a:endParaRPr>
          </a:p>
          <a:p>
            <a:pPr marL="0" lvl="0" indent="0" algn="l" rtl="0">
              <a:lnSpc>
                <a:spcPct val="115000"/>
              </a:lnSpc>
              <a:spcBef>
                <a:spcPts val="1200"/>
              </a:spcBef>
              <a:spcAft>
                <a:spcPts val="0"/>
              </a:spcAft>
              <a:buNone/>
            </a:pPr>
            <a:br>
              <a:rPr lang="en" sz="1100" b="1" dirty="0">
                <a:solidFill>
                  <a:schemeClr val="dk1"/>
                </a:solidFill>
              </a:rPr>
            </a:br>
            <a:endParaRPr sz="11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800" dirty="0"/>
          </a:p>
          <a:p>
            <a:pPr marL="0" lvl="0" indent="0" algn="l" rtl="0">
              <a:spcBef>
                <a:spcPts val="1200"/>
              </a:spcBef>
              <a:spcAft>
                <a:spcPts val="0"/>
              </a:spcAft>
              <a:buNone/>
            </a:pPr>
            <a:endParaRPr dirty="0"/>
          </a:p>
        </p:txBody>
      </p:sp>
      <p:sp>
        <p:nvSpPr>
          <p:cNvPr id="144" name="Google Shape;144;p19"/>
          <p:cNvSpPr txBox="1"/>
          <p:nvPr/>
        </p:nvSpPr>
        <p:spPr>
          <a:xfrm>
            <a:off x="428275" y="567150"/>
            <a:ext cx="7828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dirty="0">
                <a:solidFill>
                  <a:schemeClr val="dk1"/>
                </a:solidFill>
              </a:rPr>
              <a:t>Dataset Description </a:t>
            </a:r>
            <a:endParaRPr sz="2200" b="1" dirty="0">
              <a:solidFill>
                <a:schemeClr val="dk1"/>
              </a:solidFill>
            </a:endParaRPr>
          </a:p>
        </p:txBody>
      </p:sp>
      <p:pic>
        <p:nvPicPr>
          <p:cNvPr id="4" name="图片 3">
            <a:extLst>
              <a:ext uri="{FF2B5EF4-FFF2-40B4-BE49-F238E27FC236}">
                <a16:creationId xmlns:a16="http://schemas.microsoft.com/office/drawing/2014/main" id="{FFF6456D-B2B1-C306-531F-81C7F8BF9133}"/>
              </a:ext>
            </a:extLst>
          </p:cNvPr>
          <p:cNvPicPr>
            <a:picLocks noChangeAspect="1"/>
          </p:cNvPicPr>
          <p:nvPr/>
        </p:nvPicPr>
        <p:blipFill>
          <a:blip r:embed="rId3"/>
          <a:stretch>
            <a:fillRect/>
          </a:stretch>
        </p:blipFill>
        <p:spPr>
          <a:xfrm>
            <a:off x="5151106" y="1494146"/>
            <a:ext cx="3296794" cy="2354853"/>
          </a:xfrm>
          <a:prstGeom prst="rect">
            <a:avLst/>
          </a:prstGeom>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39"/>
                                        </p:tgtEl>
                                        <p:attrNameLst>
                                          <p:attrName>style.visibility</p:attrName>
                                        </p:attrNameLst>
                                      </p:cBhvr>
                                      <p:to>
                                        <p:strVal val="visible"/>
                                      </p:to>
                                    </p:set>
                                    <p:anim calcmode="lin" valueType="num">
                                      <p:cBhvr additive="base">
                                        <p:cTn id="7" dur="500"/>
                                        <p:tgtEl>
                                          <p:spTgt spid="139"/>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2"/>
                                        </p:tgtEl>
                                        <p:attrNameLst>
                                          <p:attrName>style.visibility</p:attrName>
                                        </p:attrNameLst>
                                      </p:cBhvr>
                                      <p:to>
                                        <p:strVal val="visible"/>
                                      </p:to>
                                    </p:set>
                                    <p:animEffect transition="in" filter="fade">
                                      <p:cBhvr>
                                        <p:cTn id="11" dur="500"/>
                                        <p:tgtEl>
                                          <p:spTgt spid="142"/>
                                        </p:tgtEl>
                                      </p:cBhvr>
                                    </p:animEffect>
                                  </p:childTnLst>
                                </p:cTn>
                              </p:par>
                              <p:par>
                                <p:cTn id="12" presetID="10" presetClass="entr" presetSubtype="0" fill="hold" nodeType="withEffect">
                                  <p:stCondLst>
                                    <p:cond delay="0"/>
                                  </p:stCondLst>
                                  <p:childTnLst>
                                    <p:set>
                                      <p:cBhvr>
                                        <p:cTn id="13" dur="1" fill="hold">
                                          <p:stCondLst>
                                            <p:cond delay="0"/>
                                          </p:stCondLst>
                                        </p:cTn>
                                        <p:tgtEl>
                                          <p:spTgt spid="140"/>
                                        </p:tgtEl>
                                        <p:attrNameLst>
                                          <p:attrName>style.visibility</p:attrName>
                                        </p:attrNameLst>
                                      </p:cBhvr>
                                      <p:to>
                                        <p:strVal val="visible"/>
                                      </p:to>
                                    </p:set>
                                    <p:animEffect transition="in" filter="fade">
                                      <p:cBhvr>
                                        <p:cTn id="14" dur="500"/>
                                        <p:tgtEl>
                                          <p:spTgt spid="140"/>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41"/>
                                        </p:tgtEl>
                                        <p:attrNameLst>
                                          <p:attrName>style.visibility</p:attrName>
                                        </p:attrNameLst>
                                      </p:cBhvr>
                                      <p:to>
                                        <p:strVal val="visible"/>
                                      </p:to>
                                    </p:set>
                                    <p:animEffect transition="in" filter="fade">
                                      <p:cBhvr>
                                        <p:cTn id="18"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0"/>
          <p:cNvSpPr/>
          <p:nvPr/>
        </p:nvSpPr>
        <p:spPr>
          <a:xfrm>
            <a:off x="-12383" y="-32385"/>
            <a:ext cx="4549140" cy="5208270"/>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51" name="Google Shape;151;p20"/>
          <p:cNvSpPr/>
          <p:nvPr/>
        </p:nvSpPr>
        <p:spPr>
          <a:xfrm>
            <a:off x="6853238" y="1325860"/>
            <a:ext cx="1203960" cy="23002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152" name="Google Shape;152;p20"/>
          <p:cNvSpPr/>
          <p:nvPr/>
        </p:nvSpPr>
        <p:spPr>
          <a:xfrm>
            <a:off x="6853238" y="2431712"/>
            <a:ext cx="1203960" cy="230029"/>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153" name="Google Shape;153;p20"/>
          <p:cNvSpPr/>
          <p:nvPr/>
        </p:nvSpPr>
        <p:spPr>
          <a:xfrm>
            <a:off x="4840605" y="2691765"/>
            <a:ext cx="3216593" cy="449104"/>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r>
              <a:rPr lang="en" sz="800">
                <a:solidFill>
                  <a:srgbClr val="3F3F3F"/>
                </a:solidFill>
                <a:latin typeface="Microsoft Yahei"/>
                <a:ea typeface="Microsoft Yahei"/>
                <a:cs typeface="Microsoft Yahei"/>
                <a:sym typeface="Microsoft Yahei"/>
              </a:rPr>
              <a:t>.</a:t>
            </a:r>
            <a:endParaRPr sz="800">
              <a:solidFill>
                <a:srgbClr val="3F3F3F"/>
              </a:solidFill>
              <a:latin typeface="Microsoft Yahei"/>
              <a:ea typeface="Microsoft Yahei"/>
              <a:cs typeface="Microsoft Yahei"/>
              <a:sym typeface="Microsoft Yahei"/>
            </a:endParaRPr>
          </a:p>
        </p:txBody>
      </p:sp>
      <p:sp>
        <p:nvSpPr>
          <p:cNvPr id="154" name="Google Shape;154;p20"/>
          <p:cNvSpPr/>
          <p:nvPr/>
        </p:nvSpPr>
        <p:spPr>
          <a:xfrm>
            <a:off x="6853238" y="3526135"/>
            <a:ext cx="1203960" cy="230029"/>
          </a:xfrm>
          <a:prstGeom prst="rect">
            <a:avLst/>
          </a:prstGeom>
          <a:noFill/>
          <a:ln>
            <a:noFill/>
          </a:ln>
        </p:spPr>
        <p:txBody>
          <a:bodyPr spcFirstLastPara="1" wrap="square" lIns="68575" tIns="34275" rIns="68575" bIns="34275" anchor="t" anchorCtr="0">
            <a:noAutofit/>
          </a:bodyPr>
          <a:lstStyle/>
          <a:p>
            <a:pPr marL="0" marR="0" lvl="0" indent="0" algn="r"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155" name="Google Shape;155;p20"/>
          <p:cNvSpPr/>
          <p:nvPr/>
        </p:nvSpPr>
        <p:spPr>
          <a:xfrm>
            <a:off x="4840605" y="3786188"/>
            <a:ext cx="3216593" cy="449104"/>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156" name="Google Shape;156;p20"/>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chemeClr val="lt1"/>
              </a:solidFill>
              <a:latin typeface="Microsoft Yahei"/>
              <a:ea typeface="Microsoft Yahei"/>
              <a:cs typeface="Microsoft Yahei"/>
              <a:sym typeface="Microsoft Yahei"/>
            </a:endParaRPr>
          </a:p>
        </p:txBody>
      </p:sp>
      <p:sp>
        <p:nvSpPr>
          <p:cNvPr id="157" name="Google Shape;157;p20"/>
          <p:cNvSpPr txBox="1"/>
          <p:nvPr/>
        </p:nvSpPr>
        <p:spPr>
          <a:xfrm>
            <a:off x="96488" y="134075"/>
            <a:ext cx="4331400" cy="97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2400" b="1">
                <a:solidFill>
                  <a:schemeClr val="lt1"/>
                </a:solidFill>
              </a:rPr>
              <a:t>Conceptual Framework</a:t>
            </a:r>
            <a:endParaRPr sz="2400" b="1">
              <a:solidFill>
                <a:schemeClr val="lt1"/>
              </a:solidFill>
            </a:endParaRPr>
          </a:p>
          <a:p>
            <a:pPr marL="0" lvl="0" indent="0" algn="l" rtl="0">
              <a:spcBef>
                <a:spcPts val="1200"/>
              </a:spcBef>
              <a:spcAft>
                <a:spcPts val="0"/>
              </a:spcAft>
              <a:buNone/>
            </a:pPr>
            <a:endParaRPr/>
          </a:p>
        </p:txBody>
      </p:sp>
      <p:sp>
        <p:nvSpPr>
          <p:cNvPr id="158" name="Google Shape;158;p20"/>
          <p:cNvSpPr txBox="1"/>
          <p:nvPr/>
        </p:nvSpPr>
        <p:spPr>
          <a:xfrm>
            <a:off x="-12375" y="1067800"/>
            <a:ext cx="4331400" cy="3975900"/>
          </a:xfrm>
          <a:prstGeom prst="rect">
            <a:avLst/>
          </a:prstGeom>
          <a:noFill/>
          <a:ln>
            <a:noFill/>
          </a:ln>
        </p:spPr>
        <p:txBody>
          <a:bodyPr spcFirstLastPara="1" wrap="square" lIns="91425" tIns="91425" rIns="91425" bIns="91425" anchor="t" anchorCtr="0">
            <a:spAutoFit/>
          </a:bodyPr>
          <a:lstStyle/>
          <a:p>
            <a:pPr marL="457200" lvl="0" indent="-228600" algn="l" rtl="0">
              <a:lnSpc>
                <a:spcPct val="115000"/>
              </a:lnSpc>
              <a:spcBef>
                <a:spcPts val="1200"/>
              </a:spcBef>
              <a:spcAft>
                <a:spcPts val="0"/>
              </a:spcAft>
              <a:buNone/>
            </a:pPr>
            <a:r>
              <a:rPr lang="en" b="1">
                <a:solidFill>
                  <a:schemeClr val="lt1"/>
                </a:solidFill>
              </a:rPr>
              <a:t>Mechanisms of Gendered Impact</a:t>
            </a:r>
            <a:br>
              <a:rPr lang="en" b="1">
                <a:solidFill>
                  <a:schemeClr val="lt1"/>
                </a:solidFill>
              </a:rPr>
            </a:br>
            <a:endParaRPr b="1">
              <a:solidFill>
                <a:schemeClr val="lt1"/>
              </a:solidFill>
            </a:endParaRPr>
          </a:p>
          <a:p>
            <a:pPr marL="457200" lvl="0" indent="-317500" algn="l" rtl="0">
              <a:lnSpc>
                <a:spcPct val="115000"/>
              </a:lnSpc>
              <a:spcBef>
                <a:spcPts val="1200"/>
              </a:spcBef>
              <a:spcAft>
                <a:spcPts val="0"/>
              </a:spcAft>
              <a:buClr>
                <a:schemeClr val="lt1"/>
              </a:buClr>
              <a:buSzPts val="1400"/>
              <a:buChar char="●"/>
            </a:pPr>
            <a:r>
              <a:rPr lang="en" b="1">
                <a:solidFill>
                  <a:schemeClr val="lt1"/>
                </a:solidFill>
              </a:rPr>
              <a:t>Care burden</a:t>
            </a:r>
            <a:r>
              <a:rPr lang="en">
                <a:solidFill>
                  <a:schemeClr val="lt1"/>
                </a:solidFill>
              </a:rPr>
              <a:t>: Women disproportionately shoulder caregiving responsibilities (e.g., childcare during school closures).</a:t>
            </a:r>
            <a:br>
              <a:rPr lang="en">
                <a:solidFill>
                  <a:schemeClr val="lt1"/>
                </a:solidFill>
              </a:rPr>
            </a:br>
            <a:endParaRPr>
              <a:solidFill>
                <a:schemeClr val="lt1"/>
              </a:solidFill>
            </a:endParaRPr>
          </a:p>
          <a:p>
            <a:pPr marL="457200" lvl="0" indent="-317500" algn="l" rtl="0">
              <a:lnSpc>
                <a:spcPct val="115000"/>
              </a:lnSpc>
              <a:spcBef>
                <a:spcPts val="0"/>
              </a:spcBef>
              <a:spcAft>
                <a:spcPts val="0"/>
              </a:spcAft>
              <a:buClr>
                <a:schemeClr val="lt1"/>
              </a:buClr>
              <a:buSzPts val="1400"/>
              <a:buChar char="●"/>
            </a:pPr>
            <a:r>
              <a:rPr lang="en" b="1">
                <a:solidFill>
                  <a:schemeClr val="lt1"/>
                </a:solidFill>
              </a:rPr>
              <a:t>Sectoral vulnerability</a:t>
            </a:r>
            <a:r>
              <a:rPr lang="en">
                <a:solidFill>
                  <a:schemeClr val="lt1"/>
                </a:solidFill>
              </a:rPr>
              <a:t>: Women are overrepresented in service and frontline sectors more sensitive to COVID-19 disruptions.</a:t>
            </a:r>
            <a:br>
              <a:rPr lang="en">
                <a:solidFill>
                  <a:schemeClr val="lt1"/>
                </a:solidFill>
              </a:rPr>
            </a:br>
            <a:r>
              <a:rPr lang="en">
                <a:solidFill>
                  <a:schemeClr val="lt1"/>
                </a:solidFill>
              </a:rPr>
              <a:t> → These combined factors made </a:t>
            </a:r>
            <a:r>
              <a:rPr lang="en" b="1">
                <a:solidFill>
                  <a:schemeClr val="lt1"/>
                </a:solidFill>
              </a:rPr>
              <a:t>women more exposed</a:t>
            </a:r>
            <a:r>
              <a:rPr lang="en">
                <a:solidFill>
                  <a:schemeClr val="lt1"/>
                </a:solidFill>
              </a:rPr>
              <a:t> to labor market exit risk.</a:t>
            </a:r>
            <a:br>
              <a:rPr lang="en">
                <a:solidFill>
                  <a:schemeClr val="lt1"/>
                </a:solidFill>
              </a:rPr>
            </a:br>
            <a:endParaRPr>
              <a:solidFill>
                <a:schemeClr val="lt1"/>
              </a:solidFill>
            </a:endParaRPr>
          </a:p>
          <a:p>
            <a:pPr marL="0" lvl="0" indent="0" algn="l" rtl="0">
              <a:spcBef>
                <a:spcPts val="1200"/>
              </a:spcBef>
              <a:spcAft>
                <a:spcPts val="0"/>
              </a:spcAft>
              <a:buNone/>
            </a:pPr>
            <a:endParaRPr sz="1700">
              <a:solidFill>
                <a:schemeClr val="lt1"/>
              </a:solidFill>
            </a:endParaRPr>
          </a:p>
        </p:txBody>
      </p:sp>
      <p:sp>
        <p:nvSpPr>
          <p:cNvPr id="159" name="Google Shape;159;p20"/>
          <p:cNvSpPr txBox="1"/>
          <p:nvPr/>
        </p:nvSpPr>
        <p:spPr>
          <a:xfrm>
            <a:off x="4536750" y="379600"/>
            <a:ext cx="4760700" cy="4131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solidFill>
                  <a:schemeClr val="dk1"/>
                </a:solidFill>
              </a:rPr>
              <a:t>Causal Pathway (Diagram)</a:t>
            </a:r>
            <a:endParaRPr b="1">
              <a:solidFill>
                <a:schemeClr val="dk1"/>
              </a:solidFill>
            </a:endParaRPr>
          </a:p>
          <a:p>
            <a:pPr marL="0" lvl="0" indent="0" algn="l" rtl="0">
              <a:lnSpc>
                <a:spcPct val="115000"/>
              </a:lnSpc>
              <a:spcBef>
                <a:spcPts val="0"/>
              </a:spcBef>
              <a:spcAft>
                <a:spcPts val="0"/>
              </a:spcAft>
              <a:buClr>
                <a:schemeClr val="dk1"/>
              </a:buClr>
              <a:buSzPts val="1100"/>
              <a:buFont typeface="Arial"/>
              <a:buNone/>
            </a:pPr>
            <a:br>
              <a:rPr lang="en" b="1">
                <a:solidFill>
                  <a:schemeClr val="dk1"/>
                </a:solidFill>
              </a:rPr>
            </a:br>
            <a:r>
              <a:rPr lang="en">
                <a:solidFill>
                  <a:schemeClr val="dk1"/>
                </a:solidFill>
              </a:rPr>
              <a:t> </a:t>
            </a:r>
            <a:endParaRPr>
              <a:solidFill>
                <a:schemeClr val="dk1"/>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b="1">
                <a:solidFill>
                  <a:schemeClr val="dk1"/>
                </a:solidFill>
              </a:rPr>
              <a:t>Key Insight</a:t>
            </a:r>
            <a:endParaRPr b="1">
              <a:solidFill>
                <a:schemeClr val="dk1"/>
              </a:solidFill>
            </a:endParaRPr>
          </a:p>
          <a:p>
            <a:pPr marL="457200" lvl="0" indent="-228600" algn="l" rtl="0">
              <a:lnSpc>
                <a:spcPct val="115000"/>
              </a:lnSpc>
              <a:spcBef>
                <a:spcPts val="1200"/>
              </a:spcBef>
              <a:spcAft>
                <a:spcPts val="0"/>
              </a:spcAft>
              <a:buClr>
                <a:schemeClr val="dk1"/>
              </a:buClr>
              <a:buSzPts val="1100"/>
              <a:buFont typeface="Arial"/>
              <a:buNone/>
            </a:pPr>
            <a:r>
              <a:rPr lang="en">
                <a:solidFill>
                  <a:schemeClr val="dk1"/>
                </a:solidFill>
              </a:rPr>
              <a:t> The pandemic acted as both a </a:t>
            </a:r>
            <a:r>
              <a:rPr lang="en" b="1">
                <a:solidFill>
                  <a:schemeClr val="dk1"/>
                </a:solidFill>
              </a:rPr>
              <a:t>direct shock</a:t>
            </a:r>
            <a:r>
              <a:rPr lang="en">
                <a:solidFill>
                  <a:schemeClr val="dk1"/>
                </a:solidFill>
              </a:rPr>
              <a:t> and an </a:t>
            </a:r>
            <a:r>
              <a:rPr lang="en" b="1">
                <a:solidFill>
                  <a:schemeClr val="dk1"/>
                </a:solidFill>
              </a:rPr>
              <a:t>amplifier</a:t>
            </a:r>
            <a:r>
              <a:rPr lang="en">
                <a:solidFill>
                  <a:schemeClr val="dk1"/>
                </a:solidFill>
              </a:rPr>
              <a:t> of pre-existing gender inequalities in labor force attachment.</a:t>
            </a:r>
            <a:endParaRPr>
              <a:solidFill>
                <a:schemeClr val="dk1"/>
              </a:solidFill>
            </a:endParaRPr>
          </a:p>
          <a:p>
            <a:pPr marL="457200" lvl="0" indent="-298450" algn="l" rtl="0">
              <a:lnSpc>
                <a:spcPct val="115000"/>
              </a:lnSpc>
              <a:spcBef>
                <a:spcPts val="1200"/>
              </a:spcBef>
              <a:spcAft>
                <a:spcPts val="0"/>
              </a:spcAft>
              <a:buClr>
                <a:schemeClr val="lt1"/>
              </a:buClr>
              <a:buSzPts val="1100"/>
              <a:buChar char="●"/>
            </a:pPr>
            <a:endParaRPr>
              <a:solidFill>
                <a:schemeClr val="lt1"/>
              </a:solidFill>
            </a:endParaRPr>
          </a:p>
          <a:p>
            <a:pPr marL="0" lvl="0" indent="0" algn="l" rtl="0">
              <a:spcBef>
                <a:spcPts val="1200"/>
              </a:spcBef>
              <a:spcAft>
                <a:spcPts val="0"/>
              </a:spcAft>
              <a:buNone/>
            </a:pPr>
            <a:endParaRPr/>
          </a:p>
        </p:txBody>
      </p:sp>
      <p:pic>
        <p:nvPicPr>
          <p:cNvPr id="160" name="Google Shape;160;p20"/>
          <p:cNvPicPr preferRelativeResize="0"/>
          <p:nvPr/>
        </p:nvPicPr>
        <p:blipFill>
          <a:blip r:embed="rId3">
            <a:alphaModFix/>
          </a:blip>
          <a:stretch>
            <a:fillRect/>
          </a:stretch>
        </p:blipFill>
        <p:spPr>
          <a:xfrm>
            <a:off x="4736500" y="1128000"/>
            <a:ext cx="4226700" cy="610600"/>
          </a:xfrm>
          <a:prstGeom prst="rect">
            <a:avLst/>
          </a:prstGeom>
          <a:noFill/>
          <a:ln>
            <a:noFill/>
          </a:ln>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50"/>
                                        </p:tgtEl>
                                        <p:attrNameLst>
                                          <p:attrName>style.visibility</p:attrName>
                                        </p:attrNameLst>
                                      </p:cBhvr>
                                      <p:to>
                                        <p:strVal val="visible"/>
                                      </p:to>
                                    </p:set>
                                    <p:anim calcmode="lin" valueType="num">
                                      <p:cBhvr additive="base">
                                        <p:cTn id="7" dur="500"/>
                                        <p:tgtEl>
                                          <p:spTgt spid="150"/>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2" presetClass="entr" presetSubtype="1" fill="hold" nodeType="afterEffect">
                                  <p:stCondLst>
                                    <p:cond delay="0"/>
                                  </p:stCondLst>
                                  <p:childTnLst>
                                    <p:set>
                                      <p:cBhvr>
                                        <p:cTn id="10" dur="1" fill="hold">
                                          <p:stCondLst>
                                            <p:cond delay="0"/>
                                          </p:stCondLst>
                                        </p:cTn>
                                        <p:tgtEl>
                                          <p:spTgt spid="156"/>
                                        </p:tgtEl>
                                        <p:attrNameLst>
                                          <p:attrName>style.visibility</p:attrName>
                                        </p:attrNameLst>
                                      </p:cBhvr>
                                      <p:to>
                                        <p:strVal val="visible"/>
                                      </p:to>
                                    </p:set>
                                    <p:anim calcmode="lin" valueType="num">
                                      <p:cBhvr additive="base">
                                        <p:cTn id="11" dur="500"/>
                                        <p:tgtEl>
                                          <p:spTgt spid="156"/>
                                        </p:tgtEl>
                                        <p:attrNameLst>
                                          <p:attrName>ppt_y</p:attrName>
                                        </p:attrNameLst>
                                      </p:cBhvr>
                                      <p:tavLst>
                                        <p:tav tm="0">
                                          <p:val>
                                            <p:strVal val="#ppt_y-1"/>
                                          </p:val>
                                        </p:tav>
                                        <p:tav tm="100000">
                                          <p:val>
                                            <p:strVal val="#ppt_y"/>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1"/>
                                        </p:tgtEl>
                                        <p:attrNameLst>
                                          <p:attrName>style.visibility</p:attrName>
                                        </p:attrNameLst>
                                      </p:cBhvr>
                                      <p:to>
                                        <p:strVal val="visible"/>
                                      </p:to>
                                    </p:set>
                                    <p:animEffect transition="in" filter="fade">
                                      <p:cBhvr>
                                        <p:cTn id="15" dur="500"/>
                                        <p:tgtEl>
                                          <p:spTgt spid="15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52"/>
                                        </p:tgtEl>
                                        <p:attrNameLst>
                                          <p:attrName>style.visibility</p:attrName>
                                        </p:attrNameLst>
                                      </p:cBhvr>
                                      <p:to>
                                        <p:strVal val="visible"/>
                                      </p:to>
                                    </p:set>
                                    <p:animEffect transition="in" filter="fade">
                                      <p:cBhvr>
                                        <p:cTn id="19" dur="500"/>
                                        <p:tgtEl>
                                          <p:spTgt spid="152"/>
                                        </p:tgtEl>
                                      </p:cBhvr>
                                    </p:animEffect>
                                  </p:childTnLst>
                                </p:cTn>
                              </p:par>
                              <p:par>
                                <p:cTn id="20" presetID="10" presetClass="entr" presetSubtype="0" fill="hold" nodeType="withEffect">
                                  <p:stCondLst>
                                    <p:cond delay="0"/>
                                  </p:stCondLst>
                                  <p:childTnLst>
                                    <p:set>
                                      <p:cBhvr>
                                        <p:cTn id="21" dur="1" fill="hold">
                                          <p:stCondLst>
                                            <p:cond delay="0"/>
                                          </p:stCondLst>
                                        </p:cTn>
                                        <p:tgtEl>
                                          <p:spTgt spid="153"/>
                                        </p:tgtEl>
                                        <p:attrNameLst>
                                          <p:attrName>style.visibility</p:attrName>
                                        </p:attrNameLst>
                                      </p:cBhvr>
                                      <p:to>
                                        <p:strVal val="visible"/>
                                      </p:to>
                                    </p:set>
                                    <p:animEffect transition="in" filter="fade">
                                      <p:cBhvr>
                                        <p:cTn id="22" dur="500"/>
                                        <p:tgtEl>
                                          <p:spTgt spid="153"/>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154"/>
                                        </p:tgtEl>
                                        <p:attrNameLst>
                                          <p:attrName>style.visibility</p:attrName>
                                        </p:attrNameLst>
                                      </p:cBhvr>
                                      <p:to>
                                        <p:strVal val="visible"/>
                                      </p:to>
                                    </p:set>
                                    <p:animEffect transition="in" filter="fade">
                                      <p:cBhvr>
                                        <p:cTn id="26" dur="500"/>
                                        <p:tgtEl>
                                          <p:spTgt spid="154"/>
                                        </p:tgtEl>
                                      </p:cBhvr>
                                    </p:animEffect>
                                  </p:childTnLst>
                                </p:cTn>
                              </p:par>
                              <p:par>
                                <p:cTn id="27" presetID="10" presetClass="entr" presetSubtype="0" fill="hold" nodeType="withEffect">
                                  <p:stCondLst>
                                    <p:cond delay="0"/>
                                  </p:stCondLst>
                                  <p:childTnLst>
                                    <p:set>
                                      <p:cBhvr>
                                        <p:cTn id="28" dur="1" fill="hold">
                                          <p:stCondLst>
                                            <p:cond delay="0"/>
                                          </p:stCondLst>
                                        </p:cTn>
                                        <p:tgtEl>
                                          <p:spTgt spid="155"/>
                                        </p:tgtEl>
                                        <p:attrNameLst>
                                          <p:attrName>style.visibility</p:attrName>
                                        </p:attrNameLst>
                                      </p:cBhvr>
                                      <p:to>
                                        <p:strVal val="visible"/>
                                      </p:to>
                                    </p:set>
                                    <p:animEffect transition="in" filter="fade">
                                      <p:cBhvr>
                                        <p:cTn id="29" dur="5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1"/>
          <p:cNvSpPr/>
          <p:nvPr/>
        </p:nvSpPr>
        <p:spPr>
          <a:xfrm>
            <a:off x="573881" y="301466"/>
            <a:ext cx="7996238" cy="4102418"/>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67" name="Google Shape;167;p21"/>
          <p:cNvSpPr/>
          <p:nvPr/>
        </p:nvSpPr>
        <p:spPr>
          <a:xfrm>
            <a:off x="573881" y="301466"/>
            <a:ext cx="2377440" cy="4101941"/>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nvGrpSpPr>
          <p:cNvPr id="168" name="Google Shape;168;p21"/>
          <p:cNvGrpSpPr/>
          <p:nvPr/>
        </p:nvGrpSpPr>
        <p:grpSpPr>
          <a:xfrm>
            <a:off x="7416641" y="3250406"/>
            <a:ext cx="1153478" cy="1153478"/>
            <a:chOff x="15573" y="6825"/>
            <a:chExt cx="2422" cy="2422"/>
          </a:xfrm>
        </p:grpSpPr>
        <p:sp>
          <p:nvSpPr>
            <p:cNvPr id="169" name="Google Shape;169;p21"/>
            <p:cNvSpPr/>
            <p:nvPr/>
          </p:nvSpPr>
          <p:spPr>
            <a:xfrm flipH="1">
              <a:off x="15573" y="6825"/>
              <a:ext cx="2422" cy="2422"/>
            </a:xfrm>
            <a:prstGeom prst="rtTriangle">
              <a:avLst/>
            </a:prstGeom>
            <a:solidFill>
              <a:srgbClr val="3F3F3F">
                <a:alpha val="49803"/>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70" name="Google Shape;170;p21"/>
            <p:cNvSpPr/>
            <p:nvPr/>
          </p:nvSpPr>
          <p:spPr>
            <a:xfrm flipH="1">
              <a:off x="16017" y="7268"/>
              <a:ext cx="1978" cy="1978"/>
            </a:xfrm>
            <a:prstGeom prst="rtTriangl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71" name="Google Shape;171;p21"/>
            <p:cNvSpPr/>
            <p:nvPr/>
          </p:nvSpPr>
          <p:spPr>
            <a:xfrm flipH="1">
              <a:off x="16439" y="7690"/>
              <a:ext cx="1556" cy="1556"/>
            </a:xfrm>
            <a:prstGeom prst="rtTriangle">
              <a:avLst/>
            </a:prstGeom>
            <a:solidFill>
              <a:srgbClr val="3F3F3F">
                <a:alpha val="80000"/>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cxnSp>
        <p:nvCxnSpPr>
          <p:cNvPr id="172" name="Google Shape;172;p21"/>
          <p:cNvCxnSpPr/>
          <p:nvPr/>
        </p:nvCxnSpPr>
        <p:spPr>
          <a:xfrm>
            <a:off x="1474946" y="3101816"/>
            <a:ext cx="1250633" cy="0"/>
          </a:xfrm>
          <a:prstGeom prst="straightConnector1">
            <a:avLst/>
          </a:prstGeom>
          <a:noFill/>
          <a:ln w="19050" cap="flat" cmpd="sng">
            <a:solidFill>
              <a:schemeClr val="lt1"/>
            </a:solidFill>
            <a:prstDash val="solid"/>
            <a:miter lim="800000"/>
            <a:headEnd type="none" w="sm" len="sm"/>
            <a:tailEnd type="none" w="sm" len="sm"/>
          </a:ln>
        </p:spPr>
      </p:cxnSp>
      <p:sp>
        <p:nvSpPr>
          <p:cNvPr id="173" name="Google Shape;173;p21"/>
          <p:cNvSpPr txBox="1"/>
          <p:nvPr/>
        </p:nvSpPr>
        <p:spPr>
          <a:xfrm>
            <a:off x="1438751" y="1958340"/>
            <a:ext cx="1415891" cy="1222534"/>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500" b="1">
                <a:solidFill>
                  <a:schemeClr val="lt1"/>
                </a:solidFill>
                <a:latin typeface="Arial"/>
                <a:ea typeface="Arial"/>
                <a:cs typeface="Arial"/>
                <a:sym typeface="Arial"/>
              </a:rPr>
              <a:t>02</a:t>
            </a:r>
            <a:endParaRPr sz="7500" b="1">
              <a:solidFill>
                <a:schemeClr val="lt1"/>
              </a:solidFill>
              <a:latin typeface="Arial"/>
              <a:ea typeface="Arial"/>
              <a:cs typeface="Arial"/>
              <a:sym typeface="Arial"/>
            </a:endParaRPr>
          </a:p>
        </p:txBody>
      </p:sp>
      <p:sp>
        <p:nvSpPr>
          <p:cNvPr id="174" name="Google Shape;174;p21"/>
          <p:cNvSpPr txBox="1"/>
          <p:nvPr/>
        </p:nvSpPr>
        <p:spPr>
          <a:xfrm>
            <a:off x="1599724" y="1729740"/>
            <a:ext cx="1208246" cy="299085"/>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None/>
            </a:pPr>
            <a:r>
              <a:rPr lang="en" sz="1500" b="1">
                <a:solidFill>
                  <a:schemeClr val="lt1"/>
                </a:solidFill>
                <a:latin typeface="Microsoft Yahei"/>
                <a:ea typeface="Microsoft Yahei"/>
                <a:cs typeface="Microsoft Yahei"/>
                <a:sym typeface="Microsoft Yahei"/>
              </a:rPr>
              <a:t>PART TWO</a:t>
            </a:r>
            <a:endParaRPr sz="1500" b="1">
              <a:solidFill>
                <a:schemeClr val="lt1"/>
              </a:solidFill>
              <a:latin typeface="Microsoft Yahei"/>
              <a:ea typeface="Microsoft Yahei"/>
              <a:cs typeface="Microsoft Yahei"/>
              <a:sym typeface="Microsoft Yahei"/>
            </a:endParaRPr>
          </a:p>
        </p:txBody>
      </p:sp>
      <p:sp>
        <p:nvSpPr>
          <p:cNvPr id="175" name="Google Shape;175;p21"/>
          <p:cNvSpPr/>
          <p:nvPr/>
        </p:nvSpPr>
        <p:spPr>
          <a:xfrm>
            <a:off x="3482816" y="1978819"/>
            <a:ext cx="558165" cy="89535"/>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76" name="Google Shape;176;p21"/>
          <p:cNvSpPr txBox="1"/>
          <p:nvPr/>
        </p:nvSpPr>
        <p:spPr>
          <a:xfrm>
            <a:off x="3417113" y="2272669"/>
            <a:ext cx="4423200" cy="346218"/>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r>
              <a:rPr lang="en-US" sz="1800" b="1" dirty="0">
                <a:solidFill>
                  <a:srgbClr val="3F3F3F"/>
                </a:solidFill>
                <a:latin typeface="Microsoft Yahei"/>
                <a:ea typeface="Microsoft Yahei"/>
                <a:cs typeface="Microsoft Yahei"/>
                <a:sym typeface="Microsoft Yahei"/>
              </a:rPr>
              <a:t>EDA &amp; Visualization</a:t>
            </a:r>
            <a:endParaRPr sz="1800" b="1" dirty="0">
              <a:solidFill>
                <a:srgbClr val="3F3F3F"/>
              </a:solidFill>
              <a:latin typeface="Microsoft Yahei"/>
              <a:ea typeface="Microsoft Yahei"/>
              <a:cs typeface="Microsoft Yahei"/>
              <a:sym typeface="Microsoft Yahei"/>
            </a:endParaRPr>
          </a:p>
        </p:txBody>
      </p:sp>
      <p:sp>
        <p:nvSpPr>
          <p:cNvPr id="177" name="Google Shape;177;p21"/>
          <p:cNvSpPr txBox="1"/>
          <p:nvPr/>
        </p:nvSpPr>
        <p:spPr>
          <a:xfrm>
            <a:off x="3417094" y="2617946"/>
            <a:ext cx="42111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900">
              <a:solidFill>
                <a:srgbClr val="3F3F3F"/>
              </a:solidFill>
              <a:latin typeface="Arial"/>
              <a:ea typeface="Arial"/>
              <a:cs typeface="Arial"/>
              <a:sym typeface="Arial"/>
            </a:endParaRPr>
          </a:p>
        </p:txBody>
      </p:sp>
      <p:grpSp>
        <p:nvGrpSpPr>
          <p:cNvPr id="178" name="Google Shape;178;p21"/>
          <p:cNvGrpSpPr/>
          <p:nvPr/>
        </p:nvGrpSpPr>
        <p:grpSpPr>
          <a:xfrm>
            <a:off x="8029099" y="458629"/>
            <a:ext cx="360521" cy="155257"/>
            <a:chOff x="16859" y="963"/>
            <a:chExt cx="757" cy="326"/>
          </a:xfrm>
        </p:grpSpPr>
        <p:sp>
          <p:nvSpPr>
            <p:cNvPr id="179" name="Google Shape;179;p21"/>
            <p:cNvSpPr/>
            <p:nvPr/>
          </p:nvSpPr>
          <p:spPr>
            <a:xfrm>
              <a:off x="17290" y="963"/>
              <a:ext cx="326" cy="326"/>
            </a:xfrm>
            <a:prstGeom prst="ellipse">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80" name="Google Shape;180;p21"/>
            <p:cNvSpPr/>
            <p:nvPr/>
          </p:nvSpPr>
          <p:spPr>
            <a:xfrm>
              <a:off x="16859" y="963"/>
              <a:ext cx="326" cy="326"/>
            </a:xfrm>
            <a:prstGeom prst="ellipse">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500"/>
                                        <p:tgtEl>
                                          <p:spTgt spid="16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67"/>
                                        </p:tgtEl>
                                        <p:attrNameLst>
                                          <p:attrName>style.visibility</p:attrName>
                                        </p:attrNameLst>
                                      </p:cBhvr>
                                      <p:to>
                                        <p:strVal val="visible"/>
                                      </p:to>
                                    </p:set>
                                    <p:animEffect transition="in" filter="fade">
                                      <p:cBhvr>
                                        <p:cTn id="11" dur="500"/>
                                        <p:tgtEl>
                                          <p:spTgt spid="167"/>
                                        </p:tgtEl>
                                      </p:cBhvr>
                                    </p:animEffect>
                                  </p:childTnLst>
                                </p:cTn>
                              </p:par>
                              <p:par>
                                <p:cTn id="12" presetID="10" presetClass="entr" presetSubtype="0" fill="hold" nodeType="withEffect">
                                  <p:stCondLst>
                                    <p:cond delay="0"/>
                                  </p:stCondLst>
                                  <p:childTnLst>
                                    <p:set>
                                      <p:cBhvr>
                                        <p:cTn id="13" dur="1" fill="hold">
                                          <p:stCondLst>
                                            <p:cond delay="0"/>
                                          </p:stCondLst>
                                        </p:cTn>
                                        <p:tgtEl>
                                          <p:spTgt spid="168"/>
                                        </p:tgtEl>
                                        <p:attrNameLst>
                                          <p:attrName>style.visibility</p:attrName>
                                        </p:attrNameLst>
                                      </p:cBhvr>
                                      <p:to>
                                        <p:strVal val="visible"/>
                                      </p:to>
                                    </p:set>
                                    <p:animEffect transition="in" filter="fade">
                                      <p:cBhvr>
                                        <p:cTn id="14" dur="500"/>
                                        <p:tgtEl>
                                          <p:spTgt spid="168"/>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74"/>
                                        </p:tgtEl>
                                        <p:attrNameLst>
                                          <p:attrName>style.visibility</p:attrName>
                                        </p:attrNameLst>
                                      </p:cBhvr>
                                      <p:to>
                                        <p:strVal val="visible"/>
                                      </p:to>
                                    </p:set>
                                    <p:animEffect transition="in" filter="fade">
                                      <p:cBhvr>
                                        <p:cTn id="18" dur="500"/>
                                        <p:tgtEl>
                                          <p:spTgt spid="174"/>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173"/>
                                        </p:tgtEl>
                                        <p:attrNameLst>
                                          <p:attrName>style.visibility</p:attrName>
                                        </p:attrNameLst>
                                      </p:cBhvr>
                                      <p:to>
                                        <p:strVal val="visible"/>
                                      </p:to>
                                    </p:set>
                                    <p:animEffect transition="in" filter="fade">
                                      <p:cBhvr>
                                        <p:cTn id="22" dur="500"/>
                                        <p:tgtEl>
                                          <p:spTgt spid="173"/>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172"/>
                                        </p:tgtEl>
                                        <p:attrNameLst>
                                          <p:attrName>style.visibility</p:attrName>
                                        </p:attrNameLst>
                                      </p:cBhvr>
                                      <p:to>
                                        <p:strVal val="visible"/>
                                      </p:to>
                                    </p:set>
                                    <p:animEffect transition="in" filter="fade">
                                      <p:cBhvr>
                                        <p:cTn id="26" dur="500"/>
                                        <p:tgtEl>
                                          <p:spTgt spid="172"/>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175"/>
                                        </p:tgtEl>
                                        <p:attrNameLst>
                                          <p:attrName>style.visibility</p:attrName>
                                        </p:attrNameLst>
                                      </p:cBhvr>
                                      <p:to>
                                        <p:strVal val="visible"/>
                                      </p:to>
                                    </p:set>
                                    <p:animEffect transition="in" filter="fade">
                                      <p:cBhvr>
                                        <p:cTn id="30" dur="500"/>
                                        <p:tgtEl>
                                          <p:spTgt spid="175"/>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176"/>
                                        </p:tgtEl>
                                        <p:attrNameLst>
                                          <p:attrName>style.visibility</p:attrName>
                                        </p:attrNameLst>
                                      </p:cBhvr>
                                      <p:to>
                                        <p:strVal val="visible"/>
                                      </p:to>
                                    </p:set>
                                    <p:animEffect transition="in" filter="fade">
                                      <p:cBhvr>
                                        <p:cTn id="34" dur="500"/>
                                        <p:tgtEl>
                                          <p:spTgt spid="176"/>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177"/>
                                        </p:tgtEl>
                                        <p:attrNameLst>
                                          <p:attrName>style.visibility</p:attrName>
                                        </p:attrNameLst>
                                      </p:cBhvr>
                                      <p:to>
                                        <p:strVal val="visible"/>
                                      </p:to>
                                    </p:set>
                                    <p:animEffect transition="in" filter="fade">
                                      <p:cBhvr>
                                        <p:cTn id="38" dur="500"/>
                                        <p:tgtEl>
                                          <p:spTgt spid="177"/>
                                        </p:tgtEl>
                                      </p:cBhvr>
                                    </p:animEffect>
                                  </p:childTnLst>
                                </p:cTn>
                              </p:par>
                            </p:childTnLst>
                          </p:cTn>
                        </p:par>
                        <p:par>
                          <p:cTn id="39" fill="hold">
                            <p:stCondLst>
                              <p:cond delay="4000"/>
                            </p:stCondLst>
                            <p:childTnLst>
                              <p:par>
                                <p:cTn id="40" presetID="2" presetClass="entr" presetSubtype="2" fill="hold" nodeType="afterEffect">
                                  <p:stCondLst>
                                    <p:cond delay="0"/>
                                  </p:stCondLst>
                                  <p:childTnLst>
                                    <p:set>
                                      <p:cBhvr>
                                        <p:cTn id="41" dur="1" fill="hold">
                                          <p:stCondLst>
                                            <p:cond delay="0"/>
                                          </p:stCondLst>
                                        </p:cTn>
                                        <p:tgtEl>
                                          <p:spTgt spid="178"/>
                                        </p:tgtEl>
                                        <p:attrNameLst>
                                          <p:attrName>style.visibility</p:attrName>
                                        </p:attrNameLst>
                                      </p:cBhvr>
                                      <p:to>
                                        <p:strVal val="visible"/>
                                      </p:to>
                                    </p:set>
                                    <p:anim calcmode="lin" valueType="num">
                                      <p:cBhvr additive="base">
                                        <p:cTn id="42" dur="500"/>
                                        <p:tgtEl>
                                          <p:spTgt spid="17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185"/>
        <p:cNvGrpSpPr/>
        <p:nvPr/>
      </p:nvGrpSpPr>
      <p:grpSpPr>
        <a:xfrm>
          <a:off x="0" y="0"/>
          <a:ext cx="0" cy="0"/>
          <a:chOff x="0" y="0"/>
          <a:chExt cx="0" cy="0"/>
        </a:xfrm>
      </p:grpSpPr>
      <p:sp>
        <p:nvSpPr>
          <p:cNvPr id="186" name="Google Shape;186;p22"/>
          <p:cNvSpPr/>
          <p:nvPr/>
        </p:nvSpPr>
        <p:spPr>
          <a:xfrm>
            <a:off x="148114" y="163354"/>
            <a:ext cx="8847772" cy="4816316"/>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87" name="Google Shape;187;p22"/>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188" name="Google Shape;188;p22"/>
          <p:cNvSpPr txBox="1"/>
          <p:nvPr/>
        </p:nvSpPr>
        <p:spPr>
          <a:xfrm>
            <a:off x="4356735" y="1381125"/>
            <a:ext cx="3988117" cy="460058"/>
          </a:xfrm>
          <a:prstGeom prst="rect">
            <a:avLst/>
          </a:prstGeom>
          <a:noFill/>
          <a:ln>
            <a:noFill/>
          </a:ln>
        </p:spPr>
        <p:txBody>
          <a:bodyPr spcFirstLastPara="1" wrap="square" lIns="0" tIns="34275" rIns="68575" bIns="34275" anchor="ctr" anchorCtr="0">
            <a:noAutofit/>
          </a:bodyPr>
          <a:lstStyle/>
          <a:p>
            <a:pPr marL="0" marR="0" lvl="0" indent="0" algn="l"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189" name="Google Shape;189;p22"/>
          <p:cNvSpPr txBox="1"/>
          <p:nvPr/>
        </p:nvSpPr>
        <p:spPr>
          <a:xfrm>
            <a:off x="4356735" y="2144078"/>
            <a:ext cx="3988117" cy="460058"/>
          </a:xfrm>
          <a:prstGeom prst="rect">
            <a:avLst/>
          </a:prstGeom>
          <a:noFill/>
          <a:ln>
            <a:noFill/>
          </a:ln>
        </p:spPr>
        <p:txBody>
          <a:bodyPr spcFirstLastPara="1" wrap="square" lIns="0" tIns="34275" rIns="68575" bIns="34275" anchor="ctr" anchorCtr="0">
            <a:noAutofit/>
          </a:bodyPr>
          <a:lstStyle/>
          <a:p>
            <a:pPr marL="0" marR="0" lvl="0" indent="0" algn="l"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190" name="Google Shape;190;p22"/>
          <p:cNvSpPr txBox="1"/>
          <p:nvPr/>
        </p:nvSpPr>
        <p:spPr>
          <a:xfrm>
            <a:off x="4356735" y="2914650"/>
            <a:ext cx="3988117" cy="460057"/>
          </a:xfrm>
          <a:prstGeom prst="rect">
            <a:avLst/>
          </a:prstGeom>
          <a:noFill/>
          <a:ln>
            <a:noFill/>
          </a:ln>
        </p:spPr>
        <p:txBody>
          <a:bodyPr spcFirstLastPara="1" wrap="square" lIns="0" tIns="34275" rIns="68575" bIns="34275" anchor="ctr" anchorCtr="0">
            <a:noAutofit/>
          </a:bodyPr>
          <a:lstStyle/>
          <a:p>
            <a:pPr marL="0" marR="0" lvl="0" indent="0" algn="l"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191" name="Google Shape;191;p22"/>
          <p:cNvSpPr txBox="1"/>
          <p:nvPr/>
        </p:nvSpPr>
        <p:spPr>
          <a:xfrm>
            <a:off x="509225" y="304325"/>
            <a:ext cx="7927800" cy="56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t>Exploratory Data Analysis</a:t>
            </a:r>
            <a:endParaRPr sz="2200" b="1" dirty="0"/>
          </a:p>
        </p:txBody>
      </p:sp>
      <p:sp>
        <p:nvSpPr>
          <p:cNvPr id="192" name="Google Shape;192;p22"/>
          <p:cNvSpPr txBox="1"/>
          <p:nvPr/>
        </p:nvSpPr>
        <p:spPr>
          <a:xfrm>
            <a:off x="409947" y="1121094"/>
            <a:ext cx="3196476" cy="3502298"/>
          </a:xfrm>
          <a:prstGeom prst="rect">
            <a:avLst/>
          </a:prstGeom>
          <a:noFill/>
          <a:ln>
            <a:noFill/>
          </a:ln>
        </p:spPr>
        <p:txBody>
          <a:bodyPr spcFirstLastPara="1" wrap="square" lIns="91425" tIns="91425" rIns="91425" bIns="91425" anchor="t" anchorCtr="0">
            <a:no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Dataset contains </a:t>
            </a:r>
            <a:r>
              <a:rPr kumimoji="0" lang="en-US" altLang="en-US" sz="1400" b="1" i="0" u="none" strike="noStrike" cap="none" normalizeH="0" baseline="0" dirty="0">
                <a:ln>
                  <a:noFill/>
                </a:ln>
                <a:solidFill>
                  <a:schemeClr val="tx1"/>
                </a:solidFill>
                <a:effectLst/>
                <a:latin typeface="Arial" panose="020B0604020202020204" pitchFamily="34" charset="0"/>
              </a:rPr>
              <a:t>619,040 observations</a:t>
            </a:r>
            <a:r>
              <a:rPr kumimoji="0" lang="en-US" altLang="en-US" sz="1400" b="0" i="0" u="none" strike="noStrike" cap="none" normalizeH="0" baseline="0" dirty="0">
                <a:ln>
                  <a:noFill/>
                </a:ln>
                <a:solidFill>
                  <a:schemeClr val="tx1"/>
                </a:solidFill>
                <a:effectLst/>
                <a:latin typeface="Arial" panose="020B0604020202020204" pitchFamily="34" charset="0"/>
              </a:rPr>
              <a:t> across </a:t>
            </a:r>
            <a:r>
              <a:rPr kumimoji="0" lang="en-US" altLang="en-US" sz="1400" b="1" i="0" u="none" strike="noStrike" cap="none" normalizeH="0" baseline="0" dirty="0">
                <a:ln>
                  <a:noFill/>
                </a:ln>
                <a:solidFill>
                  <a:schemeClr val="tx1"/>
                </a:solidFill>
                <a:effectLst/>
                <a:latin typeface="Arial" panose="020B0604020202020204" pitchFamily="34" charset="0"/>
              </a:rPr>
              <a:t>7 columns</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Time range: </a:t>
            </a:r>
            <a:r>
              <a:rPr kumimoji="0" lang="en-US" altLang="en-US" sz="1400" b="1" i="0" u="none" strike="noStrike" cap="none" normalizeH="0" baseline="0" dirty="0">
                <a:ln>
                  <a:noFill/>
                </a:ln>
                <a:solidFill>
                  <a:schemeClr val="tx1"/>
                </a:solidFill>
                <a:effectLst/>
                <a:latin typeface="Arial" panose="020B0604020202020204" pitchFamily="34" charset="0"/>
              </a:rPr>
              <a:t>February 2013 – February 2018</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Key columns:</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dirty="0">
                <a:solidFill>
                  <a:schemeClr val="tx1"/>
                </a:solidFill>
                <a:latin typeface="Arial" panose="020B0604020202020204" pitchFamily="34" charset="0"/>
              </a:rPr>
              <a:t>date, open, high, low, close, volume, Name (ticker symbol)</a:t>
            </a:r>
          </a:p>
        </p:txBody>
      </p:sp>
      <p:graphicFrame>
        <p:nvGraphicFramePr>
          <p:cNvPr id="8" name="表格 7">
            <a:extLst>
              <a:ext uri="{FF2B5EF4-FFF2-40B4-BE49-F238E27FC236}">
                <a16:creationId xmlns:a16="http://schemas.microsoft.com/office/drawing/2014/main" id="{8AD48368-6530-9F44-0E0A-28E1175C04B7}"/>
              </a:ext>
            </a:extLst>
          </p:cNvPr>
          <p:cNvGraphicFramePr>
            <a:graphicFrameLocks noGrp="1"/>
          </p:cNvGraphicFramePr>
          <p:nvPr>
            <p:extLst>
              <p:ext uri="{D42A27DB-BD31-4B8C-83A1-F6EECF244321}">
                <p14:modId xmlns:p14="http://schemas.microsoft.com/office/powerpoint/2010/main" val="877418268"/>
              </p:ext>
            </p:extLst>
          </p:nvPr>
        </p:nvGraphicFramePr>
        <p:xfrm>
          <a:off x="4006949" y="1121094"/>
          <a:ext cx="4627826" cy="2900836"/>
        </p:xfrm>
        <a:graphic>
          <a:graphicData uri="http://schemas.openxmlformats.org/drawingml/2006/table">
            <a:tbl>
              <a:tblPr/>
              <a:tblGrid>
                <a:gridCol w="573994">
                  <a:extLst>
                    <a:ext uri="{9D8B030D-6E8A-4147-A177-3AD203B41FA5}">
                      <a16:colId xmlns:a16="http://schemas.microsoft.com/office/drawing/2014/main" val="3624334767"/>
                    </a:ext>
                  </a:extLst>
                </a:gridCol>
                <a:gridCol w="573994">
                  <a:extLst>
                    <a:ext uri="{9D8B030D-6E8A-4147-A177-3AD203B41FA5}">
                      <a16:colId xmlns:a16="http://schemas.microsoft.com/office/drawing/2014/main" val="1095284879"/>
                    </a:ext>
                  </a:extLst>
                </a:gridCol>
                <a:gridCol w="609868">
                  <a:extLst>
                    <a:ext uri="{9D8B030D-6E8A-4147-A177-3AD203B41FA5}">
                      <a16:colId xmlns:a16="http://schemas.microsoft.com/office/drawing/2014/main" val="1018201824"/>
                    </a:ext>
                  </a:extLst>
                </a:gridCol>
                <a:gridCol w="573994">
                  <a:extLst>
                    <a:ext uri="{9D8B030D-6E8A-4147-A177-3AD203B41FA5}">
                      <a16:colId xmlns:a16="http://schemas.microsoft.com/office/drawing/2014/main" val="1015068948"/>
                    </a:ext>
                  </a:extLst>
                </a:gridCol>
                <a:gridCol w="573994">
                  <a:extLst>
                    <a:ext uri="{9D8B030D-6E8A-4147-A177-3AD203B41FA5}">
                      <a16:colId xmlns:a16="http://schemas.microsoft.com/office/drawing/2014/main" val="2445136708"/>
                    </a:ext>
                  </a:extLst>
                </a:gridCol>
                <a:gridCol w="573994">
                  <a:extLst>
                    <a:ext uri="{9D8B030D-6E8A-4147-A177-3AD203B41FA5}">
                      <a16:colId xmlns:a16="http://schemas.microsoft.com/office/drawing/2014/main" val="755096991"/>
                    </a:ext>
                  </a:extLst>
                </a:gridCol>
                <a:gridCol w="573994">
                  <a:extLst>
                    <a:ext uri="{9D8B030D-6E8A-4147-A177-3AD203B41FA5}">
                      <a16:colId xmlns:a16="http://schemas.microsoft.com/office/drawing/2014/main" val="403514365"/>
                    </a:ext>
                  </a:extLst>
                </a:gridCol>
                <a:gridCol w="573994">
                  <a:extLst>
                    <a:ext uri="{9D8B030D-6E8A-4147-A177-3AD203B41FA5}">
                      <a16:colId xmlns:a16="http://schemas.microsoft.com/office/drawing/2014/main" val="2665204869"/>
                    </a:ext>
                  </a:extLst>
                </a:gridCol>
              </a:tblGrid>
              <a:tr h="725209">
                <a:tc>
                  <a:txBody>
                    <a:bodyPr/>
                    <a:lstStyle/>
                    <a:p>
                      <a:pPr algn="l" fontAlgn="ctr"/>
                      <a:r>
                        <a:rPr lang="en-US" sz="1100" b="1" i="0" u="none" strike="noStrike">
                          <a:solidFill>
                            <a:srgbClr val="FFFFFF"/>
                          </a:solidFill>
                          <a:effectLst/>
                          <a:latin typeface="Calibri" panose="020F0502020204030204" pitchFamily="34" charset="0"/>
                        </a:rPr>
                        <a:t>Metric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100" b="1" i="0" u="none" strike="noStrike">
                          <a:solidFill>
                            <a:srgbClr val="FFFFFF"/>
                          </a:solidFill>
                          <a:effectLst/>
                          <a:latin typeface="Calibri" panose="020F0502020204030204" pitchFamily="34" charset="0"/>
                        </a:rPr>
                        <a:t>Mean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100" b="1" i="0" u="none" strike="noStrike">
                          <a:solidFill>
                            <a:srgbClr val="FFFFFF"/>
                          </a:solidFill>
                          <a:effectLst/>
                          <a:latin typeface="Calibri" panose="020F0502020204030204" pitchFamily="34" charset="0"/>
                        </a:rPr>
                        <a:t>Std Dev</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100" b="1" i="0" u="none" strike="noStrike">
                          <a:solidFill>
                            <a:srgbClr val="FFFFFF"/>
                          </a:solidFill>
                          <a:effectLst/>
                          <a:latin typeface="Calibri" panose="020F0502020204030204" pitchFamily="34" charset="0"/>
                        </a:rPr>
                        <a:t>Min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100" b="1" i="0" u="none" strike="noStrike">
                          <a:solidFill>
                            <a:srgbClr val="FFFFFF"/>
                          </a:solidFill>
                          <a:effectLst/>
                          <a:latin typeface="Calibri" panose="020F0502020204030204" pitchFamily="34" charset="0"/>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100" b="1" i="0" u="none" strike="noStrike">
                          <a:solidFill>
                            <a:srgbClr val="FFFFFF"/>
                          </a:solidFill>
                          <a:effectLst/>
                          <a:latin typeface="Calibri" panose="020F0502020204030204" pitchFamily="34" charset="0"/>
                        </a:rPr>
                        <a:t>50%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100" b="1" i="0" u="none" strike="noStrike">
                          <a:solidFill>
                            <a:srgbClr val="FFFFFF"/>
                          </a:solidFill>
                          <a:effectLst/>
                          <a:latin typeface="Calibri" panose="020F0502020204030204" pitchFamily="34" charset="0"/>
                        </a:rPr>
                        <a:t>75%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l" fontAlgn="ctr"/>
                      <a:r>
                        <a:rPr lang="en-US" sz="1100" b="1" i="0" u="none" strike="noStrike">
                          <a:solidFill>
                            <a:srgbClr val="FFFFFF"/>
                          </a:solidFill>
                          <a:effectLst/>
                          <a:latin typeface="Calibri" panose="020F0502020204030204" pitchFamily="34" charset="0"/>
                        </a:rPr>
                        <a:t>Max</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359291845"/>
                  </a:ext>
                </a:extLst>
              </a:tr>
              <a:tr h="725209">
                <a:tc>
                  <a:txBody>
                    <a:bodyPr/>
                    <a:lstStyle/>
                    <a:p>
                      <a:pPr algn="l" fontAlgn="ctr"/>
                      <a:r>
                        <a:rPr lang="en-US" sz="1100" b="1" i="0" u="none" strike="noStrike">
                          <a:solidFill>
                            <a:srgbClr val="000000"/>
                          </a:solidFill>
                          <a:effectLst/>
                          <a:latin typeface="Calibri" panose="020F0502020204030204" pitchFamily="34" charset="0"/>
                        </a:rPr>
                        <a:t>Open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Calibri" panose="020F0502020204030204" pitchFamily="34" charset="0"/>
                        </a:rPr>
                        <a:t>83.02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97.38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1.62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40.22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62.59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94.37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2044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83330106"/>
                  </a:ext>
                </a:extLst>
              </a:tr>
              <a:tr h="725209">
                <a:tc>
                  <a:txBody>
                    <a:bodyPr/>
                    <a:lstStyle/>
                    <a:p>
                      <a:pPr algn="l" fontAlgn="ctr"/>
                      <a:r>
                        <a:rPr lang="en-US" sz="1100" b="1" i="0" u="none" strike="noStrike">
                          <a:solidFill>
                            <a:srgbClr val="000000"/>
                          </a:solidFill>
                          <a:effectLst/>
                          <a:latin typeface="Calibri" panose="020F0502020204030204" pitchFamily="34" charset="0"/>
                        </a:rPr>
                        <a:t>Close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83.04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97.39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1.59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40.25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62.62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94.41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2049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6897144"/>
                  </a:ext>
                </a:extLst>
              </a:tr>
              <a:tr h="725209">
                <a:tc>
                  <a:txBody>
                    <a:bodyPr/>
                    <a:lstStyle/>
                    <a:p>
                      <a:pPr algn="l" fontAlgn="ctr"/>
                      <a:r>
                        <a:rPr lang="en-US" sz="1100" b="1" i="0" u="none" strike="noStrike">
                          <a:solidFill>
                            <a:srgbClr val="000000"/>
                          </a:solidFill>
                          <a:effectLst/>
                          <a:latin typeface="Calibri" panose="020F0502020204030204" pitchFamily="34" charset="0"/>
                        </a:rPr>
                        <a:t>Volume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4.32M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8.69M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1.07M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2.08M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4.28M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Calibri" panose="020F0502020204030204" pitchFamily="34" charset="0"/>
                        </a:rPr>
                        <a:t>618M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4976465"/>
                  </a:ext>
                </a:extLst>
              </a:tr>
            </a:tbl>
          </a:graphicData>
        </a:graphic>
      </p:graphicFrame>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87"/>
                                        </p:tgtEl>
                                        <p:attrNameLst>
                                          <p:attrName>style.visibility</p:attrName>
                                        </p:attrNameLst>
                                      </p:cBhvr>
                                      <p:to>
                                        <p:strVal val="visible"/>
                                      </p:to>
                                    </p:set>
                                    <p:anim calcmode="lin" valueType="num">
                                      <p:cBhvr additive="base">
                                        <p:cTn id="7" dur="500"/>
                                        <p:tgtEl>
                                          <p:spTgt spid="187"/>
                                        </p:tgtEl>
                                        <p:attrNameLst>
                                          <p:attrName>ppt_y</p:attrName>
                                        </p:attrNameLst>
                                      </p:cBhvr>
                                      <p:tavLst>
                                        <p:tav tm="0">
                                          <p:val>
                                            <p:strVal val="#ppt_y-1"/>
                                          </p:val>
                                        </p:tav>
                                        <p:tav tm="100000">
                                          <p:val>
                                            <p:strVal val="#ppt_y"/>
                                          </p:val>
                                        </p:tav>
                                      </p:tavLst>
                                    </p:anim>
                                  </p:childTnLst>
                                </p:cTn>
                              </p:par>
                              <p:par>
                                <p:cTn id="8" presetID="10" presetClass="entr" presetSubtype="0" fill="hold" nodeType="withEffect">
                                  <p:stCondLst>
                                    <p:cond delay="0"/>
                                  </p:stCondLst>
                                  <p:childTnLst>
                                    <p:set>
                                      <p:cBhvr>
                                        <p:cTn id="9" dur="1" fill="hold">
                                          <p:stCondLst>
                                            <p:cond delay="0"/>
                                          </p:stCondLst>
                                        </p:cTn>
                                        <p:tgtEl>
                                          <p:spTgt spid="188"/>
                                        </p:tgtEl>
                                        <p:attrNameLst>
                                          <p:attrName>style.visibility</p:attrName>
                                        </p:attrNameLst>
                                      </p:cBhvr>
                                      <p:to>
                                        <p:strVal val="visible"/>
                                      </p:to>
                                    </p:set>
                                    <p:animEffect transition="in" filter="fade">
                                      <p:cBhvr>
                                        <p:cTn id="10" dur="500"/>
                                        <p:tgtEl>
                                          <p:spTgt spid="188"/>
                                        </p:tgtEl>
                                      </p:cBhvr>
                                    </p:animEffect>
                                  </p:childTnLst>
                                </p:cTn>
                              </p:par>
                              <p:par>
                                <p:cTn id="11" presetID="10" presetClass="entr" presetSubtype="0" fill="hold" nodeType="withEffect">
                                  <p:stCondLst>
                                    <p:cond delay="0"/>
                                  </p:stCondLst>
                                  <p:childTnLst>
                                    <p:set>
                                      <p:cBhvr>
                                        <p:cTn id="12" dur="1" fill="hold">
                                          <p:stCondLst>
                                            <p:cond delay="0"/>
                                          </p:stCondLst>
                                        </p:cTn>
                                        <p:tgtEl>
                                          <p:spTgt spid="189"/>
                                        </p:tgtEl>
                                        <p:attrNameLst>
                                          <p:attrName>style.visibility</p:attrName>
                                        </p:attrNameLst>
                                      </p:cBhvr>
                                      <p:to>
                                        <p:strVal val="visible"/>
                                      </p:to>
                                    </p:set>
                                    <p:animEffect transition="in" filter="fade">
                                      <p:cBhvr>
                                        <p:cTn id="13" dur="500"/>
                                        <p:tgtEl>
                                          <p:spTgt spid="189"/>
                                        </p:tgtEl>
                                      </p:cBhvr>
                                    </p:animEffect>
                                  </p:childTnLst>
                                </p:cTn>
                              </p:par>
                              <p:par>
                                <p:cTn id="14" presetID="10" presetClass="entr" presetSubtype="0" fill="hold" nodeType="withEffect">
                                  <p:stCondLst>
                                    <p:cond delay="0"/>
                                  </p:stCondLst>
                                  <p:childTnLst>
                                    <p:set>
                                      <p:cBhvr>
                                        <p:cTn id="15" dur="1" fill="hold">
                                          <p:stCondLst>
                                            <p:cond delay="0"/>
                                          </p:stCondLst>
                                        </p:cTn>
                                        <p:tgtEl>
                                          <p:spTgt spid="190"/>
                                        </p:tgtEl>
                                        <p:attrNameLst>
                                          <p:attrName>style.visibility</p:attrName>
                                        </p:attrNameLst>
                                      </p:cBhvr>
                                      <p:to>
                                        <p:strVal val="visible"/>
                                      </p:to>
                                    </p:set>
                                    <p:animEffect transition="in" filter="fade">
                                      <p:cBhvr>
                                        <p:cTn id="16" dur="500"/>
                                        <p:tgtEl>
                                          <p:spTgt spid="1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197"/>
        <p:cNvGrpSpPr/>
        <p:nvPr/>
      </p:nvGrpSpPr>
      <p:grpSpPr>
        <a:xfrm>
          <a:off x="0" y="0"/>
          <a:ext cx="0" cy="0"/>
          <a:chOff x="0" y="0"/>
          <a:chExt cx="0" cy="0"/>
        </a:xfrm>
      </p:grpSpPr>
      <p:sp>
        <p:nvSpPr>
          <p:cNvPr id="198" name="Google Shape;198;p23"/>
          <p:cNvSpPr/>
          <p:nvPr/>
        </p:nvSpPr>
        <p:spPr>
          <a:xfrm>
            <a:off x="148114" y="1633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99" name="Google Shape;199;p23"/>
          <p:cNvSpPr txBox="1"/>
          <p:nvPr/>
        </p:nvSpPr>
        <p:spPr>
          <a:xfrm>
            <a:off x="1332071" y="1424464"/>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0" name="Google Shape;200;p23"/>
          <p:cNvSpPr txBox="1"/>
          <p:nvPr/>
        </p:nvSpPr>
        <p:spPr>
          <a:xfrm>
            <a:off x="1332288" y="1991460"/>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1" name="Google Shape;201;p23"/>
          <p:cNvSpPr txBox="1"/>
          <p:nvPr/>
        </p:nvSpPr>
        <p:spPr>
          <a:xfrm>
            <a:off x="1332071" y="2229956"/>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2" name="Google Shape;202;p23"/>
          <p:cNvSpPr txBox="1"/>
          <p:nvPr/>
        </p:nvSpPr>
        <p:spPr>
          <a:xfrm>
            <a:off x="1332288" y="2788703"/>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3" name="Google Shape;203;p23"/>
          <p:cNvSpPr txBox="1"/>
          <p:nvPr/>
        </p:nvSpPr>
        <p:spPr>
          <a:xfrm>
            <a:off x="1257521" y="2985824"/>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4" name="Google Shape;204;p23"/>
          <p:cNvSpPr txBox="1"/>
          <p:nvPr/>
        </p:nvSpPr>
        <p:spPr>
          <a:xfrm>
            <a:off x="1332288" y="3651191"/>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5" name="Google Shape;205;p23"/>
          <p:cNvSpPr txBox="1"/>
          <p:nvPr/>
        </p:nvSpPr>
        <p:spPr>
          <a:xfrm>
            <a:off x="1431446" y="2812163"/>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6" name="Google Shape;206;p23"/>
          <p:cNvSpPr txBox="1"/>
          <p:nvPr/>
        </p:nvSpPr>
        <p:spPr>
          <a:xfrm>
            <a:off x="509225" y="286250"/>
            <a:ext cx="8171700" cy="4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t>Visualization</a:t>
            </a:r>
            <a:endParaRPr sz="2200" b="1" dirty="0"/>
          </a:p>
        </p:txBody>
      </p:sp>
      <p:sp>
        <p:nvSpPr>
          <p:cNvPr id="207" name="Google Shape;207;p23"/>
          <p:cNvSpPr txBox="1"/>
          <p:nvPr/>
        </p:nvSpPr>
        <p:spPr>
          <a:xfrm>
            <a:off x="518275" y="919025"/>
            <a:ext cx="8244000" cy="3995400"/>
          </a:xfrm>
          <a:prstGeom prst="rect">
            <a:avLst/>
          </a:prstGeom>
          <a:noFill/>
          <a:ln>
            <a:noFill/>
          </a:ln>
        </p:spPr>
        <p:txBody>
          <a:bodyPr spcFirstLastPara="1" wrap="square" lIns="91425" tIns="91425" rIns="91425" bIns="91425" anchor="t" anchorCtr="0">
            <a:noAutofit/>
          </a:bodyPr>
          <a:lstStyle/>
          <a:p>
            <a:pPr marL="0" lvl="0" indent="0" algn="l" rtl="0">
              <a:spcBef>
                <a:spcPts val="1200"/>
              </a:spcBef>
              <a:spcAft>
                <a:spcPts val="0"/>
              </a:spcAft>
              <a:buNone/>
            </a:pPr>
            <a:endParaRPr sz="1600" dirty="0">
              <a:solidFill>
                <a:schemeClr val="dk1"/>
              </a:solidFill>
            </a:endParaRPr>
          </a:p>
        </p:txBody>
      </p:sp>
      <p:pic>
        <p:nvPicPr>
          <p:cNvPr id="3" name="图片 2">
            <a:extLst>
              <a:ext uri="{FF2B5EF4-FFF2-40B4-BE49-F238E27FC236}">
                <a16:creationId xmlns:a16="http://schemas.microsoft.com/office/drawing/2014/main" id="{D7E72BBE-1C5A-B663-005C-4DA7BCF51F12}"/>
              </a:ext>
            </a:extLst>
          </p:cNvPr>
          <p:cNvPicPr>
            <a:picLocks noChangeAspect="1"/>
          </p:cNvPicPr>
          <p:nvPr/>
        </p:nvPicPr>
        <p:blipFill>
          <a:blip r:embed="rId3"/>
          <a:stretch>
            <a:fillRect/>
          </a:stretch>
        </p:blipFill>
        <p:spPr>
          <a:xfrm>
            <a:off x="456414" y="1345544"/>
            <a:ext cx="4810530" cy="2886317"/>
          </a:xfrm>
          <a:prstGeom prst="rect">
            <a:avLst/>
          </a:prstGeom>
        </p:spPr>
      </p:pic>
      <p:sp>
        <p:nvSpPr>
          <p:cNvPr id="4" name="文本框 3">
            <a:extLst>
              <a:ext uri="{FF2B5EF4-FFF2-40B4-BE49-F238E27FC236}">
                <a16:creationId xmlns:a16="http://schemas.microsoft.com/office/drawing/2014/main" id="{C20B421D-4334-AEAA-3E53-92A66EF1C0F7}"/>
              </a:ext>
            </a:extLst>
          </p:cNvPr>
          <p:cNvSpPr txBox="1"/>
          <p:nvPr/>
        </p:nvSpPr>
        <p:spPr>
          <a:xfrm>
            <a:off x="5538651" y="1424464"/>
            <a:ext cx="3148935" cy="2960875"/>
          </a:xfrm>
          <a:prstGeom prst="rect">
            <a:avLst/>
          </a:prstGeom>
          <a:noFill/>
        </p:spPr>
        <p:txBody>
          <a:bodyPr wrap="square" rtlCol="0">
            <a:spAutoFit/>
          </a:bodyPr>
          <a:lstStyle/>
          <a:p>
            <a:pPr>
              <a:lnSpc>
                <a:spcPct val="150000"/>
              </a:lnSpc>
            </a:pPr>
            <a:r>
              <a:rPr lang="en-US" dirty="0"/>
              <a:t>The histogram shows a right-skewed distribution of stock closing prices.</a:t>
            </a:r>
          </a:p>
          <a:p>
            <a:pPr>
              <a:lnSpc>
                <a:spcPct val="150000"/>
              </a:lnSpc>
            </a:pPr>
            <a:r>
              <a:rPr lang="en-US" dirty="0"/>
              <a:t>Most prices are concentrated between $0 and $150, but a few stocks exceed $2000, indicating the presence of extreme outliers.</a:t>
            </a:r>
          </a:p>
          <a:p>
            <a:pPr>
              <a:lnSpc>
                <a:spcPct val="150000"/>
              </a:lnSpc>
            </a:pPr>
            <a:r>
              <a:rPr lang="en-US" dirty="0"/>
              <a:t>This long tail suggests log transformation or outlier clipping may help normalize features for modeling.</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par>
                                <p:cTn id="8" presetID="10" presetClass="entr" presetSubtype="0" fill="hold" nodeType="withEffect">
                                  <p:stCondLst>
                                    <p:cond delay="0"/>
                                  </p:stCondLst>
                                  <p:childTnLst>
                                    <p:set>
                                      <p:cBhvr>
                                        <p:cTn id="9" dur="1" fill="hold">
                                          <p:stCondLst>
                                            <p:cond delay="0"/>
                                          </p:stCondLst>
                                        </p:cTn>
                                        <p:tgtEl>
                                          <p:spTgt spid="200"/>
                                        </p:tgtEl>
                                        <p:attrNameLst>
                                          <p:attrName>style.visibility</p:attrName>
                                        </p:attrNameLst>
                                      </p:cBhvr>
                                      <p:to>
                                        <p:strVal val="visible"/>
                                      </p:to>
                                    </p:set>
                                    <p:animEffect transition="in" filter="fade">
                                      <p:cBhvr>
                                        <p:cTn id="10" dur="500"/>
                                        <p:tgtEl>
                                          <p:spTgt spid="200"/>
                                        </p:tgtEl>
                                      </p:cBhvr>
                                    </p:animEffect>
                                  </p:childTnLst>
                                </p:cTn>
                              </p:par>
                              <p:par>
                                <p:cTn id="11" presetID="10" presetClass="entr" presetSubtype="0" fill="hold" nodeType="withEffect">
                                  <p:stCondLst>
                                    <p:cond delay="0"/>
                                  </p:stCondLst>
                                  <p:childTnLst>
                                    <p:set>
                                      <p:cBhvr>
                                        <p:cTn id="12" dur="1" fill="hold">
                                          <p:stCondLst>
                                            <p:cond delay="0"/>
                                          </p:stCondLst>
                                        </p:cTn>
                                        <p:tgtEl>
                                          <p:spTgt spid="201"/>
                                        </p:tgtEl>
                                        <p:attrNameLst>
                                          <p:attrName>style.visibility</p:attrName>
                                        </p:attrNameLst>
                                      </p:cBhvr>
                                      <p:to>
                                        <p:strVal val="visible"/>
                                      </p:to>
                                    </p:set>
                                    <p:animEffect transition="in" filter="fade">
                                      <p:cBhvr>
                                        <p:cTn id="13" dur="500"/>
                                        <p:tgtEl>
                                          <p:spTgt spid="201"/>
                                        </p:tgtEl>
                                      </p:cBhvr>
                                    </p:animEffect>
                                  </p:childTnLst>
                                </p:cTn>
                              </p:par>
                              <p:par>
                                <p:cTn id="14" presetID="10" presetClass="entr" presetSubtype="0" fill="hold" nodeType="withEffect">
                                  <p:stCondLst>
                                    <p:cond delay="0"/>
                                  </p:stCondLst>
                                  <p:childTnLst>
                                    <p:set>
                                      <p:cBhvr>
                                        <p:cTn id="15" dur="1" fill="hold">
                                          <p:stCondLst>
                                            <p:cond delay="0"/>
                                          </p:stCondLst>
                                        </p:cTn>
                                        <p:tgtEl>
                                          <p:spTgt spid="202"/>
                                        </p:tgtEl>
                                        <p:attrNameLst>
                                          <p:attrName>style.visibility</p:attrName>
                                        </p:attrNameLst>
                                      </p:cBhvr>
                                      <p:to>
                                        <p:strVal val="visible"/>
                                      </p:to>
                                    </p:set>
                                    <p:animEffect transition="in" filter="fade">
                                      <p:cBhvr>
                                        <p:cTn id="16" dur="500"/>
                                        <p:tgtEl>
                                          <p:spTgt spid="202"/>
                                        </p:tgtEl>
                                      </p:cBhvr>
                                    </p:animEffect>
                                  </p:childTnLst>
                                </p:cTn>
                              </p:par>
                              <p:par>
                                <p:cTn id="17" presetID="10" presetClass="entr" presetSubtype="0" fill="hold" nodeType="withEffect">
                                  <p:stCondLst>
                                    <p:cond delay="0"/>
                                  </p:stCondLst>
                                  <p:childTnLst>
                                    <p:set>
                                      <p:cBhvr>
                                        <p:cTn id="18" dur="1" fill="hold">
                                          <p:stCondLst>
                                            <p:cond delay="0"/>
                                          </p:stCondLst>
                                        </p:cTn>
                                        <p:tgtEl>
                                          <p:spTgt spid="203"/>
                                        </p:tgtEl>
                                        <p:attrNameLst>
                                          <p:attrName>style.visibility</p:attrName>
                                        </p:attrNameLst>
                                      </p:cBhvr>
                                      <p:to>
                                        <p:strVal val="visible"/>
                                      </p:to>
                                    </p:set>
                                    <p:animEffect transition="in" filter="fade">
                                      <p:cBhvr>
                                        <p:cTn id="19" dur="500"/>
                                        <p:tgtEl>
                                          <p:spTgt spid="203"/>
                                        </p:tgtEl>
                                      </p:cBhvr>
                                    </p:animEffect>
                                  </p:childTnLst>
                                </p:cTn>
                              </p:par>
                              <p:par>
                                <p:cTn id="20" presetID="10" presetClass="entr" presetSubtype="0" fill="hold" nodeType="withEffect">
                                  <p:stCondLst>
                                    <p:cond delay="0"/>
                                  </p:stCondLst>
                                  <p:childTnLst>
                                    <p:set>
                                      <p:cBhvr>
                                        <p:cTn id="21" dur="1" fill="hold">
                                          <p:stCondLst>
                                            <p:cond delay="0"/>
                                          </p:stCondLst>
                                        </p:cTn>
                                        <p:tgtEl>
                                          <p:spTgt spid="204"/>
                                        </p:tgtEl>
                                        <p:attrNameLst>
                                          <p:attrName>style.visibility</p:attrName>
                                        </p:attrNameLst>
                                      </p:cBhvr>
                                      <p:to>
                                        <p:strVal val="visible"/>
                                      </p:to>
                                    </p:set>
                                    <p:animEffect transition="in" filter="fade">
                                      <p:cBhvr>
                                        <p:cTn id="22" dur="500"/>
                                        <p:tgtEl>
                                          <p:spTgt spid="204"/>
                                        </p:tgtEl>
                                      </p:cBhvr>
                                    </p:animEffect>
                                  </p:childTnLst>
                                </p:cTn>
                              </p:par>
                              <p:par>
                                <p:cTn id="23" presetID="10" presetClass="entr" presetSubtype="0" fill="hold" nodeType="withEffect">
                                  <p:stCondLst>
                                    <p:cond delay="0"/>
                                  </p:stCondLst>
                                  <p:childTnLst>
                                    <p:set>
                                      <p:cBhvr>
                                        <p:cTn id="24" dur="1" fill="hold">
                                          <p:stCondLst>
                                            <p:cond delay="0"/>
                                          </p:stCondLst>
                                        </p:cTn>
                                        <p:tgtEl>
                                          <p:spTgt spid="205"/>
                                        </p:tgtEl>
                                        <p:attrNameLst>
                                          <p:attrName>style.visibility</p:attrName>
                                        </p:attrNameLst>
                                      </p:cBhvr>
                                      <p:to>
                                        <p:strVal val="visible"/>
                                      </p:to>
                                    </p:set>
                                    <p:animEffect transition="in" filter="fade">
                                      <p:cBhvr>
                                        <p:cTn id="25" dur="5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197">
          <a:extLst>
            <a:ext uri="{FF2B5EF4-FFF2-40B4-BE49-F238E27FC236}">
              <a16:creationId xmlns:a16="http://schemas.microsoft.com/office/drawing/2014/main" id="{92E079EE-5771-9881-B8CF-D7A827C26CCA}"/>
            </a:ext>
          </a:extLst>
        </p:cNvPr>
        <p:cNvGrpSpPr/>
        <p:nvPr/>
      </p:nvGrpSpPr>
      <p:grpSpPr>
        <a:xfrm>
          <a:off x="0" y="0"/>
          <a:ext cx="0" cy="0"/>
          <a:chOff x="0" y="0"/>
          <a:chExt cx="0" cy="0"/>
        </a:xfrm>
      </p:grpSpPr>
      <p:sp>
        <p:nvSpPr>
          <p:cNvPr id="198" name="Google Shape;198;p23">
            <a:extLst>
              <a:ext uri="{FF2B5EF4-FFF2-40B4-BE49-F238E27FC236}">
                <a16:creationId xmlns:a16="http://schemas.microsoft.com/office/drawing/2014/main" id="{9709316B-40C5-82A8-3E83-EF7CF5A802E0}"/>
              </a:ext>
            </a:extLst>
          </p:cNvPr>
          <p:cNvSpPr/>
          <p:nvPr/>
        </p:nvSpPr>
        <p:spPr>
          <a:xfrm>
            <a:off x="148114" y="1633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99" name="Google Shape;199;p23">
            <a:extLst>
              <a:ext uri="{FF2B5EF4-FFF2-40B4-BE49-F238E27FC236}">
                <a16:creationId xmlns:a16="http://schemas.microsoft.com/office/drawing/2014/main" id="{F134AD22-53D5-FB0D-86D8-9FAF2F0B03BC}"/>
              </a:ext>
            </a:extLst>
          </p:cNvPr>
          <p:cNvSpPr txBox="1"/>
          <p:nvPr/>
        </p:nvSpPr>
        <p:spPr>
          <a:xfrm>
            <a:off x="1332071" y="1424464"/>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0" name="Google Shape;200;p23">
            <a:extLst>
              <a:ext uri="{FF2B5EF4-FFF2-40B4-BE49-F238E27FC236}">
                <a16:creationId xmlns:a16="http://schemas.microsoft.com/office/drawing/2014/main" id="{3EB22179-B655-9786-EF58-5A0FC14DD318}"/>
              </a:ext>
            </a:extLst>
          </p:cNvPr>
          <p:cNvSpPr txBox="1"/>
          <p:nvPr/>
        </p:nvSpPr>
        <p:spPr>
          <a:xfrm>
            <a:off x="1332288" y="1991460"/>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1" name="Google Shape;201;p23">
            <a:extLst>
              <a:ext uri="{FF2B5EF4-FFF2-40B4-BE49-F238E27FC236}">
                <a16:creationId xmlns:a16="http://schemas.microsoft.com/office/drawing/2014/main" id="{A0658625-63F1-CE8B-8D49-3D5E3691F7A3}"/>
              </a:ext>
            </a:extLst>
          </p:cNvPr>
          <p:cNvSpPr txBox="1"/>
          <p:nvPr/>
        </p:nvSpPr>
        <p:spPr>
          <a:xfrm>
            <a:off x="1332071" y="2229956"/>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2" name="Google Shape;202;p23">
            <a:extLst>
              <a:ext uri="{FF2B5EF4-FFF2-40B4-BE49-F238E27FC236}">
                <a16:creationId xmlns:a16="http://schemas.microsoft.com/office/drawing/2014/main" id="{858049F4-62AC-8500-A45D-5B3644A4B996}"/>
              </a:ext>
            </a:extLst>
          </p:cNvPr>
          <p:cNvSpPr txBox="1"/>
          <p:nvPr/>
        </p:nvSpPr>
        <p:spPr>
          <a:xfrm>
            <a:off x="1332288" y="2788703"/>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3" name="Google Shape;203;p23">
            <a:extLst>
              <a:ext uri="{FF2B5EF4-FFF2-40B4-BE49-F238E27FC236}">
                <a16:creationId xmlns:a16="http://schemas.microsoft.com/office/drawing/2014/main" id="{A0165754-417B-EF94-3E21-903EC5B225B1}"/>
              </a:ext>
            </a:extLst>
          </p:cNvPr>
          <p:cNvSpPr txBox="1"/>
          <p:nvPr/>
        </p:nvSpPr>
        <p:spPr>
          <a:xfrm>
            <a:off x="1257521" y="2985824"/>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4" name="Google Shape;204;p23">
            <a:extLst>
              <a:ext uri="{FF2B5EF4-FFF2-40B4-BE49-F238E27FC236}">
                <a16:creationId xmlns:a16="http://schemas.microsoft.com/office/drawing/2014/main" id="{1EF15B88-0AF7-373A-7FC2-226263F8B692}"/>
              </a:ext>
            </a:extLst>
          </p:cNvPr>
          <p:cNvSpPr txBox="1"/>
          <p:nvPr/>
        </p:nvSpPr>
        <p:spPr>
          <a:xfrm>
            <a:off x="1332288" y="3651191"/>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5" name="Google Shape;205;p23">
            <a:extLst>
              <a:ext uri="{FF2B5EF4-FFF2-40B4-BE49-F238E27FC236}">
                <a16:creationId xmlns:a16="http://schemas.microsoft.com/office/drawing/2014/main" id="{34FA2EBF-238C-6719-0EE7-852C3E4EFEB3}"/>
              </a:ext>
            </a:extLst>
          </p:cNvPr>
          <p:cNvSpPr txBox="1"/>
          <p:nvPr/>
        </p:nvSpPr>
        <p:spPr>
          <a:xfrm>
            <a:off x="1431446" y="2812163"/>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6" name="Google Shape;206;p23">
            <a:extLst>
              <a:ext uri="{FF2B5EF4-FFF2-40B4-BE49-F238E27FC236}">
                <a16:creationId xmlns:a16="http://schemas.microsoft.com/office/drawing/2014/main" id="{DF0C1889-A5D2-0267-737B-7B81AAD287A1}"/>
              </a:ext>
            </a:extLst>
          </p:cNvPr>
          <p:cNvSpPr txBox="1"/>
          <p:nvPr/>
        </p:nvSpPr>
        <p:spPr>
          <a:xfrm>
            <a:off x="509225" y="286250"/>
            <a:ext cx="8171700" cy="4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t>Visualization</a:t>
            </a:r>
            <a:endParaRPr sz="2200" b="1" dirty="0"/>
          </a:p>
        </p:txBody>
      </p:sp>
      <p:sp>
        <p:nvSpPr>
          <p:cNvPr id="207" name="Google Shape;207;p23">
            <a:extLst>
              <a:ext uri="{FF2B5EF4-FFF2-40B4-BE49-F238E27FC236}">
                <a16:creationId xmlns:a16="http://schemas.microsoft.com/office/drawing/2014/main" id="{3AFA2F44-6145-9AD0-379A-3608AAB70877}"/>
              </a:ext>
            </a:extLst>
          </p:cNvPr>
          <p:cNvSpPr txBox="1"/>
          <p:nvPr/>
        </p:nvSpPr>
        <p:spPr>
          <a:xfrm>
            <a:off x="518275" y="919025"/>
            <a:ext cx="8244000" cy="3995400"/>
          </a:xfrm>
          <a:prstGeom prst="rect">
            <a:avLst/>
          </a:prstGeom>
          <a:noFill/>
          <a:ln>
            <a:noFill/>
          </a:ln>
        </p:spPr>
        <p:txBody>
          <a:bodyPr spcFirstLastPara="1" wrap="square" lIns="91425" tIns="91425" rIns="91425" bIns="91425" anchor="t" anchorCtr="0">
            <a:noAutofit/>
          </a:bodyPr>
          <a:lstStyle/>
          <a:p>
            <a:pPr marL="0" lvl="0" indent="0" algn="l" rtl="0">
              <a:spcBef>
                <a:spcPts val="1200"/>
              </a:spcBef>
              <a:spcAft>
                <a:spcPts val="0"/>
              </a:spcAft>
              <a:buNone/>
            </a:pPr>
            <a:endParaRPr sz="1600" dirty="0">
              <a:solidFill>
                <a:schemeClr val="dk1"/>
              </a:solidFill>
            </a:endParaRPr>
          </a:p>
        </p:txBody>
      </p:sp>
      <p:pic>
        <p:nvPicPr>
          <p:cNvPr id="4" name="图片 3">
            <a:extLst>
              <a:ext uri="{FF2B5EF4-FFF2-40B4-BE49-F238E27FC236}">
                <a16:creationId xmlns:a16="http://schemas.microsoft.com/office/drawing/2014/main" id="{919BE5EB-0775-1DB1-ABBD-D9347342EF09}"/>
              </a:ext>
            </a:extLst>
          </p:cNvPr>
          <p:cNvPicPr>
            <a:picLocks noChangeAspect="1"/>
          </p:cNvPicPr>
          <p:nvPr/>
        </p:nvPicPr>
        <p:blipFill>
          <a:blip r:embed="rId3"/>
          <a:stretch>
            <a:fillRect/>
          </a:stretch>
        </p:blipFill>
        <p:spPr>
          <a:xfrm>
            <a:off x="509225" y="1139081"/>
            <a:ext cx="5045338" cy="3027203"/>
          </a:xfrm>
          <a:prstGeom prst="rect">
            <a:avLst/>
          </a:prstGeom>
        </p:spPr>
      </p:pic>
      <p:sp>
        <p:nvSpPr>
          <p:cNvPr id="5" name="文本框 4">
            <a:extLst>
              <a:ext uri="{FF2B5EF4-FFF2-40B4-BE49-F238E27FC236}">
                <a16:creationId xmlns:a16="http://schemas.microsoft.com/office/drawing/2014/main" id="{411A6ECC-AF97-6978-6FE5-D3B23E593A3A}"/>
              </a:ext>
            </a:extLst>
          </p:cNvPr>
          <p:cNvSpPr txBox="1"/>
          <p:nvPr/>
        </p:nvSpPr>
        <p:spPr>
          <a:xfrm>
            <a:off x="5737207" y="1259259"/>
            <a:ext cx="2897568" cy="2960875"/>
          </a:xfrm>
          <a:prstGeom prst="rect">
            <a:avLst/>
          </a:prstGeom>
          <a:noFill/>
        </p:spPr>
        <p:txBody>
          <a:bodyPr wrap="square" rtlCol="0">
            <a:spAutoFit/>
          </a:bodyPr>
          <a:lstStyle/>
          <a:p>
            <a:pPr>
              <a:lnSpc>
                <a:spcPct val="150000"/>
              </a:lnSpc>
            </a:pPr>
            <a:r>
              <a:rPr lang="en-US" dirty="0"/>
              <a:t>A scatter plot of 10,000 sampled records illustrates a negative, non-linear trend.</a:t>
            </a:r>
          </a:p>
          <a:p>
            <a:pPr>
              <a:lnSpc>
                <a:spcPct val="150000"/>
              </a:lnSpc>
            </a:pPr>
            <a:r>
              <a:rPr lang="en-US" dirty="0"/>
              <a:t>Low-priced stocks tend to have higher trading volumes.</a:t>
            </a:r>
          </a:p>
          <a:p>
            <a:pPr>
              <a:lnSpc>
                <a:spcPct val="150000"/>
              </a:lnSpc>
            </a:pPr>
            <a:r>
              <a:rPr lang="en-US" dirty="0"/>
              <a:t>Highlights the need for normalization and possible segmentation by price category or sector.</a:t>
            </a:r>
          </a:p>
        </p:txBody>
      </p:sp>
    </p:spTree>
    <p:extLst>
      <p:ext uri="{BB962C8B-B14F-4D97-AF65-F5344CB8AC3E}">
        <p14:creationId xmlns:p14="http://schemas.microsoft.com/office/powerpoint/2010/main" val="222860979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par>
                                <p:cTn id="8" presetID="10" presetClass="entr" presetSubtype="0" fill="hold" nodeType="withEffect">
                                  <p:stCondLst>
                                    <p:cond delay="0"/>
                                  </p:stCondLst>
                                  <p:childTnLst>
                                    <p:set>
                                      <p:cBhvr>
                                        <p:cTn id="9" dur="1" fill="hold">
                                          <p:stCondLst>
                                            <p:cond delay="0"/>
                                          </p:stCondLst>
                                        </p:cTn>
                                        <p:tgtEl>
                                          <p:spTgt spid="200"/>
                                        </p:tgtEl>
                                        <p:attrNameLst>
                                          <p:attrName>style.visibility</p:attrName>
                                        </p:attrNameLst>
                                      </p:cBhvr>
                                      <p:to>
                                        <p:strVal val="visible"/>
                                      </p:to>
                                    </p:set>
                                    <p:animEffect transition="in" filter="fade">
                                      <p:cBhvr>
                                        <p:cTn id="10" dur="500"/>
                                        <p:tgtEl>
                                          <p:spTgt spid="200"/>
                                        </p:tgtEl>
                                      </p:cBhvr>
                                    </p:animEffect>
                                  </p:childTnLst>
                                </p:cTn>
                              </p:par>
                              <p:par>
                                <p:cTn id="11" presetID="10" presetClass="entr" presetSubtype="0" fill="hold" nodeType="withEffect">
                                  <p:stCondLst>
                                    <p:cond delay="0"/>
                                  </p:stCondLst>
                                  <p:childTnLst>
                                    <p:set>
                                      <p:cBhvr>
                                        <p:cTn id="12" dur="1" fill="hold">
                                          <p:stCondLst>
                                            <p:cond delay="0"/>
                                          </p:stCondLst>
                                        </p:cTn>
                                        <p:tgtEl>
                                          <p:spTgt spid="201"/>
                                        </p:tgtEl>
                                        <p:attrNameLst>
                                          <p:attrName>style.visibility</p:attrName>
                                        </p:attrNameLst>
                                      </p:cBhvr>
                                      <p:to>
                                        <p:strVal val="visible"/>
                                      </p:to>
                                    </p:set>
                                    <p:animEffect transition="in" filter="fade">
                                      <p:cBhvr>
                                        <p:cTn id="13" dur="500"/>
                                        <p:tgtEl>
                                          <p:spTgt spid="201"/>
                                        </p:tgtEl>
                                      </p:cBhvr>
                                    </p:animEffect>
                                  </p:childTnLst>
                                </p:cTn>
                              </p:par>
                              <p:par>
                                <p:cTn id="14" presetID="10" presetClass="entr" presetSubtype="0" fill="hold" nodeType="withEffect">
                                  <p:stCondLst>
                                    <p:cond delay="0"/>
                                  </p:stCondLst>
                                  <p:childTnLst>
                                    <p:set>
                                      <p:cBhvr>
                                        <p:cTn id="15" dur="1" fill="hold">
                                          <p:stCondLst>
                                            <p:cond delay="0"/>
                                          </p:stCondLst>
                                        </p:cTn>
                                        <p:tgtEl>
                                          <p:spTgt spid="202"/>
                                        </p:tgtEl>
                                        <p:attrNameLst>
                                          <p:attrName>style.visibility</p:attrName>
                                        </p:attrNameLst>
                                      </p:cBhvr>
                                      <p:to>
                                        <p:strVal val="visible"/>
                                      </p:to>
                                    </p:set>
                                    <p:animEffect transition="in" filter="fade">
                                      <p:cBhvr>
                                        <p:cTn id="16" dur="500"/>
                                        <p:tgtEl>
                                          <p:spTgt spid="202"/>
                                        </p:tgtEl>
                                      </p:cBhvr>
                                    </p:animEffect>
                                  </p:childTnLst>
                                </p:cTn>
                              </p:par>
                              <p:par>
                                <p:cTn id="17" presetID="10" presetClass="entr" presetSubtype="0" fill="hold" nodeType="withEffect">
                                  <p:stCondLst>
                                    <p:cond delay="0"/>
                                  </p:stCondLst>
                                  <p:childTnLst>
                                    <p:set>
                                      <p:cBhvr>
                                        <p:cTn id="18" dur="1" fill="hold">
                                          <p:stCondLst>
                                            <p:cond delay="0"/>
                                          </p:stCondLst>
                                        </p:cTn>
                                        <p:tgtEl>
                                          <p:spTgt spid="203"/>
                                        </p:tgtEl>
                                        <p:attrNameLst>
                                          <p:attrName>style.visibility</p:attrName>
                                        </p:attrNameLst>
                                      </p:cBhvr>
                                      <p:to>
                                        <p:strVal val="visible"/>
                                      </p:to>
                                    </p:set>
                                    <p:animEffect transition="in" filter="fade">
                                      <p:cBhvr>
                                        <p:cTn id="19" dur="500"/>
                                        <p:tgtEl>
                                          <p:spTgt spid="203"/>
                                        </p:tgtEl>
                                      </p:cBhvr>
                                    </p:animEffect>
                                  </p:childTnLst>
                                </p:cTn>
                              </p:par>
                              <p:par>
                                <p:cTn id="20" presetID="10" presetClass="entr" presetSubtype="0" fill="hold" nodeType="withEffect">
                                  <p:stCondLst>
                                    <p:cond delay="0"/>
                                  </p:stCondLst>
                                  <p:childTnLst>
                                    <p:set>
                                      <p:cBhvr>
                                        <p:cTn id="21" dur="1" fill="hold">
                                          <p:stCondLst>
                                            <p:cond delay="0"/>
                                          </p:stCondLst>
                                        </p:cTn>
                                        <p:tgtEl>
                                          <p:spTgt spid="204"/>
                                        </p:tgtEl>
                                        <p:attrNameLst>
                                          <p:attrName>style.visibility</p:attrName>
                                        </p:attrNameLst>
                                      </p:cBhvr>
                                      <p:to>
                                        <p:strVal val="visible"/>
                                      </p:to>
                                    </p:set>
                                    <p:animEffect transition="in" filter="fade">
                                      <p:cBhvr>
                                        <p:cTn id="22" dur="500"/>
                                        <p:tgtEl>
                                          <p:spTgt spid="204"/>
                                        </p:tgtEl>
                                      </p:cBhvr>
                                    </p:animEffect>
                                  </p:childTnLst>
                                </p:cTn>
                              </p:par>
                              <p:par>
                                <p:cTn id="23" presetID="10" presetClass="entr" presetSubtype="0" fill="hold" nodeType="withEffect">
                                  <p:stCondLst>
                                    <p:cond delay="0"/>
                                  </p:stCondLst>
                                  <p:childTnLst>
                                    <p:set>
                                      <p:cBhvr>
                                        <p:cTn id="24" dur="1" fill="hold">
                                          <p:stCondLst>
                                            <p:cond delay="0"/>
                                          </p:stCondLst>
                                        </p:cTn>
                                        <p:tgtEl>
                                          <p:spTgt spid="205"/>
                                        </p:tgtEl>
                                        <p:attrNameLst>
                                          <p:attrName>style.visibility</p:attrName>
                                        </p:attrNameLst>
                                      </p:cBhvr>
                                      <p:to>
                                        <p:strVal val="visible"/>
                                      </p:to>
                                    </p:set>
                                    <p:animEffect transition="in" filter="fade">
                                      <p:cBhvr>
                                        <p:cTn id="25" dur="5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197">
          <a:extLst>
            <a:ext uri="{FF2B5EF4-FFF2-40B4-BE49-F238E27FC236}">
              <a16:creationId xmlns:a16="http://schemas.microsoft.com/office/drawing/2014/main" id="{A75E7493-0DB3-68D3-A1B8-B14353FF1796}"/>
            </a:ext>
          </a:extLst>
        </p:cNvPr>
        <p:cNvGrpSpPr/>
        <p:nvPr/>
      </p:nvGrpSpPr>
      <p:grpSpPr>
        <a:xfrm>
          <a:off x="0" y="0"/>
          <a:ext cx="0" cy="0"/>
          <a:chOff x="0" y="0"/>
          <a:chExt cx="0" cy="0"/>
        </a:xfrm>
      </p:grpSpPr>
      <p:sp>
        <p:nvSpPr>
          <p:cNvPr id="198" name="Google Shape;198;p23">
            <a:extLst>
              <a:ext uri="{FF2B5EF4-FFF2-40B4-BE49-F238E27FC236}">
                <a16:creationId xmlns:a16="http://schemas.microsoft.com/office/drawing/2014/main" id="{C0D32CB8-F54B-5860-91CF-8EFE4767028B}"/>
              </a:ext>
            </a:extLst>
          </p:cNvPr>
          <p:cNvSpPr/>
          <p:nvPr/>
        </p:nvSpPr>
        <p:spPr>
          <a:xfrm>
            <a:off x="148114" y="1633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99" name="Google Shape;199;p23">
            <a:extLst>
              <a:ext uri="{FF2B5EF4-FFF2-40B4-BE49-F238E27FC236}">
                <a16:creationId xmlns:a16="http://schemas.microsoft.com/office/drawing/2014/main" id="{4FC3D720-9C97-57E2-7D6A-E1E70780E3F5}"/>
              </a:ext>
            </a:extLst>
          </p:cNvPr>
          <p:cNvSpPr txBox="1"/>
          <p:nvPr/>
        </p:nvSpPr>
        <p:spPr>
          <a:xfrm>
            <a:off x="1332071" y="1424464"/>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0" name="Google Shape;200;p23">
            <a:extLst>
              <a:ext uri="{FF2B5EF4-FFF2-40B4-BE49-F238E27FC236}">
                <a16:creationId xmlns:a16="http://schemas.microsoft.com/office/drawing/2014/main" id="{EEDC4889-AFF4-02FC-21E4-48FCF8656476}"/>
              </a:ext>
            </a:extLst>
          </p:cNvPr>
          <p:cNvSpPr txBox="1"/>
          <p:nvPr/>
        </p:nvSpPr>
        <p:spPr>
          <a:xfrm>
            <a:off x="1332288" y="1991460"/>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1" name="Google Shape;201;p23">
            <a:extLst>
              <a:ext uri="{FF2B5EF4-FFF2-40B4-BE49-F238E27FC236}">
                <a16:creationId xmlns:a16="http://schemas.microsoft.com/office/drawing/2014/main" id="{D65313C5-86A4-6525-BE21-43DF6E0F81FA}"/>
              </a:ext>
            </a:extLst>
          </p:cNvPr>
          <p:cNvSpPr txBox="1"/>
          <p:nvPr/>
        </p:nvSpPr>
        <p:spPr>
          <a:xfrm>
            <a:off x="1332071" y="2229956"/>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2" name="Google Shape;202;p23">
            <a:extLst>
              <a:ext uri="{FF2B5EF4-FFF2-40B4-BE49-F238E27FC236}">
                <a16:creationId xmlns:a16="http://schemas.microsoft.com/office/drawing/2014/main" id="{A093E117-9D8B-0CF9-976C-D9C91A54EA4E}"/>
              </a:ext>
            </a:extLst>
          </p:cNvPr>
          <p:cNvSpPr txBox="1"/>
          <p:nvPr/>
        </p:nvSpPr>
        <p:spPr>
          <a:xfrm>
            <a:off x="1332288" y="2788703"/>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3" name="Google Shape;203;p23">
            <a:extLst>
              <a:ext uri="{FF2B5EF4-FFF2-40B4-BE49-F238E27FC236}">
                <a16:creationId xmlns:a16="http://schemas.microsoft.com/office/drawing/2014/main" id="{3539D85C-A743-1784-CC90-1F95EA9E7294}"/>
              </a:ext>
            </a:extLst>
          </p:cNvPr>
          <p:cNvSpPr txBox="1"/>
          <p:nvPr/>
        </p:nvSpPr>
        <p:spPr>
          <a:xfrm>
            <a:off x="1257521" y="2985824"/>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4" name="Google Shape;204;p23">
            <a:extLst>
              <a:ext uri="{FF2B5EF4-FFF2-40B4-BE49-F238E27FC236}">
                <a16:creationId xmlns:a16="http://schemas.microsoft.com/office/drawing/2014/main" id="{F4984C97-BD0F-EF87-0B43-A13672FE22E4}"/>
              </a:ext>
            </a:extLst>
          </p:cNvPr>
          <p:cNvSpPr txBox="1"/>
          <p:nvPr/>
        </p:nvSpPr>
        <p:spPr>
          <a:xfrm>
            <a:off x="1332288" y="3651191"/>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05" name="Google Shape;205;p23">
            <a:extLst>
              <a:ext uri="{FF2B5EF4-FFF2-40B4-BE49-F238E27FC236}">
                <a16:creationId xmlns:a16="http://schemas.microsoft.com/office/drawing/2014/main" id="{07A4C5E2-1ACC-13DE-795B-57C6DB337ADF}"/>
              </a:ext>
            </a:extLst>
          </p:cNvPr>
          <p:cNvSpPr txBox="1"/>
          <p:nvPr/>
        </p:nvSpPr>
        <p:spPr>
          <a:xfrm>
            <a:off x="1431446" y="2812163"/>
            <a:ext cx="34581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800" b="1">
              <a:solidFill>
                <a:srgbClr val="3F3F3F"/>
              </a:solidFill>
              <a:latin typeface="Microsoft Yahei"/>
              <a:ea typeface="Microsoft Yahei"/>
              <a:cs typeface="Microsoft Yahei"/>
              <a:sym typeface="Microsoft Yahei"/>
            </a:endParaRPr>
          </a:p>
        </p:txBody>
      </p:sp>
      <p:sp>
        <p:nvSpPr>
          <p:cNvPr id="206" name="Google Shape;206;p23">
            <a:extLst>
              <a:ext uri="{FF2B5EF4-FFF2-40B4-BE49-F238E27FC236}">
                <a16:creationId xmlns:a16="http://schemas.microsoft.com/office/drawing/2014/main" id="{7BC7122C-04A9-EDB0-52A4-D74DCC0023D9}"/>
              </a:ext>
            </a:extLst>
          </p:cNvPr>
          <p:cNvSpPr txBox="1"/>
          <p:nvPr/>
        </p:nvSpPr>
        <p:spPr>
          <a:xfrm>
            <a:off x="509225" y="286250"/>
            <a:ext cx="8171700" cy="43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t>Visualization</a:t>
            </a:r>
            <a:endParaRPr sz="2200" b="1" dirty="0"/>
          </a:p>
        </p:txBody>
      </p:sp>
      <p:sp>
        <p:nvSpPr>
          <p:cNvPr id="207" name="Google Shape;207;p23">
            <a:extLst>
              <a:ext uri="{FF2B5EF4-FFF2-40B4-BE49-F238E27FC236}">
                <a16:creationId xmlns:a16="http://schemas.microsoft.com/office/drawing/2014/main" id="{4BCE463F-BC47-8158-F031-06A1F6664BE1}"/>
              </a:ext>
            </a:extLst>
          </p:cNvPr>
          <p:cNvSpPr txBox="1"/>
          <p:nvPr/>
        </p:nvSpPr>
        <p:spPr>
          <a:xfrm>
            <a:off x="518275" y="919025"/>
            <a:ext cx="8244000" cy="3995400"/>
          </a:xfrm>
          <a:prstGeom prst="rect">
            <a:avLst/>
          </a:prstGeom>
          <a:noFill/>
          <a:ln>
            <a:noFill/>
          </a:ln>
        </p:spPr>
        <p:txBody>
          <a:bodyPr spcFirstLastPara="1" wrap="square" lIns="91425" tIns="91425" rIns="91425" bIns="91425" anchor="t" anchorCtr="0">
            <a:noAutofit/>
          </a:bodyPr>
          <a:lstStyle/>
          <a:p>
            <a:pPr marL="0" lvl="0" indent="0" algn="l" rtl="0">
              <a:spcBef>
                <a:spcPts val="1200"/>
              </a:spcBef>
              <a:spcAft>
                <a:spcPts val="0"/>
              </a:spcAft>
              <a:buNone/>
            </a:pPr>
            <a:endParaRPr sz="1600" dirty="0">
              <a:solidFill>
                <a:schemeClr val="dk1"/>
              </a:solidFill>
            </a:endParaRPr>
          </a:p>
        </p:txBody>
      </p:sp>
      <p:pic>
        <p:nvPicPr>
          <p:cNvPr id="4" name="图片 3">
            <a:extLst>
              <a:ext uri="{FF2B5EF4-FFF2-40B4-BE49-F238E27FC236}">
                <a16:creationId xmlns:a16="http://schemas.microsoft.com/office/drawing/2014/main" id="{7E3B474C-13EA-43BD-E8A3-AE7D38465348}"/>
              </a:ext>
            </a:extLst>
          </p:cNvPr>
          <p:cNvPicPr>
            <a:picLocks noChangeAspect="1"/>
          </p:cNvPicPr>
          <p:nvPr/>
        </p:nvPicPr>
        <p:blipFill>
          <a:blip r:embed="rId3"/>
          <a:stretch>
            <a:fillRect/>
          </a:stretch>
        </p:blipFill>
        <p:spPr>
          <a:xfrm>
            <a:off x="381725" y="1424464"/>
            <a:ext cx="5062512" cy="2531256"/>
          </a:xfrm>
          <a:prstGeom prst="rect">
            <a:avLst/>
          </a:prstGeom>
        </p:spPr>
      </p:pic>
      <p:sp>
        <p:nvSpPr>
          <p:cNvPr id="6" name="文本框 5">
            <a:extLst>
              <a:ext uri="{FF2B5EF4-FFF2-40B4-BE49-F238E27FC236}">
                <a16:creationId xmlns:a16="http://schemas.microsoft.com/office/drawing/2014/main" id="{D2D23BC5-37AE-DB03-ED43-1D5FBEEB4426}"/>
              </a:ext>
            </a:extLst>
          </p:cNvPr>
          <p:cNvSpPr txBox="1"/>
          <p:nvPr/>
        </p:nvSpPr>
        <p:spPr>
          <a:xfrm>
            <a:off x="5758107" y="1050254"/>
            <a:ext cx="2922818" cy="3607206"/>
          </a:xfrm>
          <a:prstGeom prst="rect">
            <a:avLst/>
          </a:prstGeom>
          <a:noFill/>
        </p:spPr>
        <p:txBody>
          <a:bodyPr wrap="square" rtlCol="0">
            <a:spAutoFit/>
          </a:bodyPr>
          <a:lstStyle/>
          <a:p>
            <a:pPr>
              <a:lnSpc>
                <a:spcPct val="150000"/>
              </a:lnSpc>
            </a:pPr>
            <a:r>
              <a:rPr lang="en-US" dirty="0"/>
              <a:t>The bar plot displays the top 20 stocks sorted by average closing price over five years.</a:t>
            </a:r>
          </a:p>
          <a:p>
            <a:pPr>
              <a:lnSpc>
                <a:spcPct val="150000"/>
              </a:lnSpc>
            </a:pPr>
            <a:r>
              <a:rPr lang="en-US" dirty="0"/>
              <a:t>Leaders : PCLN stands out with an average price over $1300.GOOG, GOOGL, and AMZN follow closely.</a:t>
            </a:r>
          </a:p>
          <a:p>
            <a:pPr>
              <a:lnSpc>
                <a:spcPct val="150000"/>
              </a:lnSpc>
            </a:pPr>
            <a:r>
              <a:rPr lang="en-US" dirty="0"/>
              <a:t>Indicates price scale varies greatly between companies; model may need stock-specific normalization or industry indicators.</a:t>
            </a:r>
          </a:p>
        </p:txBody>
      </p:sp>
    </p:spTree>
    <p:extLst>
      <p:ext uri="{BB962C8B-B14F-4D97-AF65-F5344CB8AC3E}">
        <p14:creationId xmlns:p14="http://schemas.microsoft.com/office/powerpoint/2010/main" val="102283674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500"/>
                                        <p:tgtEl>
                                          <p:spTgt spid="199"/>
                                        </p:tgtEl>
                                      </p:cBhvr>
                                    </p:animEffect>
                                  </p:childTnLst>
                                </p:cTn>
                              </p:par>
                              <p:par>
                                <p:cTn id="8" presetID="10" presetClass="entr" presetSubtype="0" fill="hold" nodeType="withEffect">
                                  <p:stCondLst>
                                    <p:cond delay="0"/>
                                  </p:stCondLst>
                                  <p:childTnLst>
                                    <p:set>
                                      <p:cBhvr>
                                        <p:cTn id="9" dur="1" fill="hold">
                                          <p:stCondLst>
                                            <p:cond delay="0"/>
                                          </p:stCondLst>
                                        </p:cTn>
                                        <p:tgtEl>
                                          <p:spTgt spid="200"/>
                                        </p:tgtEl>
                                        <p:attrNameLst>
                                          <p:attrName>style.visibility</p:attrName>
                                        </p:attrNameLst>
                                      </p:cBhvr>
                                      <p:to>
                                        <p:strVal val="visible"/>
                                      </p:to>
                                    </p:set>
                                    <p:animEffect transition="in" filter="fade">
                                      <p:cBhvr>
                                        <p:cTn id="10" dur="500"/>
                                        <p:tgtEl>
                                          <p:spTgt spid="200"/>
                                        </p:tgtEl>
                                      </p:cBhvr>
                                    </p:animEffect>
                                  </p:childTnLst>
                                </p:cTn>
                              </p:par>
                              <p:par>
                                <p:cTn id="11" presetID="10" presetClass="entr" presetSubtype="0" fill="hold" nodeType="withEffect">
                                  <p:stCondLst>
                                    <p:cond delay="0"/>
                                  </p:stCondLst>
                                  <p:childTnLst>
                                    <p:set>
                                      <p:cBhvr>
                                        <p:cTn id="12" dur="1" fill="hold">
                                          <p:stCondLst>
                                            <p:cond delay="0"/>
                                          </p:stCondLst>
                                        </p:cTn>
                                        <p:tgtEl>
                                          <p:spTgt spid="201"/>
                                        </p:tgtEl>
                                        <p:attrNameLst>
                                          <p:attrName>style.visibility</p:attrName>
                                        </p:attrNameLst>
                                      </p:cBhvr>
                                      <p:to>
                                        <p:strVal val="visible"/>
                                      </p:to>
                                    </p:set>
                                    <p:animEffect transition="in" filter="fade">
                                      <p:cBhvr>
                                        <p:cTn id="13" dur="500"/>
                                        <p:tgtEl>
                                          <p:spTgt spid="201"/>
                                        </p:tgtEl>
                                      </p:cBhvr>
                                    </p:animEffect>
                                  </p:childTnLst>
                                </p:cTn>
                              </p:par>
                              <p:par>
                                <p:cTn id="14" presetID="10" presetClass="entr" presetSubtype="0" fill="hold" nodeType="withEffect">
                                  <p:stCondLst>
                                    <p:cond delay="0"/>
                                  </p:stCondLst>
                                  <p:childTnLst>
                                    <p:set>
                                      <p:cBhvr>
                                        <p:cTn id="15" dur="1" fill="hold">
                                          <p:stCondLst>
                                            <p:cond delay="0"/>
                                          </p:stCondLst>
                                        </p:cTn>
                                        <p:tgtEl>
                                          <p:spTgt spid="202"/>
                                        </p:tgtEl>
                                        <p:attrNameLst>
                                          <p:attrName>style.visibility</p:attrName>
                                        </p:attrNameLst>
                                      </p:cBhvr>
                                      <p:to>
                                        <p:strVal val="visible"/>
                                      </p:to>
                                    </p:set>
                                    <p:animEffect transition="in" filter="fade">
                                      <p:cBhvr>
                                        <p:cTn id="16" dur="500"/>
                                        <p:tgtEl>
                                          <p:spTgt spid="202"/>
                                        </p:tgtEl>
                                      </p:cBhvr>
                                    </p:animEffect>
                                  </p:childTnLst>
                                </p:cTn>
                              </p:par>
                              <p:par>
                                <p:cTn id="17" presetID="10" presetClass="entr" presetSubtype="0" fill="hold" nodeType="withEffect">
                                  <p:stCondLst>
                                    <p:cond delay="0"/>
                                  </p:stCondLst>
                                  <p:childTnLst>
                                    <p:set>
                                      <p:cBhvr>
                                        <p:cTn id="18" dur="1" fill="hold">
                                          <p:stCondLst>
                                            <p:cond delay="0"/>
                                          </p:stCondLst>
                                        </p:cTn>
                                        <p:tgtEl>
                                          <p:spTgt spid="203"/>
                                        </p:tgtEl>
                                        <p:attrNameLst>
                                          <p:attrName>style.visibility</p:attrName>
                                        </p:attrNameLst>
                                      </p:cBhvr>
                                      <p:to>
                                        <p:strVal val="visible"/>
                                      </p:to>
                                    </p:set>
                                    <p:animEffect transition="in" filter="fade">
                                      <p:cBhvr>
                                        <p:cTn id="19" dur="500"/>
                                        <p:tgtEl>
                                          <p:spTgt spid="203"/>
                                        </p:tgtEl>
                                      </p:cBhvr>
                                    </p:animEffect>
                                  </p:childTnLst>
                                </p:cTn>
                              </p:par>
                              <p:par>
                                <p:cTn id="20" presetID="10" presetClass="entr" presetSubtype="0" fill="hold" nodeType="withEffect">
                                  <p:stCondLst>
                                    <p:cond delay="0"/>
                                  </p:stCondLst>
                                  <p:childTnLst>
                                    <p:set>
                                      <p:cBhvr>
                                        <p:cTn id="21" dur="1" fill="hold">
                                          <p:stCondLst>
                                            <p:cond delay="0"/>
                                          </p:stCondLst>
                                        </p:cTn>
                                        <p:tgtEl>
                                          <p:spTgt spid="204"/>
                                        </p:tgtEl>
                                        <p:attrNameLst>
                                          <p:attrName>style.visibility</p:attrName>
                                        </p:attrNameLst>
                                      </p:cBhvr>
                                      <p:to>
                                        <p:strVal val="visible"/>
                                      </p:to>
                                    </p:set>
                                    <p:animEffect transition="in" filter="fade">
                                      <p:cBhvr>
                                        <p:cTn id="22" dur="500"/>
                                        <p:tgtEl>
                                          <p:spTgt spid="204"/>
                                        </p:tgtEl>
                                      </p:cBhvr>
                                    </p:animEffect>
                                  </p:childTnLst>
                                </p:cTn>
                              </p:par>
                              <p:par>
                                <p:cTn id="23" presetID="10" presetClass="entr" presetSubtype="0" fill="hold" nodeType="withEffect">
                                  <p:stCondLst>
                                    <p:cond delay="0"/>
                                  </p:stCondLst>
                                  <p:childTnLst>
                                    <p:set>
                                      <p:cBhvr>
                                        <p:cTn id="24" dur="1" fill="hold">
                                          <p:stCondLst>
                                            <p:cond delay="0"/>
                                          </p:stCondLst>
                                        </p:cTn>
                                        <p:tgtEl>
                                          <p:spTgt spid="205"/>
                                        </p:tgtEl>
                                        <p:attrNameLst>
                                          <p:attrName>style.visibility</p:attrName>
                                        </p:attrNameLst>
                                      </p:cBhvr>
                                      <p:to>
                                        <p:strVal val="visible"/>
                                      </p:to>
                                    </p:set>
                                    <p:animEffect transition="in" filter="fade">
                                      <p:cBhvr>
                                        <p:cTn id="25" dur="5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6"/>
          <p:cNvSpPr/>
          <p:nvPr/>
        </p:nvSpPr>
        <p:spPr>
          <a:xfrm>
            <a:off x="573881" y="301466"/>
            <a:ext cx="7996238" cy="4102418"/>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46" name="Google Shape;246;p26"/>
          <p:cNvSpPr/>
          <p:nvPr/>
        </p:nvSpPr>
        <p:spPr>
          <a:xfrm>
            <a:off x="573881" y="301466"/>
            <a:ext cx="2377440" cy="4101941"/>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nvGrpSpPr>
          <p:cNvPr id="247" name="Google Shape;247;p26"/>
          <p:cNvGrpSpPr/>
          <p:nvPr/>
        </p:nvGrpSpPr>
        <p:grpSpPr>
          <a:xfrm>
            <a:off x="7416641" y="3250406"/>
            <a:ext cx="1153478" cy="1153478"/>
            <a:chOff x="15573" y="6825"/>
            <a:chExt cx="2422" cy="2422"/>
          </a:xfrm>
        </p:grpSpPr>
        <p:sp>
          <p:nvSpPr>
            <p:cNvPr id="248" name="Google Shape;248;p26"/>
            <p:cNvSpPr/>
            <p:nvPr/>
          </p:nvSpPr>
          <p:spPr>
            <a:xfrm flipH="1">
              <a:off x="15573" y="6825"/>
              <a:ext cx="2422" cy="2422"/>
            </a:xfrm>
            <a:prstGeom prst="rtTriangle">
              <a:avLst/>
            </a:prstGeom>
            <a:solidFill>
              <a:srgbClr val="3F3F3F">
                <a:alpha val="49803"/>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49" name="Google Shape;249;p26"/>
            <p:cNvSpPr/>
            <p:nvPr/>
          </p:nvSpPr>
          <p:spPr>
            <a:xfrm flipH="1">
              <a:off x="16017" y="7268"/>
              <a:ext cx="1978" cy="1978"/>
            </a:xfrm>
            <a:prstGeom prst="rtTriangl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50" name="Google Shape;250;p26"/>
            <p:cNvSpPr/>
            <p:nvPr/>
          </p:nvSpPr>
          <p:spPr>
            <a:xfrm flipH="1">
              <a:off x="16439" y="7690"/>
              <a:ext cx="1556" cy="1556"/>
            </a:xfrm>
            <a:prstGeom prst="rtTriangle">
              <a:avLst/>
            </a:prstGeom>
            <a:solidFill>
              <a:srgbClr val="3F3F3F">
                <a:alpha val="80000"/>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cxnSp>
        <p:nvCxnSpPr>
          <p:cNvPr id="251" name="Google Shape;251;p26"/>
          <p:cNvCxnSpPr/>
          <p:nvPr/>
        </p:nvCxnSpPr>
        <p:spPr>
          <a:xfrm>
            <a:off x="1474946" y="3101816"/>
            <a:ext cx="1250633" cy="0"/>
          </a:xfrm>
          <a:prstGeom prst="straightConnector1">
            <a:avLst/>
          </a:prstGeom>
          <a:noFill/>
          <a:ln w="19050" cap="flat" cmpd="sng">
            <a:solidFill>
              <a:schemeClr val="lt1"/>
            </a:solidFill>
            <a:prstDash val="solid"/>
            <a:miter lim="800000"/>
            <a:headEnd type="none" w="sm" len="sm"/>
            <a:tailEnd type="none" w="sm" len="sm"/>
          </a:ln>
        </p:spPr>
      </p:cxnSp>
      <p:sp>
        <p:nvSpPr>
          <p:cNvPr id="252" name="Google Shape;252;p26"/>
          <p:cNvSpPr txBox="1"/>
          <p:nvPr/>
        </p:nvSpPr>
        <p:spPr>
          <a:xfrm>
            <a:off x="1438751" y="1958340"/>
            <a:ext cx="1415891" cy="1222534"/>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500" b="1">
                <a:solidFill>
                  <a:schemeClr val="lt1"/>
                </a:solidFill>
                <a:latin typeface="Arial"/>
                <a:ea typeface="Arial"/>
                <a:cs typeface="Arial"/>
                <a:sym typeface="Arial"/>
              </a:rPr>
              <a:t>03</a:t>
            </a:r>
            <a:endParaRPr sz="7500" b="1">
              <a:solidFill>
                <a:schemeClr val="lt1"/>
              </a:solidFill>
              <a:latin typeface="Arial"/>
              <a:ea typeface="Arial"/>
              <a:cs typeface="Arial"/>
              <a:sym typeface="Arial"/>
            </a:endParaRPr>
          </a:p>
        </p:txBody>
      </p:sp>
      <p:sp>
        <p:nvSpPr>
          <p:cNvPr id="253" name="Google Shape;253;p26"/>
          <p:cNvSpPr txBox="1"/>
          <p:nvPr/>
        </p:nvSpPr>
        <p:spPr>
          <a:xfrm>
            <a:off x="1370647" y="1729740"/>
            <a:ext cx="1437322" cy="299085"/>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None/>
            </a:pPr>
            <a:r>
              <a:rPr lang="en" sz="1500" b="1">
                <a:solidFill>
                  <a:schemeClr val="lt1"/>
                </a:solidFill>
                <a:latin typeface="Microsoft Yahei"/>
                <a:ea typeface="Microsoft Yahei"/>
                <a:cs typeface="Microsoft Yahei"/>
                <a:sym typeface="Microsoft Yahei"/>
              </a:rPr>
              <a:t>PART THREE</a:t>
            </a:r>
            <a:endParaRPr sz="1500" b="1">
              <a:solidFill>
                <a:schemeClr val="lt1"/>
              </a:solidFill>
              <a:latin typeface="Microsoft Yahei"/>
              <a:ea typeface="Microsoft Yahei"/>
              <a:cs typeface="Microsoft Yahei"/>
              <a:sym typeface="Microsoft Yahei"/>
            </a:endParaRPr>
          </a:p>
        </p:txBody>
      </p:sp>
      <p:sp>
        <p:nvSpPr>
          <p:cNvPr id="254" name="Google Shape;254;p26"/>
          <p:cNvSpPr/>
          <p:nvPr/>
        </p:nvSpPr>
        <p:spPr>
          <a:xfrm>
            <a:off x="3482816" y="1978819"/>
            <a:ext cx="558165" cy="89535"/>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55" name="Google Shape;255;p26"/>
          <p:cNvSpPr txBox="1"/>
          <p:nvPr/>
        </p:nvSpPr>
        <p:spPr>
          <a:xfrm>
            <a:off x="3417112" y="2272667"/>
            <a:ext cx="4211100" cy="346218"/>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r>
              <a:rPr lang="en" sz="1800" b="1" dirty="0">
                <a:solidFill>
                  <a:srgbClr val="3F3F3F"/>
                </a:solidFill>
                <a:latin typeface="Microsoft Yahei"/>
                <a:ea typeface="Microsoft Yahei"/>
                <a:cs typeface="Microsoft Yahei"/>
                <a:sym typeface="Microsoft Yahei"/>
              </a:rPr>
              <a:t>Feature Selection &amp; Model Choice</a:t>
            </a:r>
            <a:endParaRPr sz="1800" b="1" dirty="0">
              <a:solidFill>
                <a:srgbClr val="3F3F3F"/>
              </a:solidFill>
              <a:latin typeface="Microsoft Yahei"/>
              <a:ea typeface="Microsoft Yahei"/>
              <a:cs typeface="Microsoft Yahei"/>
              <a:sym typeface="Microsoft Yahei"/>
            </a:endParaRPr>
          </a:p>
        </p:txBody>
      </p:sp>
      <p:sp>
        <p:nvSpPr>
          <p:cNvPr id="256" name="Google Shape;256;p26"/>
          <p:cNvSpPr txBox="1"/>
          <p:nvPr/>
        </p:nvSpPr>
        <p:spPr>
          <a:xfrm>
            <a:off x="3417112" y="2571750"/>
            <a:ext cx="42111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900">
              <a:solidFill>
                <a:srgbClr val="3F3F3F"/>
              </a:solidFill>
              <a:latin typeface="Arial"/>
              <a:ea typeface="Arial"/>
              <a:cs typeface="Arial"/>
              <a:sym typeface="Arial"/>
            </a:endParaRPr>
          </a:p>
        </p:txBody>
      </p:sp>
      <p:grpSp>
        <p:nvGrpSpPr>
          <p:cNvPr id="257" name="Google Shape;257;p26"/>
          <p:cNvGrpSpPr/>
          <p:nvPr/>
        </p:nvGrpSpPr>
        <p:grpSpPr>
          <a:xfrm>
            <a:off x="7823835" y="458629"/>
            <a:ext cx="565785" cy="155257"/>
            <a:chOff x="16428" y="963"/>
            <a:chExt cx="1188" cy="326"/>
          </a:xfrm>
        </p:grpSpPr>
        <p:grpSp>
          <p:nvGrpSpPr>
            <p:cNvPr id="258" name="Google Shape;258;p26"/>
            <p:cNvGrpSpPr/>
            <p:nvPr/>
          </p:nvGrpSpPr>
          <p:grpSpPr>
            <a:xfrm>
              <a:off x="16859" y="963"/>
              <a:ext cx="757" cy="326"/>
              <a:chOff x="16859" y="963"/>
              <a:chExt cx="757" cy="326"/>
            </a:xfrm>
          </p:grpSpPr>
          <p:sp>
            <p:nvSpPr>
              <p:cNvPr id="259" name="Google Shape;259;p26"/>
              <p:cNvSpPr/>
              <p:nvPr/>
            </p:nvSpPr>
            <p:spPr>
              <a:xfrm>
                <a:off x="17290" y="963"/>
                <a:ext cx="326" cy="326"/>
              </a:xfrm>
              <a:prstGeom prst="ellipse">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60" name="Google Shape;260;p26"/>
              <p:cNvSpPr/>
              <p:nvPr/>
            </p:nvSpPr>
            <p:spPr>
              <a:xfrm>
                <a:off x="16859" y="963"/>
                <a:ext cx="326" cy="326"/>
              </a:xfrm>
              <a:prstGeom prst="ellipse">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sp>
          <p:nvSpPr>
            <p:cNvPr id="261" name="Google Shape;261;p26"/>
            <p:cNvSpPr/>
            <p:nvPr/>
          </p:nvSpPr>
          <p:spPr>
            <a:xfrm>
              <a:off x="16428" y="963"/>
              <a:ext cx="326" cy="326"/>
            </a:xfrm>
            <a:prstGeom prst="ellipse">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500"/>
                                        <p:tgtEl>
                                          <p:spTgt spid="24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46"/>
                                        </p:tgtEl>
                                        <p:attrNameLst>
                                          <p:attrName>style.visibility</p:attrName>
                                        </p:attrNameLst>
                                      </p:cBhvr>
                                      <p:to>
                                        <p:strVal val="visible"/>
                                      </p:to>
                                    </p:set>
                                    <p:animEffect transition="in" filter="fade">
                                      <p:cBhvr>
                                        <p:cTn id="11" dur="500"/>
                                        <p:tgtEl>
                                          <p:spTgt spid="246"/>
                                        </p:tgtEl>
                                      </p:cBhvr>
                                    </p:animEffect>
                                  </p:childTnLst>
                                </p:cTn>
                              </p:par>
                              <p:par>
                                <p:cTn id="12" presetID="10" presetClass="entr" presetSubtype="0" fill="hold" nodeType="withEffect">
                                  <p:stCondLst>
                                    <p:cond delay="0"/>
                                  </p:stCondLst>
                                  <p:childTnLst>
                                    <p:set>
                                      <p:cBhvr>
                                        <p:cTn id="13" dur="1" fill="hold">
                                          <p:stCondLst>
                                            <p:cond delay="0"/>
                                          </p:stCondLst>
                                        </p:cTn>
                                        <p:tgtEl>
                                          <p:spTgt spid="247"/>
                                        </p:tgtEl>
                                        <p:attrNameLst>
                                          <p:attrName>style.visibility</p:attrName>
                                        </p:attrNameLst>
                                      </p:cBhvr>
                                      <p:to>
                                        <p:strVal val="visible"/>
                                      </p:to>
                                    </p:set>
                                    <p:animEffect transition="in" filter="fade">
                                      <p:cBhvr>
                                        <p:cTn id="14" dur="500"/>
                                        <p:tgtEl>
                                          <p:spTgt spid="247"/>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53"/>
                                        </p:tgtEl>
                                        <p:attrNameLst>
                                          <p:attrName>style.visibility</p:attrName>
                                        </p:attrNameLst>
                                      </p:cBhvr>
                                      <p:to>
                                        <p:strVal val="visible"/>
                                      </p:to>
                                    </p:set>
                                    <p:animEffect transition="in" filter="fade">
                                      <p:cBhvr>
                                        <p:cTn id="18" dur="500"/>
                                        <p:tgtEl>
                                          <p:spTgt spid="253"/>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252"/>
                                        </p:tgtEl>
                                        <p:attrNameLst>
                                          <p:attrName>style.visibility</p:attrName>
                                        </p:attrNameLst>
                                      </p:cBhvr>
                                      <p:to>
                                        <p:strVal val="visible"/>
                                      </p:to>
                                    </p:set>
                                    <p:animEffect transition="in" filter="fade">
                                      <p:cBhvr>
                                        <p:cTn id="22" dur="500"/>
                                        <p:tgtEl>
                                          <p:spTgt spid="252"/>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251"/>
                                        </p:tgtEl>
                                        <p:attrNameLst>
                                          <p:attrName>style.visibility</p:attrName>
                                        </p:attrNameLst>
                                      </p:cBhvr>
                                      <p:to>
                                        <p:strVal val="visible"/>
                                      </p:to>
                                    </p:set>
                                    <p:animEffect transition="in" filter="fade">
                                      <p:cBhvr>
                                        <p:cTn id="26" dur="500"/>
                                        <p:tgtEl>
                                          <p:spTgt spid="251"/>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254"/>
                                        </p:tgtEl>
                                        <p:attrNameLst>
                                          <p:attrName>style.visibility</p:attrName>
                                        </p:attrNameLst>
                                      </p:cBhvr>
                                      <p:to>
                                        <p:strVal val="visible"/>
                                      </p:to>
                                    </p:set>
                                    <p:animEffect transition="in" filter="fade">
                                      <p:cBhvr>
                                        <p:cTn id="30" dur="500"/>
                                        <p:tgtEl>
                                          <p:spTgt spid="254"/>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255"/>
                                        </p:tgtEl>
                                        <p:attrNameLst>
                                          <p:attrName>style.visibility</p:attrName>
                                        </p:attrNameLst>
                                      </p:cBhvr>
                                      <p:to>
                                        <p:strVal val="visible"/>
                                      </p:to>
                                    </p:set>
                                    <p:animEffect transition="in" filter="fade">
                                      <p:cBhvr>
                                        <p:cTn id="34" dur="500"/>
                                        <p:tgtEl>
                                          <p:spTgt spid="255"/>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256"/>
                                        </p:tgtEl>
                                        <p:attrNameLst>
                                          <p:attrName>style.visibility</p:attrName>
                                        </p:attrNameLst>
                                      </p:cBhvr>
                                      <p:to>
                                        <p:strVal val="visible"/>
                                      </p:to>
                                    </p:set>
                                    <p:animEffect transition="in" filter="fade">
                                      <p:cBhvr>
                                        <p:cTn id="38" dur="500"/>
                                        <p:tgtEl>
                                          <p:spTgt spid="256"/>
                                        </p:tgtEl>
                                      </p:cBhvr>
                                    </p:animEffect>
                                  </p:childTnLst>
                                </p:cTn>
                              </p:par>
                            </p:childTnLst>
                          </p:cTn>
                        </p:par>
                        <p:par>
                          <p:cTn id="39" fill="hold">
                            <p:stCondLst>
                              <p:cond delay="4000"/>
                            </p:stCondLst>
                            <p:childTnLst>
                              <p:par>
                                <p:cTn id="40" presetID="2" presetClass="entr" presetSubtype="2" fill="hold" nodeType="afterEffect">
                                  <p:stCondLst>
                                    <p:cond delay="0"/>
                                  </p:stCondLst>
                                  <p:childTnLst>
                                    <p:set>
                                      <p:cBhvr>
                                        <p:cTn id="41" dur="1" fill="hold">
                                          <p:stCondLst>
                                            <p:cond delay="0"/>
                                          </p:stCondLst>
                                        </p:cTn>
                                        <p:tgtEl>
                                          <p:spTgt spid="257"/>
                                        </p:tgtEl>
                                        <p:attrNameLst>
                                          <p:attrName>style.visibility</p:attrName>
                                        </p:attrNameLst>
                                      </p:cBhvr>
                                      <p:to>
                                        <p:strVal val="visible"/>
                                      </p:to>
                                    </p:set>
                                    <p:anim calcmode="lin" valueType="num">
                                      <p:cBhvr additive="base">
                                        <p:cTn id="42" dur="500"/>
                                        <p:tgtEl>
                                          <p:spTgt spid="257"/>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296"/>
        <p:cNvGrpSpPr/>
        <p:nvPr/>
      </p:nvGrpSpPr>
      <p:grpSpPr>
        <a:xfrm>
          <a:off x="0" y="0"/>
          <a:ext cx="0" cy="0"/>
          <a:chOff x="0" y="0"/>
          <a:chExt cx="0" cy="0"/>
        </a:xfrm>
      </p:grpSpPr>
      <p:sp>
        <p:nvSpPr>
          <p:cNvPr id="297" name="Google Shape;297;p29"/>
          <p:cNvSpPr/>
          <p:nvPr/>
        </p:nvSpPr>
        <p:spPr>
          <a:xfrm>
            <a:off x="148114" y="1633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98" name="Google Shape;298;p29"/>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299" name="Google Shape;299;p29"/>
          <p:cNvSpPr/>
          <p:nvPr/>
        </p:nvSpPr>
        <p:spPr>
          <a:xfrm>
            <a:off x="3644997"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0" name="Google Shape;300;p29"/>
          <p:cNvSpPr/>
          <p:nvPr/>
        </p:nvSpPr>
        <p:spPr>
          <a:xfrm>
            <a:off x="4675995"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1" name="Google Shape;301;p29"/>
          <p:cNvSpPr/>
          <p:nvPr/>
        </p:nvSpPr>
        <p:spPr>
          <a:xfrm>
            <a:off x="5697394"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2" name="Google Shape;302;p29"/>
          <p:cNvSpPr txBox="1"/>
          <p:nvPr/>
        </p:nvSpPr>
        <p:spPr>
          <a:xfrm>
            <a:off x="758807"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3" name="Google Shape;303;p29"/>
          <p:cNvSpPr txBox="1"/>
          <p:nvPr/>
        </p:nvSpPr>
        <p:spPr>
          <a:xfrm>
            <a:off x="2752390"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4" name="Google Shape;304;p29"/>
          <p:cNvSpPr txBox="1"/>
          <p:nvPr/>
        </p:nvSpPr>
        <p:spPr>
          <a:xfrm>
            <a:off x="4843926"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5" name="Google Shape;305;p29"/>
          <p:cNvSpPr txBox="1"/>
          <p:nvPr/>
        </p:nvSpPr>
        <p:spPr>
          <a:xfrm>
            <a:off x="6745746"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Clr>
                <a:schemeClr val="lt1"/>
              </a:buClr>
              <a:buSzPts val="800"/>
              <a:buFont typeface="Arial"/>
              <a:buNone/>
            </a:pPr>
            <a:endParaRPr sz="800">
              <a:solidFill>
                <a:srgbClr val="3F3F3F"/>
              </a:solidFill>
              <a:latin typeface="Lora"/>
              <a:ea typeface="Lora"/>
              <a:cs typeface="Lora"/>
              <a:sym typeface="Lora"/>
            </a:endParaRPr>
          </a:p>
        </p:txBody>
      </p:sp>
      <p:sp>
        <p:nvSpPr>
          <p:cNvPr id="306" name="Google Shape;306;p29"/>
          <p:cNvSpPr txBox="1"/>
          <p:nvPr/>
        </p:nvSpPr>
        <p:spPr>
          <a:xfrm>
            <a:off x="210475" y="269425"/>
            <a:ext cx="4849800" cy="104410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900" b="1" dirty="0">
                <a:solidFill>
                  <a:schemeClr val="dk1"/>
                </a:solidFill>
              </a:rPr>
              <a:t>Feature Selection</a:t>
            </a:r>
            <a:endParaRPr sz="1900" b="1" dirty="0">
              <a:solidFill>
                <a:schemeClr val="dk1"/>
              </a:solidFill>
            </a:endParaRPr>
          </a:p>
          <a:p>
            <a:pPr marL="0" lvl="0" indent="0" algn="l" rtl="0">
              <a:spcBef>
                <a:spcPts val="1200"/>
              </a:spcBef>
              <a:spcAft>
                <a:spcPts val="0"/>
              </a:spcAft>
              <a:buNone/>
            </a:pPr>
            <a:endParaRPr dirty="0"/>
          </a:p>
        </p:txBody>
      </p:sp>
      <p:pic>
        <p:nvPicPr>
          <p:cNvPr id="3" name="图片 2">
            <a:extLst>
              <a:ext uri="{FF2B5EF4-FFF2-40B4-BE49-F238E27FC236}">
                <a16:creationId xmlns:a16="http://schemas.microsoft.com/office/drawing/2014/main" id="{F43D3C50-F303-C5D5-192D-82D09BAF369C}"/>
              </a:ext>
            </a:extLst>
          </p:cNvPr>
          <p:cNvPicPr>
            <a:picLocks noChangeAspect="1"/>
          </p:cNvPicPr>
          <p:nvPr/>
        </p:nvPicPr>
        <p:blipFill>
          <a:blip r:embed="rId3"/>
          <a:stretch>
            <a:fillRect/>
          </a:stretch>
        </p:blipFill>
        <p:spPr>
          <a:xfrm>
            <a:off x="563821" y="1092054"/>
            <a:ext cx="4377138" cy="3501711"/>
          </a:xfrm>
          <a:prstGeom prst="rect">
            <a:avLst/>
          </a:prstGeom>
        </p:spPr>
      </p:pic>
      <p:sp>
        <p:nvSpPr>
          <p:cNvPr id="4" name="文本框 3">
            <a:extLst>
              <a:ext uri="{FF2B5EF4-FFF2-40B4-BE49-F238E27FC236}">
                <a16:creationId xmlns:a16="http://schemas.microsoft.com/office/drawing/2014/main" id="{32F8A782-6536-CC2F-6CFF-520DAED4B34E}"/>
              </a:ext>
            </a:extLst>
          </p:cNvPr>
          <p:cNvSpPr txBox="1"/>
          <p:nvPr/>
        </p:nvSpPr>
        <p:spPr>
          <a:xfrm>
            <a:off x="5287845" y="1133856"/>
            <a:ext cx="3474720" cy="2314544"/>
          </a:xfrm>
          <a:prstGeom prst="rect">
            <a:avLst/>
          </a:prstGeom>
          <a:noFill/>
        </p:spPr>
        <p:txBody>
          <a:bodyPr wrap="square" rtlCol="0">
            <a:spAutoFit/>
          </a:bodyPr>
          <a:lstStyle/>
          <a:p>
            <a:pPr>
              <a:lnSpc>
                <a:spcPct val="150000"/>
              </a:lnSpc>
            </a:pPr>
            <a:r>
              <a:rPr lang="en-US" dirty="0"/>
              <a:t>The heatmap shows strong multicollinearity among price-related features : open, high, low, and close are perfectly correlated (correlation = 1).Including all four in the model would lead to redundant information and potential overfitting.</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additive="base">
                                        <p:cTn id="7" dur="500"/>
                                        <p:tgtEl>
                                          <p:spTgt spid="298"/>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02"/>
                                        </p:tgtEl>
                                        <p:attrNameLst>
                                          <p:attrName>style.visibility</p:attrName>
                                        </p:attrNameLst>
                                      </p:cBhvr>
                                      <p:to>
                                        <p:strVal val="visible"/>
                                      </p:to>
                                    </p:set>
                                    <p:animEffect transition="in" filter="fade">
                                      <p:cBhvr>
                                        <p:cTn id="11" dur="500"/>
                                        <p:tgtEl>
                                          <p:spTgt spid="302"/>
                                        </p:tgtEl>
                                      </p:cBhvr>
                                    </p:animEffect>
                                  </p:childTnLst>
                                </p:cTn>
                              </p:par>
                              <p:par>
                                <p:cTn id="12" presetID="23" presetClass="entr" presetSubtype="16" fill="hold" nodeType="withEffect">
                                  <p:stCondLst>
                                    <p:cond delay="0"/>
                                  </p:stCondLst>
                                  <p:childTnLst>
                                    <p:set>
                                      <p:cBhvr>
                                        <p:cTn id="13" dur="1" fill="hold">
                                          <p:stCondLst>
                                            <p:cond delay="0"/>
                                          </p:stCondLst>
                                        </p:cTn>
                                        <p:tgtEl>
                                          <p:spTgt spid="299"/>
                                        </p:tgtEl>
                                        <p:attrNameLst>
                                          <p:attrName>style.visibility</p:attrName>
                                        </p:attrNameLst>
                                      </p:cBhvr>
                                      <p:to>
                                        <p:strVal val="visible"/>
                                      </p:to>
                                    </p:set>
                                    <p:anim calcmode="lin" valueType="num">
                                      <p:cBhvr additive="base">
                                        <p:cTn id="14" dur="500"/>
                                        <p:tgtEl>
                                          <p:spTgt spid="299"/>
                                        </p:tgtEl>
                                        <p:attrNameLst>
                                          <p:attrName>ppt_w</p:attrName>
                                        </p:attrNameLst>
                                      </p:cBhvr>
                                      <p:tavLst>
                                        <p:tav tm="0">
                                          <p:val>
                                            <p:strVal val="0"/>
                                          </p:val>
                                        </p:tav>
                                        <p:tav tm="100000">
                                          <p:val>
                                            <p:strVal val="#ppt_w"/>
                                          </p:val>
                                        </p:tav>
                                      </p:tavLst>
                                    </p:anim>
                                    <p:anim calcmode="lin" valueType="num">
                                      <p:cBhvr additive="base">
                                        <p:cTn id="15" dur="500"/>
                                        <p:tgtEl>
                                          <p:spTgt spid="299"/>
                                        </p:tgtEl>
                                        <p:attrNameLst>
                                          <p:attrName>ppt_h</p:attrName>
                                        </p:attrNameLst>
                                      </p:cBhvr>
                                      <p:tavLst>
                                        <p:tav tm="0">
                                          <p:val>
                                            <p:strVal val="0"/>
                                          </p:val>
                                        </p:tav>
                                        <p:tav tm="100000">
                                          <p:val>
                                            <p:strVal val="#ppt_h"/>
                                          </p:val>
                                        </p:tav>
                                      </p:tavLst>
                                    </p:anim>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303"/>
                                        </p:tgtEl>
                                        <p:attrNameLst>
                                          <p:attrName>style.visibility</p:attrName>
                                        </p:attrNameLst>
                                      </p:cBhvr>
                                      <p:to>
                                        <p:strVal val="visible"/>
                                      </p:to>
                                    </p:set>
                                    <p:animEffect transition="in" filter="fade">
                                      <p:cBhvr>
                                        <p:cTn id="19" dur="500"/>
                                        <p:tgtEl>
                                          <p:spTgt spid="303"/>
                                        </p:tgtEl>
                                      </p:cBhvr>
                                    </p:animEffect>
                                  </p:childTnLst>
                                </p:cTn>
                              </p:par>
                              <p:par>
                                <p:cTn id="20" presetID="23" presetClass="entr" presetSubtype="16" fill="hold" nodeType="withEffect">
                                  <p:stCondLst>
                                    <p:cond delay="0"/>
                                  </p:stCondLst>
                                  <p:childTnLst>
                                    <p:set>
                                      <p:cBhvr>
                                        <p:cTn id="21" dur="1" fill="hold">
                                          <p:stCondLst>
                                            <p:cond delay="0"/>
                                          </p:stCondLst>
                                        </p:cTn>
                                        <p:tgtEl>
                                          <p:spTgt spid="300"/>
                                        </p:tgtEl>
                                        <p:attrNameLst>
                                          <p:attrName>style.visibility</p:attrName>
                                        </p:attrNameLst>
                                      </p:cBhvr>
                                      <p:to>
                                        <p:strVal val="visible"/>
                                      </p:to>
                                    </p:set>
                                    <p:anim calcmode="lin" valueType="num">
                                      <p:cBhvr additive="base">
                                        <p:cTn id="22" dur="500"/>
                                        <p:tgtEl>
                                          <p:spTgt spid="300"/>
                                        </p:tgtEl>
                                        <p:attrNameLst>
                                          <p:attrName>ppt_w</p:attrName>
                                        </p:attrNameLst>
                                      </p:cBhvr>
                                      <p:tavLst>
                                        <p:tav tm="0">
                                          <p:val>
                                            <p:strVal val="0"/>
                                          </p:val>
                                        </p:tav>
                                        <p:tav tm="100000">
                                          <p:val>
                                            <p:strVal val="#ppt_w"/>
                                          </p:val>
                                        </p:tav>
                                      </p:tavLst>
                                    </p:anim>
                                    <p:anim calcmode="lin" valueType="num">
                                      <p:cBhvr additive="base">
                                        <p:cTn id="23" dur="500"/>
                                        <p:tgtEl>
                                          <p:spTgt spid="300"/>
                                        </p:tgtEl>
                                        <p:attrNameLst>
                                          <p:attrName>ppt_h</p:attrName>
                                        </p:attrNameLst>
                                      </p:cBhvr>
                                      <p:tavLst>
                                        <p:tav tm="0">
                                          <p:val>
                                            <p:strVal val="0"/>
                                          </p:val>
                                        </p:tav>
                                        <p:tav tm="100000">
                                          <p:val>
                                            <p:strVal val="#ppt_h"/>
                                          </p:val>
                                        </p:tav>
                                      </p:tavLst>
                                    </p:anim>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304"/>
                                        </p:tgtEl>
                                        <p:attrNameLst>
                                          <p:attrName>style.visibility</p:attrName>
                                        </p:attrNameLst>
                                      </p:cBhvr>
                                      <p:to>
                                        <p:strVal val="visible"/>
                                      </p:to>
                                    </p:set>
                                    <p:animEffect transition="in" filter="fade">
                                      <p:cBhvr>
                                        <p:cTn id="27" dur="500"/>
                                        <p:tgtEl>
                                          <p:spTgt spid="304"/>
                                        </p:tgtEl>
                                      </p:cBhvr>
                                    </p:animEffect>
                                  </p:childTnLst>
                                </p:cTn>
                              </p:par>
                              <p:par>
                                <p:cTn id="28" presetID="23" presetClass="entr" presetSubtype="16" fill="hold" nodeType="withEffect">
                                  <p:stCondLst>
                                    <p:cond delay="0"/>
                                  </p:stCondLst>
                                  <p:childTnLst>
                                    <p:set>
                                      <p:cBhvr>
                                        <p:cTn id="29" dur="1" fill="hold">
                                          <p:stCondLst>
                                            <p:cond delay="0"/>
                                          </p:stCondLst>
                                        </p:cTn>
                                        <p:tgtEl>
                                          <p:spTgt spid="301"/>
                                        </p:tgtEl>
                                        <p:attrNameLst>
                                          <p:attrName>style.visibility</p:attrName>
                                        </p:attrNameLst>
                                      </p:cBhvr>
                                      <p:to>
                                        <p:strVal val="visible"/>
                                      </p:to>
                                    </p:set>
                                    <p:anim calcmode="lin" valueType="num">
                                      <p:cBhvr additive="base">
                                        <p:cTn id="30" dur="500"/>
                                        <p:tgtEl>
                                          <p:spTgt spid="301"/>
                                        </p:tgtEl>
                                        <p:attrNameLst>
                                          <p:attrName>ppt_w</p:attrName>
                                        </p:attrNameLst>
                                      </p:cBhvr>
                                      <p:tavLst>
                                        <p:tav tm="0">
                                          <p:val>
                                            <p:strVal val="0"/>
                                          </p:val>
                                        </p:tav>
                                        <p:tav tm="100000">
                                          <p:val>
                                            <p:strVal val="#ppt_w"/>
                                          </p:val>
                                        </p:tav>
                                      </p:tavLst>
                                    </p:anim>
                                    <p:anim calcmode="lin" valueType="num">
                                      <p:cBhvr additive="base">
                                        <p:cTn id="31" dur="500"/>
                                        <p:tgtEl>
                                          <p:spTgt spid="301"/>
                                        </p:tgtEl>
                                        <p:attrNameLst>
                                          <p:attrName>ppt_h</p:attrName>
                                        </p:attrNameLst>
                                      </p:cBhvr>
                                      <p:tavLst>
                                        <p:tav tm="0">
                                          <p:val>
                                            <p:strVal val="0"/>
                                          </p:val>
                                        </p:tav>
                                        <p:tav tm="100000">
                                          <p:val>
                                            <p:strVal val="#ppt_h"/>
                                          </p:val>
                                        </p:tav>
                                      </p:tavLst>
                                    </p:anim>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305"/>
                                        </p:tgtEl>
                                        <p:attrNameLst>
                                          <p:attrName>style.visibility</p:attrName>
                                        </p:attrNameLst>
                                      </p:cBhvr>
                                      <p:to>
                                        <p:strVal val="visible"/>
                                      </p:to>
                                    </p:set>
                                    <p:animEffect transition="in" filter="fade">
                                      <p:cBhvr>
                                        <p:cTn id="35"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296">
          <a:extLst>
            <a:ext uri="{FF2B5EF4-FFF2-40B4-BE49-F238E27FC236}">
              <a16:creationId xmlns:a16="http://schemas.microsoft.com/office/drawing/2014/main" id="{9A0A010D-E4C5-5AFB-93A6-128B20F4459A}"/>
            </a:ext>
          </a:extLst>
        </p:cNvPr>
        <p:cNvGrpSpPr/>
        <p:nvPr/>
      </p:nvGrpSpPr>
      <p:grpSpPr>
        <a:xfrm>
          <a:off x="0" y="0"/>
          <a:ext cx="0" cy="0"/>
          <a:chOff x="0" y="0"/>
          <a:chExt cx="0" cy="0"/>
        </a:xfrm>
      </p:grpSpPr>
      <p:sp>
        <p:nvSpPr>
          <p:cNvPr id="297" name="Google Shape;297;p29">
            <a:extLst>
              <a:ext uri="{FF2B5EF4-FFF2-40B4-BE49-F238E27FC236}">
                <a16:creationId xmlns:a16="http://schemas.microsoft.com/office/drawing/2014/main" id="{D299CC25-1CBC-0BF1-EC23-BD0A77383DBA}"/>
              </a:ext>
            </a:extLst>
          </p:cNvPr>
          <p:cNvSpPr/>
          <p:nvPr/>
        </p:nvSpPr>
        <p:spPr>
          <a:xfrm>
            <a:off x="148114" y="1633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98" name="Google Shape;298;p29">
            <a:extLst>
              <a:ext uri="{FF2B5EF4-FFF2-40B4-BE49-F238E27FC236}">
                <a16:creationId xmlns:a16="http://schemas.microsoft.com/office/drawing/2014/main" id="{A65D310A-92F4-D03E-53E8-83A10C6B00C0}"/>
              </a:ext>
            </a:extLst>
          </p:cNvPr>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299" name="Google Shape;299;p29">
            <a:extLst>
              <a:ext uri="{FF2B5EF4-FFF2-40B4-BE49-F238E27FC236}">
                <a16:creationId xmlns:a16="http://schemas.microsoft.com/office/drawing/2014/main" id="{95939E2F-8F00-AD21-62FF-DF3734627BA3}"/>
              </a:ext>
            </a:extLst>
          </p:cNvPr>
          <p:cNvSpPr/>
          <p:nvPr/>
        </p:nvSpPr>
        <p:spPr>
          <a:xfrm>
            <a:off x="3644997"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0" name="Google Shape;300;p29">
            <a:extLst>
              <a:ext uri="{FF2B5EF4-FFF2-40B4-BE49-F238E27FC236}">
                <a16:creationId xmlns:a16="http://schemas.microsoft.com/office/drawing/2014/main" id="{C2E4D71D-1F16-16E0-F397-99194F4CD35A}"/>
              </a:ext>
            </a:extLst>
          </p:cNvPr>
          <p:cNvSpPr/>
          <p:nvPr/>
        </p:nvSpPr>
        <p:spPr>
          <a:xfrm>
            <a:off x="4675995"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1" name="Google Shape;301;p29">
            <a:extLst>
              <a:ext uri="{FF2B5EF4-FFF2-40B4-BE49-F238E27FC236}">
                <a16:creationId xmlns:a16="http://schemas.microsoft.com/office/drawing/2014/main" id="{E42AC6EA-845E-AE8E-9AFA-A78882AF333A}"/>
              </a:ext>
            </a:extLst>
          </p:cNvPr>
          <p:cNvSpPr/>
          <p:nvPr/>
        </p:nvSpPr>
        <p:spPr>
          <a:xfrm>
            <a:off x="5697394"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2" name="Google Shape;302;p29">
            <a:extLst>
              <a:ext uri="{FF2B5EF4-FFF2-40B4-BE49-F238E27FC236}">
                <a16:creationId xmlns:a16="http://schemas.microsoft.com/office/drawing/2014/main" id="{9E09AF46-1B66-7074-BD2D-AC79BEAC3A5C}"/>
              </a:ext>
            </a:extLst>
          </p:cNvPr>
          <p:cNvSpPr txBox="1"/>
          <p:nvPr/>
        </p:nvSpPr>
        <p:spPr>
          <a:xfrm>
            <a:off x="758807"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3" name="Google Shape;303;p29">
            <a:extLst>
              <a:ext uri="{FF2B5EF4-FFF2-40B4-BE49-F238E27FC236}">
                <a16:creationId xmlns:a16="http://schemas.microsoft.com/office/drawing/2014/main" id="{9B2F7533-E269-728D-C122-FC0046147999}"/>
              </a:ext>
            </a:extLst>
          </p:cNvPr>
          <p:cNvSpPr txBox="1"/>
          <p:nvPr/>
        </p:nvSpPr>
        <p:spPr>
          <a:xfrm>
            <a:off x="2752390"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4" name="Google Shape;304;p29">
            <a:extLst>
              <a:ext uri="{FF2B5EF4-FFF2-40B4-BE49-F238E27FC236}">
                <a16:creationId xmlns:a16="http://schemas.microsoft.com/office/drawing/2014/main" id="{150ED141-38E1-AD46-8EA5-BCD1C792EF1A}"/>
              </a:ext>
            </a:extLst>
          </p:cNvPr>
          <p:cNvSpPr txBox="1"/>
          <p:nvPr/>
        </p:nvSpPr>
        <p:spPr>
          <a:xfrm>
            <a:off x="4843926"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5" name="Google Shape;305;p29">
            <a:extLst>
              <a:ext uri="{FF2B5EF4-FFF2-40B4-BE49-F238E27FC236}">
                <a16:creationId xmlns:a16="http://schemas.microsoft.com/office/drawing/2014/main" id="{6CE8E2C4-A06A-09BE-5291-C18DF3BDAA6E}"/>
              </a:ext>
            </a:extLst>
          </p:cNvPr>
          <p:cNvSpPr txBox="1"/>
          <p:nvPr/>
        </p:nvSpPr>
        <p:spPr>
          <a:xfrm>
            <a:off x="6745746"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Clr>
                <a:schemeClr val="lt1"/>
              </a:buClr>
              <a:buSzPts val="800"/>
              <a:buFont typeface="Arial"/>
              <a:buNone/>
            </a:pPr>
            <a:endParaRPr sz="800">
              <a:solidFill>
                <a:srgbClr val="3F3F3F"/>
              </a:solidFill>
              <a:latin typeface="Lora"/>
              <a:ea typeface="Lora"/>
              <a:cs typeface="Lora"/>
              <a:sym typeface="Lora"/>
            </a:endParaRPr>
          </a:p>
        </p:txBody>
      </p:sp>
      <p:sp>
        <p:nvSpPr>
          <p:cNvPr id="306" name="Google Shape;306;p29">
            <a:extLst>
              <a:ext uri="{FF2B5EF4-FFF2-40B4-BE49-F238E27FC236}">
                <a16:creationId xmlns:a16="http://schemas.microsoft.com/office/drawing/2014/main" id="{F77BFA82-47F5-D34D-951F-32166F59D3DC}"/>
              </a:ext>
            </a:extLst>
          </p:cNvPr>
          <p:cNvSpPr txBox="1"/>
          <p:nvPr/>
        </p:nvSpPr>
        <p:spPr>
          <a:xfrm>
            <a:off x="210475" y="269425"/>
            <a:ext cx="4849800" cy="104410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900" b="1" dirty="0">
                <a:solidFill>
                  <a:schemeClr val="dk1"/>
                </a:solidFill>
              </a:rPr>
              <a:t>Feature Selection</a:t>
            </a:r>
            <a:endParaRPr sz="1900" b="1" dirty="0">
              <a:solidFill>
                <a:schemeClr val="dk1"/>
              </a:solidFill>
            </a:endParaRPr>
          </a:p>
          <a:p>
            <a:pPr marL="0" lvl="0" indent="0" algn="l" rtl="0">
              <a:spcBef>
                <a:spcPts val="1200"/>
              </a:spcBef>
              <a:spcAft>
                <a:spcPts val="0"/>
              </a:spcAft>
              <a:buNone/>
            </a:pPr>
            <a:endParaRPr dirty="0"/>
          </a:p>
        </p:txBody>
      </p:sp>
      <p:pic>
        <p:nvPicPr>
          <p:cNvPr id="3" name="图片 2">
            <a:extLst>
              <a:ext uri="{FF2B5EF4-FFF2-40B4-BE49-F238E27FC236}">
                <a16:creationId xmlns:a16="http://schemas.microsoft.com/office/drawing/2014/main" id="{FEC888D5-C93E-BE0C-6181-8EC7479692B4}"/>
              </a:ext>
            </a:extLst>
          </p:cNvPr>
          <p:cNvPicPr>
            <a:picLocks noChangeAspect="1"/>
          </p:cNvPicPr>
          <p:nvPr/>
        </p:nvPicPr>
        <p:blipFill>
          <a:blip r:embed="rId3"/>
          <a:stretch>
            <a:fillRect/>
          </a:stretch>
        </p:blipFill>
        <p:spPr>
          <a:xfrm>
            <a:off x="563821" y="1092054"/>
            <a:ext cx="4377138" cy="3501711"/>
          </a:xfrm>
          <a:prstGeom prst="rect">
            <a:avLst/>
          </a:prstGeom>
        </p:spPr>
      </p:pic>
      <p:sp>
        <p:nvSpPr>
          <p:cNvPr id="4" name="文本框 3">
            <a:extLst>
              <a:ext uri="{FF2B5EF4-FFF2-40B4-BE49-F238E27FC236}">
                <a16:creationId xmlns:a16="http://schemas.microsoft.com/office/drawing/2014/main" id="{5FDD9B54-E3FF-BA0B-FE7C-5BD3EDC7E184}"/>
              </a:ext>
            </a:extLst>
          </p:cNvPr>
          <p:cNvSpPr txBox="1"/>
          <p:nvPr/>
        </p:nvSpPr>
        <p:spPr>
          <a:xfrm>
            <a:off x="5287845" y="1133856"/>
            <a:ext cx="3474720" cy="3284041"/>
          </a:xfrm>
          <a:prstGeom prst="rect">
            <a:avLst/>
          </a:prstGeom>
          <a:noFill/>
        </p:spPr>
        <p:txBody>
          <a:bodyPr wrap="square" rtlCol="0">
            <a:spAutoFit/>
          </a:bodyPr>
          <a:lstStyle/>
          <a:p>
            <a:pPr>
              <a:lnSpc>
                <a:spcPct val="150000"/>
              </a:lnSpc>
            </a:pPr>
            <a:r>
              <a:rPr lang="en-US" dirty="0"/>
              <a:t>Feature Reduction Decision: Retain only one representative price variable, such as:</a:t>
            </a:r>
          </a:p>
          <a:p>
            <a:pPr>
              <a:lnSpc>
                <a:spcPct val="150000"/>
              </a:lnSpc>
            </a:pPr>
            <a:r>
              <a:rPr lang="en-US" dirty="0"/>
              <a:t>close price (most commonly used in financial modeling and reflects market consensus).Remove open, high, and low from training set to:</a:t>
            </a:r>
          </a:p>
          <a:p>
            <a:pPr>
              <a:lnSpc>
                <a:spcPct val="150000"/>
              </a:lnSpc>
            </a:pPr>
            <a:r>
              <a:rPr lang="en-US" dirty="0"/>
              <a:t>Improve generalization</a:t>
            </a:r>
          </a:p>
          <a:p>
            <a:pPr>
              <a:lnSpc>
                <a:spcPct val="150000"/>
              </a:lnSpc>
            </a:pPr>
            <a:r>
              <a:rPr lang="en-US" dirty="0"/>
              <a:t>Reduce dimensionality</a:t>
            </a:r>
          </a:p>
          <a:p>
            <a:pPr>
              <a:lnSpc>
                <a:spcPct val="150000"/>
              </a:lnSpc>
            </a:pPr>
            <a:r>
              <a:rPr lang="en-US" dirty="0"/>
              <a:t>Avoid multicollinearity</a:t>
            </a:r>
          </a:p>
        </p:txBody>
      </p:sp>
    </p:spTree>
    <p:extLst>
      <p:ext uri="{BB962C8B-B14F-4D97-AF65-F5344CB8AC3E}">
        <p14:creationId xmlns:p14="http://schemas.microsoft.com/office/powerpoint/2010/main" val="19323626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additive="base">
                                        <p:cTn id="7" dur="500"/>
                                        <p:tgtEl>
                                          <p:spTgt spid="298"/>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02"/>
                                        </p:tgtEl>
                                        <p:attrNameLst>
                                          <p:attrName>style.visibility</p:attrName>
                                        </p:attrNameLst>
                                      </p:cBhvr>
                                      <p:to>
                                        <p:strVal val="visible"/>
                                      </p:to>
                                    </p:set>
                                    <p:animEffect transition="in" filter="fade">
                                      <p:cBhvr>
                                        <p:cTn id="11" dur="500"/>
                                        <p:tgtEl>
                                          <p:spTgt spid="302"/>
                                        </p:tgtEl>
                                      </p:cBhvr>
                                    </p:animEffect>
                                  </p:childTnLst>
                                </p:cTn>
                              </p:par>
                              <p:par>
                                <p:cTn id="12" presetID="23" presetClass="entr" presetSubtype="16" fill="hold" nodeType="withEffect">
                                  <p:stCondLst>
                                    <p:cond delay="0"/>
                                  </p:stCondLst>
                                  <p:childTnLst>
                                    <p:set>
                                      <p:cBhvr>
                                        <p:cTn id="13" dur="1" fill="hold">
                                          <p:stCondLst>
                                            <p:cond delay="0"/>
                                          </p:stCondLst>
                                        </p:cTn>
                                        <p:tgtEl>
                                          <p:spTgt spid="299"/>
                                        </p:tgtEl>
                                        <p:attrNameLst>
                                          <p:attrName>style.visibility</p:attrName>
                                        </p:attrNameLst>
                                      </p:cBhvr>
                                      <p:to>
                                        <p:strVal val="visible"/>
                                      </p:to>
                                    </p:set>
                                    <p:anim calcmode="lin" valueType="num">
                                      <p:cBhvr additive="base">
                                        <p:cTn id="14" dur="500"/>
                                        <p:tgtEl>
                                          <p:spTgt spid="299"/>
                                        </p:tgtEl>
                                        <p:attrNameLst>
                                          <p:attrName>ppt_w</p:attrName>
                                        </p:attrNameLst>
                                      </p:cBhvr>
                                      <p:tavLst>
                                        <p:tav tm="0">
                                          <p:val>
                                            <p:strVal val="0"/>
                                          </p:val>
                                        </p:tav>
                                        <p:tav tm="100000">
                                          <p:val>
                                            <p:strVal val="#ppt_w"/>
                                          </p:val>
                                        </p:tav>
                                      </p:tavLst>
                                    </p:anim>
                                    <p:anim calcmode="lin" valueType="num">
                                      <p:cBhvr additive="base">
                                        <p:cTn id="15" dur="500"/>
                                        <p:tgtEl>
                                          <p:spTgt spid="299"/>
                                        </p:tgtEl>
                                        <p:attrNameLst>
                                          <p:attrName>ppt_h</p:attrName>
                                        </p:attrNameLst>
                                      </p:cBhvr>
                                      <p:tavLst>
                                        <p:tav tm="0">
                                          <p:val>
                                            <p:strVal val="0"/>
                                          </p:val>
                                        </p:tav>
                                        <p:tav tm="100000">
                                          <p:val>
                                            <p:strVal val="#ppt_h"/>
                                          </p:val>
                                        </p:tav>
                                      </p:tavLst>
                                    </p:anim>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303"/>
                                        </p:tgtEl>
                                        <p:attrNameLst>
                                          <p:attrName>style.visibility</p:attrName>
                                        </p:attrNameLst>
                                      </p:cBhvr>
                                      <p:to>
                                        <p:strVal val="visible"/>
                                      </p:to>
                                    </p:set>
                                    <p:animEffect transition="in" filter="fade">
                                      <p:cBhvr>
                                        <p:cTn id="19" dur="500"/>
                                        <p:tgtEl>
                                          <p:spTgt spid="303"/>
                                        </p:tgtEl>
                                      </p:cBhvr>
                                    </p:animEffect>
                                  </p:childTnLst>
                                </p:cTn>
                              </p:par>
                              <p:par>
                                <p:cTn id="20" presetID="23" presetClass="entr" presetSubtype="16" fill="hold" nodeType="withEffect">
                                  <p:stCondLst>
                                    <p:cond delay="0"/>
                                  </p:stCondLst>
                                  <p:childTnLst>
                                    <p:set>
                                      <p:cBhvr>
                                        <p:cTn id="21" dur="1" fill="hold">
                                          <p:stCondLst>
                                            <p:cond delay="0"/>
                                          </p:stCondLst>
                                        </p:cTn>
                                        <p:tgtEl>
                                          <p:spTgt spid="300"/>
                                        </p:tgtEl>
                                        <p:attrNameLst>
                                          <p:attrName>style.visibility</p:attrName>
                                        </p:attrNameLst>
                                      </p:cBhvr>
                                      <p:to>
                                        <p:strVal val="visible"/>
                                      </p:to>
                                    </p:set>
                                    <p:anim calcmode="lin" valueType="num">
                                      <p:cBhvr additive="base">
                                        <p:cTn id="22" dur="500"/>
                                        <p:tgtEl>
                                          <p:spTgt spid="300"/>
                                        </p:tgtEl>
                                        <p:attrNameLst>
                                          <p:attrName>ppt_w</p:attrName>
                                        </p:attrNameLst>
                                      </p:cBhvr>
                                      <p:tavLst>
                                        <p:tav tm="0">
                                          <p:val>
                                            <p:strVal val="0"/>
                                          </p:val>
                                        </p:tav>
                                        <p:tav tm="100000">
                                          <p:val>
                                            <p:strVal val="#ppt_w"/>
                                          </p:val>
                                        </p:tav>
                                      </p:tavLst>
                                    </p:anim>
                                    <p:anim calcmode="lin" valueType="num">
                                      <p:cBhvr additive="base">
                                        <p:cTn id="23" dur="500"/>
                                        <p:tgtEl>
                                          <p:spTgt spid="300"/>
                                        </p:tgtEl>
                                        <p:attrNameLst>
                                          <p:attrName>ppt_h</p:attrName>
                                        </p:attrNameLst>
                                      </p:cBhvr>
                                      <p:tavLst>
                                        <p:tav tm="0">
                                          <p:val>
                                            <p:strVal val="0"/>
                                          </p:val>
                                        </p:tav>
                                        <p:tav tm="100000">
                                          <p:val>
                                            <p:strVal val="#ppt_h"/>
                                          </p:val>
                                        </p:tav>
                                      </p:tavLst>
                                    </p:anim>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304"/>
                                        </p:tgtEl>
                                        <p:attrNameLst>
                                          <p:attrName>style.visibility</p:attrName>
                                        </p:attrNameLst>
                                      </p:cBhvr>
                                      <p:to>
                                        <p:strVal val="visible"/>
                                      </p:to>
                                    </p:set>
                                    <p:animEffect transition="in" filter="fade">
                                      <p:cBhvr>
                                        <p:cTn id="27" dur="500"/>
                                        <p:tgtEl>
                                          <p:spTgt spid="304"/>
                                        </p:tgtEl>
                                      </p:cBhvr>
                                    </p:animEffect>
                                  </p:childTnLst>
                                </p:cTn>
                              </p:par>
                              <p:par>
                                <p:cTn id="28" presetID="23" presetClass="entr" presetSubtype="16" fill="hold" nodeType="withEffect">
                                  <p:stCondLst>
                                    <p:cond delay="0"/>
                                  </p:stCondLst>
                                  <p:childTnLst>
                                    <p:set>
                                      <p:cBhvr>
                                        <p:cTn id="29" dur="1" fill="hold">
                                          <p:stCondLst>
                                            <p:cond delay="0"/>
                                          </p:stCondLst>
                                        </p:cTn>
                                        <p:tgtEl>
                                          <p:spTgt spid="301"/>
                                        </p:tgtEl>
                                        <p:attrNameLst>
                                          <p:attrName>style.visibility</p:attrName>
                                        </p:attrNameLst>
                                      </p:cBhvr>
                                      <p:to>
                                        <p:strVal val="visible"/>
                                      </p:to>
                                    </p:set>
                                    <p:anim calcmode="lin" valueType="num">
                                      <p:cBhvr additive="base">
                                        <p:cTn id="30" dur="500"/>
                                        <p:tgtEl>
                                          <p:spTgt spid="301"/>
                                        </p:tgtEl>
                                        <p:attrNameLst>
                                          <p:attrName>ppt_w</p:attrName>
                                        </p:attrNameLst>
                                      </p:cBhvr>
                                      <p:tavLst>
                                        <p:tav tm="0">
                                          <p:val>
                                            <p:strVal val="0"/>
                                          </p:val>
                                        </p:tav>
                                        <p:tav tm="100000">
                                          <p:val>
                                            <p:strVal val="#ppt_w"/>
                                          </p:val>
                                        </p:tav>
                                      </p:tavLst>
                                    </p:anim>
                                    <p:anim calcmode="lin" valueType="num">
                                      <p:cBhvr additive="base">
                                        <p:cTn id="31" dur="500"/>
                                        <p:tgtEl>
                                          <p:spTgt spid="301"/>
                                        </p:tgtEl>
                                        <p:attrNameLst>
                                          <p:attrName>ppt_h</p:attrName>
                                        </p:attrNameLst>
                                      </p:cBhvr>
                                      <p:tavLst>
                                        <p:tav tm="0">
                                          <p:val>
                                            <p:strVal val="0"/>
                                          </p:val>
                                        </p:tav>
                                        <p:tav tm="100000">
                                          <p:val>
                                            <p:strVal val="#ppt_h"/>
                                          </p:val>
                                        </p:tav>
                                      </p:tavLst>
                                    </p:anim>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305"/>
                                        </p:tgtEl>
                                        <p:attrNameLst>
                                          <p:attrName>style.visibility</p:attrName>
                                        </p:attrNameLst>
                                      </p:cBhvr>
                                      <p:to>
                                        <p:strVal val="visible"/>
                                      </p:to>
                                    </p:set>
                                    <p:animEffect transition="in" filter="fade">
                                      <p:cBhvr>
                                        <p:cTn id="35"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296">
          <a:extLst>
            <a:ext uri="{FF2B5EF4-FFF2-40B4-BE49-F238E27FC236}">
              <a16:creationId xmlns:a16="http://schemas.microsoft.com/office/drawing/2014/main" id="{F958726E-61BE-6579-EA7F-3F30676DDAED}"/>
            </a:ext>
          </a:extLst>
        </p:cNvPr>
        <p:cNvGrpSpPr/>
        <p:nvPr/>
      </p:nvGrpSpPr>
      <p:grpSpPr>
        <a:xfrm>
          <a:off x="0" y="0"/>
          <a:ext cx="0" cy="0"/>
          <a:chOff x="0" y="0"/>
          <a:chExt cx="0" cy="0"/>
        </a:xfrm>
      </p:grpSpPr>
      <p:sp>
        <p:nvSpPr>
          <p:cNvPr id="297" name="Google Shape;297;p29">
            <a:extLst>
              <a:ext uri="{FF2B5EF4-FFF2-40B4-BE49-F238E27FC236}">
                <a16:creationId xmlns:a16="http://schemas.microsoft.com/office/drawing/2014/main" id="{036BD6DF-8E11-856C-028D-70E27E70D427}"/>
              </a:ext>
            </a:extLst>
          </p:cNvPr>
          <p:cNvSpPr/>
          <p:nvPr/>
        </p:nvSpPr>
        <p:spPr>
          <a:xfrm>
            <a:off x="148114" y="1633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98" name="Google Shape;298;p29">
            <a:extLst>
              <a:ext uri="{FF2B5EF4-FFF2-40B4-BE49-F238E27FC236}">
                <a16:creationId xmlns:a16="http://schemas.microsoft.com/office/drawing/2014/main" id="{42E6A64B-7703-9432-5D95-9A73D2CF1FEE}"/>
              </a:ext>
            </a:extLst>
          </p:cNvPr>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299" name="Google Shape;299;p29">
            <a:extLst>
              <a:ext uri="{FF2B5EF4-FFF2-40B4-BE49-F238E27FC236}">
                <a16:creationId xmlns:a16="http://schemas.microsoft.com/office/drawing/2014/main" id="{3AB1B2AD-45A1-0EA7-1103-CB0EF09C0F99}"/>
              </a:ext>
            </a:extLst>
          </p:cNvPr>
          <p:cNvSpPr/>
          <p:nvPr/>
        </p:nvSpPr>
        <p:spPr>
          <a:xfrm>
            <a:off x="3644997"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0" name="Google Shape;300;p29">
            <a:extLst>
              <a:ext uri="{FF2B5EF4-FFF2-40B4-BE49-F238E27FC236}">
                <a16:creationId xmlns:a16="http://schemas.microsoft.com/office/drawing/2014/main" id="{F89CEDEA-9158-3769-D332-C1EACFB21410}"/>
              </a:ext>
            </a:extLst>
          </p:cNvPr>
          <p:cNvSpPr/>
          <p:nvPr/>
        </p:nvSpPr>
        <p:spPr>
          <a:xfrm>
            <a:off x="4675995"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1" name="Google Shape;301;p29">
            <a:extLst>
              <a:ext uri="{FF2B5EF4-FFF2-40B4-BE49-F238E27FC236}">
                <a16:creationId xmlns:a16="http://schemas.microsoft.com/office/drawing/2014/main" id="{31F20FB9-39E7-3CCE-FC60-B3A110714514}"/>
              </a:ext>
            </a:extLst>
          </p:cNvPr>
          <p:cNvSpPr/>
          <p:nvPr/>
        </p:nvSpPr>
        <p:spPr>
          <a:xfrm>
            <a:off x="5697394" y="2488924"/>
            <a:ext cx="746760" cy="25288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200" b="1">
              <a:solidFill>
                <a:srgbClr val="3F3F3F"/>
              </a:solidFill>
              <a:latin typeface="Microsoft Yahei"/>
              <a:ea typeface="Microsoft Yahei"/>
              <a:cs typeface="Microsoft Yahei"/>
              <a:sym typeface="Microsoft Yahei"/>
            </a:endParaRPr>
          </a:p>
        </p:txBody>
      </p:sp>
      <p:sp>
        <p:nvSpPr>
          <p:cNvPr id="302" name="Google Shape;302;p29">
            <a:extLst>
              <a:ext uri="{FF2B5EF4-FFF2-40B4-BE49-F238E27FC236}">
                <a16:creationId xmlns:a16="http://schemas.microsoft.com/office/drawing/2014/main" id="{59387106-DB31-DBAA-620C-EB65C570A596}"/>
              </a:ext>
            </a:extLst>
          </p:cNvPr>
          <p:cNvSpPr txBox="1"/>
          <p:nvPr/>
        </p:nvSpPr>
        <p:spPr>
          <a:xfrm>
            <a:off x="758807"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3" name="Google Shape;303;p29">
            <a:extLst>
              <a:ext uri="{FF2B5EF4-FFF2-40B4-BE49-F238E27FC236}">
                <a16:creationId xmlns:a16="http://schemas.microsoft.com/office/drawing/2014/main" id="{17548AAD-227A-F706-8767-7918BDA1B8DA}"/>
              </a:ext>
            </a:extLst>
          </p:cNvPr>
          <p:cNvSpPr txBox="1"/>
          <p:nvPr/>
        </p:nvSpPr>
        <p:spPr>
          <a:xfrm>
            <a:off x="2752390"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4" name="Google Shape;304;p29">
            <a:extLst>
              <a:ext uri="{FF2B5EF4-FFF2-40B4-BE49-F238E27FC236}">
                <a16:creationId xmlns:a16="http://schemas.microsoft.com/office/drawing/2014/main" id="{3946E0BF-21CE-E005-5DE7-BEF9E11D0AC9}"/>
              </a:ext>
            </a:extLst>
          </p:cNvPr>
          <p:cNvSpPr txBox="1"/>
          <p:nvPr/>
        </p:nvSpPr>
        <p:spPr>
          <a:xfrm>
            <a:off x="4843926"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05" name="Google Shape;305;p29">
            <a:extLst>
              <a:ext uri="{FF2B5EF4-FFF2-40B4-BE49-F238E27FC236}">
                <a16:creationId xmlns:a16="http://schemas.microsoft.com/office/drawing/2014/main" id="{4DAA801D-9C9B-5BB7-0D3B-DAF5F37D26D6}"/>
              </a:ext>
            </a:extLst>
          </p:cNvPr>
          <p:cNvSpPr txBox="1"/>
          <p:nvPr/>
        </p:nvSpPr>
        <p:spPr>
          <a:xfrm>
            <a:off x="6745746" y="3309411"/>
            <a:ext cx="16104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Clr>
                <a:schemeClr val="lt1"/>
              </a:buClr>
              <a:buSzPts val="800"/>
              <a:buFont typeface="Arial"/>
              <a:buNone/>
            </a:pPr>
            <a:endParaRPr sz="800">
              <a:solidFill>
                <a:srgbClr val="3F3F3F"/>
              </a:solidFill>
              <a:latin typeface="Lora"/>
              <a:ea typeface="Lora"/>
              <a:cs typeface="Lora"/>
              <a:sym typeface="Lora"/>
            </a:endParaRPr>
          </a:p>
        </p:txBody>
      </p:sp>
      <p:sp>
        <p:nvSpPr>
          <p:cNvPr id="306" name="Google Shape;306;p29">
            <a:extLst>
              <a:ext uri="{FF2B5EF4-FFF2-40B4-BE49-F238E27FC236}">
                <a16:creationId xmlns:a16="http://schemas.microsoft.com/office/drawing/2014/main" id="{87D190A5-3478-3E17-0CF6-ACB6F9691210}"/>
              </a:ext>
            </a:extLst>
          </p:cNvPr>
          <p:cNvSpPr txBox="1"/>
          <p:nvPr/>
        </p:nvSpPr>
        <p:spPr>
          <a:xfrm>
            <a:off x="210475" y="269425"/>
            <a:ext cx="4849800" cy="104410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900" b="1" dirty="0">
                <a:solidFill>
                  <a:schemeClr val="dk1"/>
                </a:solidFill>
              </a:rPr>
              <a:t>Feature Selection</a:t>
            </a:r>
            <a:endParaRPr sz="1900" b="1" dirty="0">
              <a:solidFill>
                <a:schemeClr val="dk1"/>
              </a:solidFill>
            </a:endParaRPr>
          </a:p>
          <a:p>
            <a:pPr marL="0" lvl="0" indent="0" algn="l" rtl="0">
              <a:spcBef>
                <a:spcPts val="1200"/>
              </a:spcBef>
              <a:spcAft>
                <a:spcPts val="0"/>
              </a:spcAft>
              <a:buNone/>
            </a:pPr>
            <a:endParaRPr dirty="0"/>
          </a:p>
        </p:txBody>
      </p:sp>
      <p:sp>
        <p:nvSpPr>
          <p:cNvPr id="4" name="文本框 3">
            <a:extLst>
              <a:ext uri="{FF2B5EF4-FFF2-40B4-BE49-F238E27FC236}">
                <a16:creationId xmlns:a16="http://schemas.microsoft.com/office/drawing/2014/main" id="{FF3E6134-EC6B-378D-0B9E-97D1FF0FB819}"/>
              </a:ext>
            </a:extLst>
          </p:cNvPr>
          <p:cNvSpPr txBox="1"/>
          <p:nvPr/>
        </p:nvSpPr>
        <p:spPr>
          <a:xfrm>
            <a:off x="5287845" y="1133856"/>
            <a:ext cx="3474720" cy="2960875"/>
          </a:xfrm>
          <a:prstGeom prst="rect">
            <a:avLst/>
          </a:prstGeom>
          <a:noFill/>
        </p:spPr>
        <p:txBody>
          <a:bodyPr wrap="square" rtlCol="0">
            <a:spAutoFit/>
          </a:bodyPr>
          <a:lstStyle/>
          <a:p>
            <a:pPr>
              <a:lnSpc>
                <a:spcPct val="150000"/>
              </a:lnSpc>
            </a:pPr>
            <a:r>
              <a:rPr lang="en-US" dirty="0"/>
              <a:t>This heatmap displays correlations among lagged prices, returns, and volatility features</a:t>
            </a:r>
          </a:p>
          <a:p>
            <a:pPr>
              <a:lnSpc>
                <a:spcPct val="150000"/>
              </a:lnSpc>
            </a:pPr>
            <a:r>
              <a:rPr lang="en-US" b="1" dirty="0"/>
              <a:t>Key Observations:</a:t>
            </a:r>
          </a:p>
          <a:p>
            <a:pPr>
              <a:lnSpc>
                <a:spcPct val="150000"/>
              </a:lnSpc>
            </a:pPr>
            <a:r>
              <a:rPr lang="en-US" dirty="0"/>
              <a:t>Perfect multicollinearity between close_lag1 and close_lag2:Correlation = 1 → these features are redundant.</a:t>
            </a:r>
          </a:p>
          <a:p>
            <a:pPr>
              <a:lnSpc>
                <a:spcPct val="150000"/>
              </a:lnSpc>
            </a:pPr>
            <a:r>
              <a:rPr lang="en-US" dirty="0"/>
              <a:t> Keep only one (e.g., close_lag1) to reduce overfitting risk.</a:t>
            </a:r>
          </a:p>
        </p:txBody>
      </p:sp>
      <p:pic>
        <p:nvPicPr>
          <p:cNvPr id="5" name="图片 4">
            <a:extLst>
              <a:ext uri="{FF2B5EF4-FFF2-40B4-BE49-F238E27FC236}">
                <a16:creationId xmlns:a16="http://schemas.microsoft.com/office/drawing/2014/main" id="{D6F62835-AD84-F53B-9EC7-71FD613C1183}"/>
              </a:ext>
            </a:extLst>
          </p:cNvPr>
          <p:cNvPicPr>
            <a:picLocks noChangeAspect="1"/>
          </p:cNvPicPr>
          <p:nvPr/>
        </p:nvPicPr>
        <p:blipFill>
          <a:blip r:embed="rId3"/>
          <a:stretch>
            <a:fillRect/>
          </a:stretch>
        </p:blipFill>
        <p:spPr>
          <a:xfrm>
            <a:off x="478378" y="1184720"/>
            <a:ext cx="4334367" cy="3467494"/>
          </a:xfrm>
          <a:prstGeom prst="rect">
            <a:avLst/>
          </a:prstGeom>
        </p:spPr>
      </p:pic>
    </p:spTree>
    <p:extLst>
      <p:ext uri="{BB962C8B-B14F-4D97-AF65-F5344CB8AC3E}">
        <p14:creationId xmlns:p14="http://schemas.microsoft.com/office/powerpoint/2010/main" val="100554552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additive="base">
                                        <p:cTn id="7" dur="500"/>
                                        <p:tgtEl>
                                          <p:spTgt spid="298"/>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02"/>
                                        </p:tgtEl>
                                        <p:attrNameLst>
                                          <p:attrName>style.visibility</p:attrName>
                                        </p:attrNameLst>
                                      </p:cBhvr>
                                      <p:to>
                                        <p:strVal val="visible"/>
                                      </p:to>
                                    </p:set>
                                    <p:animEffect transition="in" filter="fade">
                                      <p:cBhvr>
                                        <p:cTn id="11" dur="500"/>
                                        <p:tgtEl>
                                          <p:spTgt spid="302"/>
                                        </p:tgtEl>
                                      </p:cBhvr>
                                    </p:animEffect>
                                  </p:childTnLst>
                                </p:cTn>
                              </p:par>
                              <p:par>
                                <p:cTn id="12" presetID="23" presetClass="entr" presetSubtype="16" fill="hold" nodeType="withEffect">
                                  <p:stCondLst>
                                    <p:cond delay="0"/>
                                  </p:stCondLst>
                                  <p:childTnLst>
                                    <p:set>
                                      <p:cBhvr>
                                        <p:cTn id="13" dur="1" fill="hold">
                                          <p:stCondLst>
                                            <p:cond delay="0"/>
                                          </p:stCondLst>
                                        </p:cTn>
                                        <p:tgtEl>
                                          <p:spTgt spid="299"/>
                                        </p:tgtEl>
                                        <p:attrNameLst>
                                          <p:attrName>style.visibility</p:attrName>
                                        </p:attrNameLst>
                                      </p:cBhvr>
                                      <p:to>
                                        <p:strVal val="visible"/>
                                      </p:to>
                                    </p:set>
                                    <p:anim calcmode="lin" valueType="num">
                                      <p:cBhvr additive="base">
                                        <p:cTn id="14" dur="500"/>
                                        <p:tgtEl>
                                          <p:spTgt spid="299"/>
                                        </p:tgtEl>
                                        <p:attrNameLst>
                                          <p:attrName>ppt_w</p:attrName>
                                        </p:attrNameLst>
                                      </p:cBhvr>
                                      <p:tavLst>
                                        <p:tav tm="0">
                                          <p:val>
                                            <p:strVal val="0"/>
                                          </p:val>
                                        </p:tav>
                                        <p:tav tm="100000">
                                          <p:val>
                                            <p:strVal val="#ppt_w"/>
                                          </p:val>
                                        </p:tav>
                                      </p:tavLst>
                                    </p:anim>
                                    <p:anim calcmode="lin" valueType="num">
                                      <p:cBhvr additive="base">
                                        <p:cTn id="15" dur="500"/>
                                        <p:tgtEl>
                                          <p:spTgt spid="299"/>
                                        </p:tgtEl>
                                        <p:attrNameLst>
                                          <p:attrName>ppt_h</p:attrName>
                                        </p:attrNameLst>
                                      </p:cBhvr>
                                      <p:tavLst>
                                        <p:tav tm="0">
                                          <p:val>
                                            <p:strVal val="0"/>
                                          </p:val>
                                        </p:tav>
                                        <p:tav tm="100000">
                                          <p:val>
                                            <p:strVal val="#ppt_h"/>
                                          </p:val>
                                        </p:tav>
                                      </p:tavLst>
                                    </p:anim>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303"/>
                                        </p:tgtEl>
                                        <p:attrNameLst>
                                          <p:attrName>style.visibility</p:attrName>
                                        </p:attrNameLst>
                                      </p:cBhvr>
                                      <p:to>
                                        <p:strVal val="visible"/>
                                      </p:to>
                                    </p:set>
                                    <p:animEffect transition="in" filter="fade">
                                      <p:cBhvr>
                                        <p:cTn id="19" dur="500"/>
                                        <p:tgtEl>
                                          <p:spTgt spid="303"/>
                                        </p:tgtEl>
                                      </p:cBhvr>
                                    </p:animEffect>
                                  </p:childTnLst>
                                </p:cTn>
                              </p:par>
                              <p:par>
                                <p:cTn id="20" presetID="23" presetClass="entr" presetSubtype="16" fill="hold" nodeType="withEffect">
                                  <p:stCondLst>
                                    <p:cond delay="0"/>
                                  </p:stCondLst>
                                  <p:childTnLst>
                                    <p:set>
                                      <p:cBhvr>
                                        <p:cTn id="21" dur="1" fill="hold">
                                          <p:stCondLst>
                                            <p:cond delay="0"/>
                                          </p:stCondLst>
                                        </p:cTn>
                                        <p:tgtEl>
                                          <p:spTgt spid="300"/>
                                        </p:tgtEl>
                                        <p:attrNameLst>
                                          <p:attrName>style.visibility</p:attrName>
                                        </p:attrNameLst>
                                      </p:cBhvr>
                                      <p:to>
                                        <p:strVal val="visible"/>
                                      </p:to>
                                    </p:set>
                                    <p:anim calcmode="lin" valueType="num">
                                      <p:cBhvr additive="base">
                                        <p:cTn id="22" dur="500"/>
                                        <p:tgtEl>
                                          <p:spTgt spid="300"/>
                                        </p:tgtEl>
                                        <p:attrNameLst>
                                          <p:attrName>ppt_w</p:attrName>
                                        </p:attrNameLst>
                                      </p:cBhvr>
                                      <p:tavLst>
                                        <p:tav tm="0">
                                          <p:val>
                                            <p:strVal val="0"/>
                                          </p:val>
                                        </p:tav>
                                        <p:tav tm="100000">
                                          <p:val>
                                            <p:strVal val="#ppt_w"/>
                                          </p:val>
                                        </p:tav>
                                      </p:tavLst>
                                    </p:anim>
                                    <p:anim calcmode="lin" valueType="num">
                                      <p:cBhvr additive="base">
                                        <p:cTn id="23" dur="500"/>
                                        <p:tgtEl>
                                          <p:spTgt spid="300"/>
                                        </p:tgtEl>
                                        <p:attrNameLst>
                                          <p:attrName>ppt_h</p:attrName>
                                        </p:attrNameLst>
                                      </p:cBhvr>
                                      <p:tavLst>
                                        <p:tav tm="0">
                                          <p:val>
                                            <p:strVal val="0"/>
                                          </p:val>
                                        </p:tav>
                                        <p:tav tm="100000">
                                          <p:val>
                                            <p:strVal val="#ppt_h"/>
                                          </p:val>
                                        </p:tav>
                                      </p:tavLst>
                                    </p:anim>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304"/>
                                        </p:tgtEl>
                                        <p:attrNameLst>
                                          <p:attrName>style.visibility</p:attrName>
                                        </p:attrNameLst>
                                      </p:cBhvr>
                                      <p:to>
                                        <p:strVal val="visible"/>
                                      </p:to>
                                    </p:set>
                                    <p:animEffect transition="in" filter="fade">
                                      <p:cBhvr>
                                        <p:cTn id="27" dur="500"/>
                                        <p:tgtEl>
                                          <p:spTgt spid="304"/>
                                        </p:tgtEl>
                                      </p:cBhvr>
                                    </p:animEffect>
                                  </p:childTnLst>
                                </p:cTn>
                              </p:par>
                              <p:par>
                                <p:cTn id="28" presetID="23" presetClass="entr" presetSubtype="16" fill="hold" nodeType="withEffect">
                                  <p:stCondLst>
                                    <p:cond delay="0"/>
                                  </p:stCondLst>
                                  <p:childTnLst>
                                    <p:set>
                                      <p:cBhvr>
                                        <p:cTn id="29" dur="1" fill="hold">
                                          <p:stCondLst>
                                            <p:cond delay="0"/>
                                          </p:stCondLst>
                                        </p:cTn>
                                        <p:tgtEl>
                                          <p:spTgt spid="301"/>
                                        </p:tgtEl>
                                        <p:attrNameLst>
                                          <p:attrName>style.visibility</p:attrName>
                                        </p:attrNameLst>
                                      </p:cBhvr>
                                      <p:to>
                                        <p:strVal val="visible"/>
                                      </p:to>
                                    </p:set>
                                    <p:anim calcmode="lin" valueType="num">
                                      <p:cBhvr additive="base">
                                        <p:cTn id="30" dur="500"/>
                                        <p:tgtEl>
                                          <p:spTgt spid="301"/>
                                        </p:tgtEl>
                                        <p:attrNameLst>
                                          <p:attrName>ppt_w</p:attrName>
                                        </p:attrNameLst>
                                      </p:cBhvr>
                                      <p:tavLst>
                                        <p:tav tm="0">
                                          <p:val>
                                            <p:strVal val="0"/>
                                          </p:val>
                                        </p:tav>
                                        <p:tav tm="100000">
                                          <p:val>
                                            <p:strVal val="#ppt_w"/>
                                          </p:val>
                                        </p:tav>
                                      </p:tavLst>
                                    </p:anim>
                                    <p:anim calcmode="lin" valueType="num">
                                      <p:cBhvr additive="base">
                                        <p:cTn id="31" dur="500"/>
                                        <p:tgtEl>
                                          <p:spTgt spid="301"/>
                                        </p:tgtEl>
                                        <p:attrNameLst>
                                          <p:attrName>ppt_h</p:attrName>
                                        </p:attrNameLst>
                                      </p:cBhvr>
                                      <p:tavLst>
                                        <p:tav tm="0">
                                          <p:val>
                                            <p:strVal val="0"/>
                                          </p:val>
                                        </p:tav>
                                        <p:tav tm="100000">
                                          <p:val>
                                            <p:strVal val="#ppt_h"/>
                                          </p:val>
                                        </p:tav>
                                      </p:tavLst>
                                    </p:anim>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305"/>
                                        </p:tgtEl>
                                        <p:attrNameLst>
                                          <p:attrName>style.visibility</p:attrName>
                                        </p:attrNameLst>
                                      </p:cBhvr>
                                      <p:to>
                                        <p:strVal val="visible"/>
                                      </p:to>
                                    </p:set>
                                    <p:animEffect transition="in" filter="fade">
                                      <p:cBhvr>
                                        <p:cTn id="35"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8"/>
          <p:cNvSpPr/>
          <p:nvPr/>
        </p:nvSpPr>
        <p:spPr>
          <a:xfrm>
            <a:off x="964882" y="1334432"/>
            <a:ext cx="1203960" cy="23002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83" name="Google Shape;283;p28"/>
          <p:cNvSpPr/>
          <p:nvPr/>
        </p:nvSpPr>
        <p:spPr>
          <a:xfrm>
            <a:off x="754858" y="1585910"/>
            <a:ext cx="29271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284" name="Google Shape;284;p28"/>
          <p:cNvSpPr/>
          <p:nvPr/>
        </p:nvSpPr>
        <p:spPr>
          <a:xfrm>
            <a:off x="964882" y="2408376"/>
            <a:ext cx="1203960" cy="23002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85" name="Google Shape;285;p28"/>
          <p:cNvSpPr/>
          <p:nvPr/>
        </p:nvSpPr>
        <p:spPr>
          <a:xfrm>
            <a:off x="964883" y="2668429"/>
            <a:ext cx="2926556" cy="414814"/>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286" name="Google Shape;286;p28"/>
          <p:cNvSpPr/>
          <p:nvPr/>
        </p:nvSpPr>
        <p:spPr>
          <a:xfrm>
            <a:off x="674108" y="3341517"/>
            <a:ext cx="1203900" cy="230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287" name="Google Shape;287;p28"/>
          <p:cNvSpPr/>
          <p:nvPr/>
        </p:nvSpPr>
        <p:spPr>
          <a:xfrm>
            <a:off x="451395" y="3966320"/>
            <a:ext cx="29265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288" name="Google Shape;288;p28"/>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289" name="Google Shape;289;p28"/>
          <p:cNvSpPr txBox="1"/>
          <p:nvPr/>
        </p:nvSpPr>
        <p:spPr>
          <a:xfrm>
            <a:off x="270298" y="135913"/>
            <a:ext cx="4849800" cy="106179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2000" b="1" dirty="0">
                <a:solidFill>
                  <a:schemeClr val="dk1"/>
                </a:solidFill>
              </a:rPr>
              <a:t>Model Choice</a:t>
            </a:r>
            <a:endParaRPr sz="2000" b="1" dirty="0">
              <a:solidFill>
                <a:schemeClr val="dk1"/>
              </a:solidFill>
            </a:endParaRPr>
          </a:p>
          <a:p>
            <a:pPr marL="0" lvl="0" indent="0" algn="l" rtl="0">
              <a:spcBef>
                <a:spcPts val="1200"/>
              </a:spcBef>
              <a:spcAft>
                <a:spcPts val="0"/>
              </a:spcAft>
              <a:buNone/>
            </a:pPr>
            <a:endParaRPr dirty="0"/>
          </a:p>
        </p:txBody>
      </p:sp>
      <p:sp>
        <p:nvSpPr>
          <p:cNvPr id="290" name="Google Shape;290;p28"/>
          <p:cNvSpPr txBox="1"/>
          <p:nvPr/>
        </p:nvSpPr>
        <p:spPr>
          <a:xfrm>
            <a:off x="451395" y="905311"/>
            <a:ext cx="3572509" cy="3941049"/>
          </a:xfrm>
          <a:prstGeom prst="rect">
            <a:avLst/>
          </a:prstGeom>
          <a:noFill/>
          <a:ln>
            <a:noFill/>
          </a:ln>
        </p:spPr>
        <p:txBody>
          <a:bodyPr spcFirstLastPara="1" wrap="square" lIns="91425" tIns="91425" rIns="91425" bIns="91425" anchor="t" anchorCtr="0">
            <a:spAutoFit/>
          </a:bodyPr>
          <a:lstStyle/>
          <a:p>
            <a:pPr marL="158750" lvl="0" algn="l" rtl="0">
              <a:lnSpc>
                <a:spcPct val="150000"/>
              </a:lnSpc>
              <a:spcBef>
                <a:spcPts val="1200"/>
              </a:spcBef>
              <a:spcAft>
                <a:spcPts val="0"/>
              </a:spcAft>
              <a:buClr>
                <a:schemeClr val="dk1"/>
              </a:buClr>
              <a:buSzPts val="1100"/>
            </a:pPr>
            <a:r>
              <a:rPr lang="en-US" b="1" dirty="0"/>
              <a:t>Random Forest Classifier: </a:t>
            </a:r>
          </a:p>
          <a:p>
            <a:pPr marL="444500" lvl="0" indent="-285750" algn="l" rtl="0">
              <a:lnSpc>
                <a:spcPct val="150000"/>
              </a:lnSpc>
              <a:spcBef>
                <a:spcPts val="1200"/>
              </a:spcBef>
              <a:spcAft>
                <a:spcPts val="0"/>
              </a:spcAft>
              <a:buClr>
                <a:schemeClr val="dk1"/>
              </a:buClr>
              <a:buSzPts val="1100"/>
              <a:buFont typeface="Wingdings" panose="05000000000000000000" pitchFamily="2" charset="2"/>
              <a:buChar char="§"/>
            </a:pPr>
            <a:r>
              <a:rPr lang="en-US" dirty="0"/>
              <a:t>Robust performance on tabular data</a:t>
            </a:r>
          </a:p>
          <a:p>
            <a:pPr marL="444500" lvl="0" indent="-285750" algn="l" rtl="0">
              <a:lnSpc>
                <a:spcPct val="150000"/>
              </a:lnSpc>
              <a:spcBef>
                <a:spcPts val="1200"/>
              </a:spcBef>
              <a:spcAft>
                <a:spcPts val="0"/>
              </a:spcAft>
              <a:buClr>
                <a:schemeClr val="dk1"/>
              </a:buClr>
              <a:buSzPts val="1100"/>
              <a:buFont typeface="Wingdings" panose="05000000000000000000" pitchFamily="2" charset="2"/>
              <a:buChar char="§"/>
            </a:pPr>
            <a:r>
              <a:rPr lang="en-US" dirty="0"/>
              <a:t>Built-in handling of non-linear relationships</a:t>
            </a:r>
          </a:p>
          <a:p>
            <a:pPr marL="444500" lvl="0" indent="-285750" algn="l" rtl="0">
              <a:lnSpc>
                <a:spcPct val="150000"/>
              </a:lnSpc>
              <a:spcBef>
                <a:spcPts val="1200"/>
              </a:spcBef>
              <a:spcAft>
                <a:spcPts val="0"/>
              </a:spcAft>
              <a:buClr>
                <a:schemeClr val="dk1"/>
              </a:buClr>
              <a:buSzPts val="1100"/>
              <a:buFont typeface="Wingdings" panose="05000000000000000000" pitchFamily="2" charset="2"/>
              <a:buChar char="§"/>
            </a:pPr>
            <a:r>
              <a:rPr lang="en-US" dirty="0"/>
              <a:t>Feature importance output for interpretation</a:t>
            </a:r>
          </a:p>
          <a:p>
            <a:pPr marL="444500" lvl="0" indent="-285750" algn="l" rtl="0">
              <a:lnSpc>
                <a:spcPct val="150000"/>
              </a:lnSpc>
              <a:spcBef>
                <a:spcPts val="1200"/>
              </a:spcBef>
              <a:spcAft>
                <a:spcPts val="0"/>
              </a:spcAft>
              <a:buClr>
                <a:schemeClr val="dk1"/>
              </a:buClr>
              <a:buSzPts val="1100"/>
              <a:buFont typeface="Wingdings" panose="05000000000000000000" pitchFamily="2" charset="2"/>
              <a:buChar char="§"/>
            </a:pPr>
            <a:r>
              <a:rPr lang="en-US" dirty="0"/>
              <a:t>Trained on the training set using model. fit(X_train, </a:t>
            </a:r>
            <a:r>
              <a:rPr lang="en-US" dirty="0" err="1"/>
              <a:t>y_train</a:t>
            </a:r>
            <a:r>
              <a:rPr lang="en-US" dirty="0"/>
              <a:t>)</a:t>
            </a:r>
          </a:p>
          <a:p>
            <a:pPr marL="158750" lvl="0" algn="l" rtl="0">
              <a:lnSpc>
                <a:spcPct val="115000"/>
              </a:lnSpc>
              <a:spcBef>
                <a:spcPts val="1200"/>
              </a:spcBef>
              <a:spcAft>
                <a:spcPts val="0"/>
              </a:spcAft>
              <a:buClr>
                <a:schemeClr val="dk1"/>
              </a:buClr>
              <a:buSzPts val="1100"/>
            </a:pPr>
            <a:endParaRPr lang="en-US" dirty="0"/>
          </a:p>
        </p:txBody>
      </p:sp>
      <p:sp>
        <p:nvSpPr>
          <p:cNvPr id="2" name="文本框 1">
            <a:extLst>
              <a:ext uri="{FF2B5EF4-FFF2-40B4-BE49-F238E27FC236}">
                <a16:creationId xmlns:a16="http://schemas.microsoft.com/office/drawing/2014/main" id="{4C9FD328-7975-A37C-5BE0-5DDE8FEE0785}"/>
              </a:ext>
            </a:extLst>
          </p:cNvPr>
          <p:cNvSpPr txBox="1"/>
          <p:nvPr/>
        </p:nvSpPr>
        <p:spPr>
          <a:xfrm>
            <a:off x="4746873" y="1129982"/>
            <a:ext cx="3529956" cy="2503058"/>
          </a:xfrm>
          <a:prstGeom prst="rect">
            <a:avLst/>
          </a:prstGeom>
          <a:noFill/>
        </p:spPr>
        <p:txBody>
          <a:bodyPr wrap="square" rtlCol="0">
            <a:spAutoFit/>
          </a:bodyPr>
          <a:lstStyle/>
          <a:p>
            <a:pPr>
              <a:lnSpc>
                <a:spcPct val="150000"/>
              </a:lnSpc>
            </a:pPr>
            <a:r>
              <a:rPr lang="en-US" b="1" dirty="0"/>
              <a:t>Why Random Forest?</a:t>
            </a:r>
          </a:p>
          <a:p>
            <a:pPr marL="285750" indent="-285750">
              <a:lnSpc>
                <a:spcPct val="200000"/>
              </a:lnSpc>
              <a:buFont typeface="Wingdings" panose="05000000000000000000" pitchFamily="2" charset="2"/>
              <a:buChar char="§"/>
            </a:pPr>
            <a:r>
              <a:rPr lang="en-US" dirty="0"/>
              <a:t>Avoids overfitting better than basic decision trees</a:t>
            </a:r>
          </a:p>
          <a:p>
            <a:pPr marL="285750" indent="-285750">
              <a:lnSpc>
                <a:spcPct val="200000"/>
              </a:lnSpc>
              <a:buFont typeface="Wingdings" panose="05000000000000000000" pitchFamily="2" charset="2"/>
              <a:buChar char="§"/>
            </a:pPr>
            <a:r>
              <a:rPr lang="en-US" dirty="0"/>
              <a:t>Works well with both continuous and categorical inputs</a:t>
            </a:r>
          </a:p>
          <a:p>
            <a:pPr marL="285750" indent="-285750">
              <a:lnSpc>
                <a:spcPct val="200000"/>
              </a:lnSpc>
              <a:buFont typeface="Wingdings" panose="05000000000000000000" pitchFamily="2" charset="2"/>
              <a:buChar char="§"/>
            </a:pPr>
            <a:r>
              <a:rPr lang="en-US" dirty="0"/>
              <a:t>No scaling or normalization required</a:t>
            </a: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88"/>
                                        </p:tgtEl>
                                        <p:attrNameLst>
                                          <p:attrName>style.visibility</p:attrName>
                                        </p:attrNameLst>
                                      </p:cBhvr>
                                      <p:to>
                                        <p:strVal val="visible"/>
                                      </p:to>
                                    </p:set>
                                    <p:anim calcmode="lin" valueType="num">
                                      <p:cBhvr additive="base">
                                        <p:cTn id="7" dur="500"/>
                                        <p:tgtEl>
                                          <p:spTgt spid="288"/>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2"/>
                                        </p:tgtEl>
                                        <p:attrNameLst>
                                          <p:attrName>style.visibility</p:attrName>
                                        </p:attrNameLst>
                                      </p:cBhvr>
                                      <p:to>
                                        <p:strVal val="visible"/>
                                      </p:to>
                                    </p:set>
                                    <p:animEffect transition="in" filter="fade">
                                      <p:cBhvr>
                                        <p:cTn id="11" dur="500"/>
                                        <p:tgtEl>
                                          <p:spTgt spid="282"/>
                                        </p:tgtEl>
                                      </p:cBhvr>
                                    </p:animEffect>
                                  </p:childTnLst>
                                </p:cTn>
                              </p:par>
                              <p:par>
                                <p:cTn id="12" presetID="10" presetClass="entr" presetSubtype="0" fill="hold" nodeType="withEffect">
                                  <p:stCondLst>
                                    <p:cond delay="0"/>
                                  </p:stCondLst>
                                  <p:childTnLst>
                                    <p:set>
                                      <p:cBhvr>
                                        <p:cTn id="13" dur="1" fill="hold">
                                          <p:stCondLst>
                                            <p:cond delay="0"/>
                                          </p:stCondLst>
                                        </p:cTn>
                                        <p:tgtEl>
                                          <p:spTgt spid="283"/>
                                        </p:tgtEl>
                                        <p:attrNameLst>
                                          <p:attrName>style.visibility</p:attrName>
                                        </p:attrNameLst>
                                      </p:cBhvr>
                                      <p:to>
                                        <p:strVal val="visible"/>
                                      </p:to>
                                    </p:set>
                                    <p:animEffect transition="in" filter="fade">
                                      <p:cBhvr>
                                        <p:cTn id="14" dur="500"/>
                                        <p:tgtEl>
                                          <p:spTgt spid="283"/>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284"/>
                                        </p:tgtEl>
                                        <p:attrNameLst>
                                          <p:attrName>style.visibility</p:attrName>
                                        </p:attrNameLst>
                                      </p:cBhvr>
                                      <p:to>
                                        <p:strVal val="visible"/>
                                      </p:to>
                                    </p:set>
                                    <p:animEffect transition="in" filter="fade">
                                      <p:cBhvr>
                                        <p:cTn id="18" dur="500"/>
                                        <p:tgtEl>
                                          <p:spTgt spid="284"/>
                                        </p:tgtEl>
                                      </p:cBhvr>
                                    </p:animEffect>
                                  </p:childTnLst>
                                </p:cTn>
                              </p:par>
                              <p:par>
                                <p:cTn id="19" presetID="10" presetClass="entr" presetSubtype="0" fill="hold" nodeType="withEffect">
                                  <p:stCondLst>
                                    <p:cond delay="0"/>
                                  </p:stCondLst>
                                  <p:childTnLst>
                                    <p:set>
                                      <p:cBhvr>
                                        <p:cTn id="20" dur="1" fill="hold">
                                          <p:stCondLst>
                                            <p:cond delay="0"/>
                                          </p:stCondLst>
                                        </p:cTn>
                                        <p:tgtEl>
                                          <p:spTgt spid="285"/>
                                        </p:tgtEl>
                                        <p:attrNameLst>
                                          <p:attrName>style.visibility</p:attrName>
                                        </p:attrNameLst>
                                      </p:cBhvr>
                                      <p:to>
                                        <p:strVal val="visible"/>
                                      </p:to>
                                    </p:set>
                                    <p:animEffect transition="in" filter="fade">
                                      <p:cBhvr>
                                        <p:cTn id="21" dur="500"/>
                                        <p:tgtEl>
                                          <p:spTgt spid="285"/>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286"/>
                                        </p:tgtEl>
                                        <p:attrNameLst>
                                          <p:attrName>style.visibility</p:attrName>
                                        </p:attrNameLst>
                                      </p:cBhvr>
                                      <p:to>
                                        <p:strVal val="visible"/>
                                      </p:to>
                                    </p:set>
                                    <p:animEffect transition="in" filter="fade">
                                      <p:cBhvr>
                                        <p:cTn id="25" dur="500"/>
                                        <p:tgtEl>
                                          <p:spTgt spid="286"/>
                                        </p:tgtEl>
                                      </p:cBhvr>
                                    </p:animEffect>
                                  </p:childTnLst>
                                </p:cTn>
                              </p:par>
                              <p:par>
                                <p:cTn id="26" presetID="10" presetClass="entr" presetSubtype="0" fill="hold" nodeType="withEffect">
                                  <p:stCondLst>
                                    <p:cond delay="0"/>
                                  </p:stCondLst>
                                  <p:childTnLst>
                                    <p:set>
                                      <p:cBhvr>
                                        <p:cTn id="27" dur="1" fill="hold">
                                          <p:stCondLst>
                                            <p:cond delay="0"/>
                                          </p:stCondLst>
                                        </p:cTn>
                                        <p:tgtEl>
                                          <p:spTgt spid="287"/>
                                        </p:tgtEl>
                                        <p:attrNameLst>
                                          <p:attrName>style.visibility</p:attrName>
                                        </p:attrNameLst>
                                      </p:cBhvr>
                                      <p:to>
                                        <p:strVal val="visible"/>
                                      </p:to>
                                    </p:set>
                                    <p:animEffect transition="in" filter="fade">
                                      <p:cBhvr>
                                        <p:cTn id="28" dur="5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1"/>
          <p:cNvSpPr/>
          <p:nvPr/>
        </p:nvSpPr>
        <p:spPr>
          <a:xfrm>
            <a:off x="573881" y="301466"/>
            <a:ext cx="7996238" cy="4102418"/>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28" name="Google Shape;328;p31"/>
          <p:cNvSpPr/>
          <p:nvPr/>
        </p:nvSpPr>
        <p:spPr>
          <a:xfrm>
            <a:off x="573881" y="301466"/>
            <a:ext cx="2377440" cy="4101941"/>
          </a:xfrm>
          <a:prstGeom prst="rect">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nvGrpSpPr>
          <p:cNvPr id="329" name="Google Shape;329;p31"/>
          <p:cNvGrpSpPr/>
          <p:nvPr/>
        </p:nvGrpSpPr>
        <p:grpSpPr>
          <a:xfrm>
            <a:off x="7416641" y="3250406"/>
            <a:ext cx="1153478" cy="1153478"/>
            <a:chOff x="15573" y="6825"/>
            <a:chExt cx="2422" cy="2422"/>
          </a:xfrm>
        </p:grpSpPr>
        <p:sp>
          <p:nvSpPr>
            <p:cNvPr id="330" name="Google Shape;330;p31"/>
            <p:cNvSpPr/>
            <p:nvPr/>
          </p:nvSpPr>
          <p:spPr>
            <a:xfrm flipH="1">
              <a:off x="15573" y="6825"/>
              <a:ext cx="2422" cy="2422"/>
            </a:xfrm>
            <a:prstGeom prst="rtTriangle">
              <a:avLst/>
            </a:prstGeom>
            <a:solidFill>
              <a:srgbClr val="3F3F3F">
                <a:alpha val="49803"/>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31" name="Google Shape;331;p31"/>
            <p:cNvSpPr/>
            <p:nvPr/>
          </p:nvSpPr>
          <p:spPr>
            <a:xfrm flipH="1">
              <a:off x="16017" y="7268"/>
              <a:ext cx="1978" cy="1978"/>
            </a:xfrm>
            <a:prstGeom prst="rtTriangl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32" name="Google Shape;332;p31"/>
            <p:cNvSpPr/>
            <p:nvPr/>
          </p:nvSpPr>
          <p:spPr>
            <a:xfrm flipH="1">
              <a:off x="16439" y="7690"/>
              <a:ext cx="1556" cy="1556"/>
            </a:xfrm>
            <a:prstGeom prst="rtTriangle">
              <a:avLst/>
            </a:prstGeom>
            <a:solidFill>
              <a:srgbClr val="3F3F3F">
                <a:alpha val="80000"/>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cxnSp>
        <p:nvCxnSpPr>
          <p:cNvPr id="333" name="Google Shape;333;p31"/>
          <p:cNvCxnSpPr/>
          <p:nvPr/>
        </p:nvCxnSpPr>
        <p:spPr>
          <a:xfrm>
            <a:off x="1474946" y="3101816"/>
            <a:ext cx="1250633" cy="0"/>
          </a:xfrm>
          <a:prstGeom prst="straightConnector1">
            <a:avLst/>
          </a:prstGeom>
          <a:noFill/>
          <a:ln w="19050" cap="flat" cmpd="sng">
            <a:solidFill>
              <a:schemeClr val="lt1"/>
            </a:solidFill>
            <a:prstDash val="solid"/>
            <a:miter lim="800000"/>
            <a:headEnd type="none" w="sm" len="sm"/>
            <a:tailEnd type="none" w="sm" len="sm"/>
          </a:ln>
        </p:spPr>
      </p:cxnSp>
      <p:sp>
        <p:nvSpPr>
          <p:cNvPr id="334" name="Google Shape;334;p31"/>
          <p:cNvSpPr txBox="1"/>
          <p:nvPr/>
        </p:nvSpPr>
        <p:spPr>
          <a:xfrm>
            <a:off x="1438751" y="1958340"/>
            <a:ext cx="1415891" cy="1222534"/>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500" b="1">
                <a:solidFill>
                  <a:schemeClr val="lt1"/>
                </a:solidFill>
                <a:latin typeface="Arial"/>
                <a:ea typeface="Arial"/>
                <a:cs typeface="Arial"/>
                <a:sym typeface="Arial"/>
              </a:rPr>
              <a:t>04</a:t>
            </a:r>
            <a:endParaRPr sz="7500" b="1">
              <a:solidFill>
                <a:schemeClr val="lt1"/>
              </a:solidFill>
              <a:latin typeface="Arial"/>
              <a:ea typeface="Arial"/>
              <a:cs typeface="Arial"/>
              <a:sym typeface="Arial"/>
            </a:endParaRPr>
          </a:p>
        </p:txBody>
      </p:sp>
      <p:sp>
        <p:nvSpPr>
          <p:cNvPr id="335" name="Google Shape;335;p31"/>
          <p:cNvSpPr txBox="1"/>
          <p:nvPr/>
        </p:nvSpPr>
        <p:spPr>
          <a:xfrm>
            <a:off x="1370647" y="1729740"/>
            <a:ext cx="1437322" cy="299085"/>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None/>
            </a:pPr>
            <a:r>
              <a:rPr lang="en" sz="1500" b="1">
                <a:solidFill>
                  <a:schemeClr val="lt1"/>
                </a:solidFill>
                <a:latin typeface="Microsoft Yahei"/>
                <a:ea typeface="Microsoft Yahei"/>
                <a:cs typeface="Microsoft Yahei"/>
                <a:sym typeface="Microsoft Yahei"/>
              </a:rPr>
              <a:t>PART FOUR</a:t>
            </a:r>
            <a:endParaRPr sz="1500" b="1">
              <a:solidFill>
                <a:schemeClr val="lt1"/>
              </a:solidFill>
              <a:latin typeface="Microsoft Yahei"/>
              <a:ea typeface="Microsoft Yahei"/>
              <a:cs typeface="Microsoft Yahei"/>
              <a:sym typeface="Microsoft Yahei"/>
            </a:endParaRPr>
          </a:p>
        </p:txBody>
      </p:sp>
      <p:sp>
        <p:nvSpPr>
          <p:cNvPr id="336" name="Google Shape;336;p31"/>
          <p:cNvSpPr txBox="1"/>
          <p:nvPr/>
        </p:nvSpPr>
        <p:spPr>
          <a:xfrm>
            <a:off x="3417110" y="2272670"/>
            <a:ext cx="3681900" cy="346200"/>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endParaRPr sz="1800" b="1">
              <a:solidFill>
                <a:srgbClr val="3F3F3F"/>
              </a:solidFill>
              <a:latin typeface="Microsoft Yahei"/>
              <a:ea typeface="Microsoft Yahei"/>
              <a:cs typeface="Microsoft Yahei"/>
              <a:sym typeface="Microsoft Yahei"/>
            </a:endParaRPr>
          </a:p>
        </p:txBody>
      </p:sp>
      <p:sp>
        <p:nvSpPr>
          <p:cNvPr id="337" name="Google Shape;337;p31"/>
          <p:cNvSpPr txBox="1"/>
          <p:nvPr/>
        </p:nvSpPr>
        <p:spPr>
          <a:xfrm>
            <a:off x="3417094" y="2617946"/>
            <a:ext cx="42111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None/>
            </a:pPr>
            <a:endParaRPr sz="900">
              <a:solidFill>
                <a:srgbClr val="3F3F3F"/>
              </a:solidFill>
              <a:latin typeface="Arial"/>
              <a:ea typeface="Arial"/>
              <a:cs typeface="Arial"/>
              <a:sym typeface="Arial"/>
            </a:endParaRPr>
          </a:p>
        </p:txBody>
      </p:sp>
      <p:sp>
        <p:nvSpPr>
          <p:cNvPr id="338" name="Google Shape;338;p31"/>
          <p:cNvSpPr txBox="1"/>
          <p:nvPr/>
        </p:nvSpPr>
        <p:spPr>
          <a:xfrm>
            <a:off x="3112625" y="2293025"/>
            <a:ext cx="5125500" cy="66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latin typeface="Microsoft Yahei"/>
                <a:ea typeface="Microsoft Yahei"/>
                <a:cs typeface="Microsoft Yahei"/>
                <a:sym typeface="Microsoft Yahei"/>
              </a:rPr>
              <a:t>Results &amp; Conclusions</a:t>
            </a:r>
            <a:endParaRPr sz="1800" b="1" dirty="0">
              <a:latin typeface="Microsoft Yahei"/>
              <a:ea typeface="Microsoft Yahei"/>
              <a:cs typeface="Microsoft Yahei"/>
              <a:sym typeface="Microsoft Yahei"/>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7"/>
                                        </p:tgtEl>
                                        <p:attrNameLst>
                                          <p:attrName>style.visibility</p:attrName>
                                        </p:attrNameLst>
                                      </p:cBhvr>
                                      <p:to>
                                        <p:strVal val="visible"/>
                                      </p:to>
                                    </p:set>
                                    <p:animEffect transition="in" filter="fade">
                                      <p:cBhvr>
                                        <p:cTn id="7" dur="500"/>
                                        <p:tgtEl>
                                          <p:spTgt spid="32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8"/>
                                        </p:tgtEl>
                                        <p:attrNameLst>
                                          <p:attrName>style.visibility</p:attrName>
                                        </p:attrNameLst>
                                      </p:cBhvr>
                                      <p:to>
                                        <p:strVal val="visible"/>
                                      </p:to>
                                    </p:set>
                                    <p:animEffect transition="in" filter="fade">
                                      <p:cBhvr>
                                        <p:cTn id="11" dur="500"/>
                                        <p:tgtEl>
                                          <p:spTgt spid="328"/>
                                        </p:tgtEl>
                                      </p:cBhvr>
                                    </p:animEffect>
                                  </p:childTnLst>
                                </p:cTn>
                              </p:par>
                              <p:par>
                                <p:cTn id="12" presetID="10" presetClass="entr" presetSubtype="0" fill="hold" nodeType="withEffect">
                                  <p:stCondLst>
                                    <p:cond delay="0"/>
                                  </p:stCondLst>
                                  <p:childTnLst>
                                    <p:set>
                                      <p:cBhvr>
                                        <p:cTn id="13" dur="1" fill="hold">
                                          <p:stCondLst>
                                            <p:cond delay="0"/>
                                          </p:stCondLst>
                                        </p:cTn>
                                        <p:tgtEl>
                                          <p:spTgt spid="329"/>
                                        </p:tgtEl>
                                        <p:attrNameLst>
                                          <p:attrName>style.visibility</p:attrName>
                                        </p:attrNameLst>
                                      </p:cBhvr>
                                      <p:to>
                                        <p:strVal val="visible"/>
                                      </p:to>
                                    </p:set>
                                    <p:animEffect transition="in" filter="fade">
                                      <p:cBhvr>
                                        <p:cTn id="14" dur="500"/>
                                        <p:tgtEl>
                                          <p:spTgt spid="329"/>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35"/>
                                        </p:tgtEl>
                                        <p:attrNameLst>
                                          <p:attrName>style.visibility</p:attrName>
                                        </p:attrNameLst>
                                      </p:cBhvr>
                                      <p:to>
                                        <p:strVal val="visible"/>
                                      </p:to>
                                    </p:set>
                                    <p:animEffect transition="in" filter="fade">
                                      <p:cBhvr>
                                        <p:cTn id="18" dur="500"/>
                                        <p:tgtEl>
                                          <p:spTgt spid="335"/>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334"/>
                                        </p:tgtEl>
                                        <p:attrNameLst>
                                          <p:attrName>style.visibility</p:attrName>
                                        </p:attrNameLst>
                                      </p:cBhvr>
                                      <p:to>
                                        <p:strVal val="visible"/>
                                      </p:to>
                                    </p:set>
                                    <p:animEffect transition="in" filter="fade">
                                      <p:cBhvr>
                                        <p:cTn id="22" dur="500"/>
                                        <p:tgtEl>
                                          <p:spTgt spid="334"/>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333"/>
                                        </p:tgtEl>
                                        <p:attrNameLst>
                                          <p:attrName>style.visibility</p:attrName>
                                        </p:attrNameLst>
                                      </p:cBhvr>
                                      <p:to>
                                        <p:strVal val="visible"/>
                                      </p:to>
                                    </p:set>
                                    <p:animEffect transition="in" filter="fade">
                                      <p:cBhvr>
                                        <p:cTn id="26" dur="500"/>
                                        <p:tgtEl>
                                          <p:spTgt spid="333"/>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336"/>
                                        </p:tgtEl>
                                        <p:attrNameLst>
                                          <p:attrName>style.visibility</p:attrName>
                                        </p:attrNameLst>
                                      </p:cBhvr>
                                      <p:to>
                                        <p:strVal val="visible"/>
                                      </p:to>
                                    </p:set>
                                    <p:animEffect transition="in" filter="fade">
                                      <p:cBhvr>
                                        <p:cTn id="30" dur="500"/>
                                        <p:tgtEl>
                                          <p:spTgt spid="336"/>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337"/>
                                        </p:tgtEl>
                                        <p:attrNameLst>
                                          <p:attrName>style.visibility</p:attrName>
                                        </p:attrNameLst>
                                      </p:cBhvr>
                                      <p:to>
                                        <p:strVal val="visible"/>
                                      </p:to>
                                    </p:set>
                                    <p:animEffect transition="in" filter="fade">
                                      <p:cBhvr>
                                        <p:cTn id="34" dur="5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343"/>
        <p:cNvGrpSpPr/>
        <p:nvPr/>
      </p:nvGrpSpPr>
      <p:grpSpPr>
        <a:xfrm>
          <a:off x="0" y="0"/>
          <a:ext cx="0" cy="0"/>
          <a:chOff x="0" y="0"/>
          <a:chExt cx="0" cy="0"/>
        </a:xfrm>
      </p:grpSpPr>
      <p:sp>
        <p:nvSpPr>
          <p:cNvPr id="344" name="Google Shape;344;p32"/>
          <p:cNvSpPr/>
          <p:nvPr/>
        </p:nvSpPr>
        <p:spPr>
          <a:xfrm>
            <a:off x="148114" y="163354"/>
            <a:ext cx="8847772" cy="4816316"/>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45" name="Google Shape;345;p32"/>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346" name="Google Shape;346;p32"/>
          <p:cNvSpPr txBox="1"/>
          <p:nvPr/>
        </p:nvSpPr>
        <p:spPr>
          <a:xfrm>
            <a:off x="1068943" y="2877501"/>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47" name="Google Shape;347;p32"/>
          <p:cNvSpPr txBox="1"/>
          <p:nvPr/>
        </p:nvSpPr>
        <p:spPr>
          <a:xfrm>
            <a:off x="714851" y="3164681"/>
            <a:ext cx="19122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48" name="Google Shape;348;p32"/>
          <p:cNvSpPr txBox="1"/>
          <p:nvPr/>
        </p:nvSpPr>
        <p:spPr>
          <a:xfrm>
            <a:off x="4161711" y="2881741"/>
            <a:ext cx="1203900" cy="2385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49" name="Google Shape;349;p32"/>
          <p:cNvSpPr txBox="1"/>
          <p:nvPr/>
        </p:nvSpPr>
        <p:spPr>
          <a:xfrm>
            <a:off x="3596640" y="3164681"/>
            <a:ext cx="19530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50" name="Google Shape;350;p32"/>
          <p:cNvSpPr txBox="1"/>
          <p:nvPr/>
        </p:nvSpPr>
        <p:spPr>
          <a:xfrm>
            <a:off x="6870145" y="2877501"/>
            <a:ext cx="1203900" cy="2385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51" name="Google Shape;351;p32"/>
          <p:cNvSpPr txBox="1"/>
          <p:nvPr/>
        </p:nvSpPr>
        <p:spPr>
          <a:xfrm>
            <a:off x="6490335" y="3164681"/>
            <a:ext cx="19635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52" name="Google Shape;352;p32"/>
          <p:cNvSpPr txBox="1"/>
          <p:nvPr/>
        </p:nvSpPr>
        <p:spPr>
          <a:xfrm>
            <a:off x="235750" y="303125"/>
            <a:ext cx="4849800" cy="109719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2200" b="1" dirty="0">
                <a:solidFill>
                  <a:schemeClr val="dk1"/>
                </a:solidFill>
              </a:rPr>
              <a:t>Results</a:t>
            </a:r>
            <a:endParaRPr sz="2200" b="1" dirty="0">
              <a:solidFill>
                <a:schemeClr val="dk1"/>
              </a:solidFill>
            </a:endParaRPr>
          </a:p>
          <a:p>
            <a:pPr marL="0" lvl="0" indent="0" algn="l" rtl="0">
              <a:spcBef>
                <a:spcPts val="1200"/>
              </a:spcBef>
              <a:spcAft>
                <a:spcPts val="0"/>
              </a:spcAft>
              <a:buNone/>
            </a:pPr>
            <a:endParaRPr dirty="0"/>
          </a:p>
        </p:txBody>
      </p:sp>
      <p:sp>
        <p:nvSpPr>
          <p:cNvPr id="353" name="Google Shape;353;p32"/>
          <p:cNvSpPr txBox="1"/>
          <p:nvPr/>
        </p:nvSpPr>
        <p:spPr>
          <a:xfrm>
            <a:off x="335050" y="1129450"/>
            <a:ext cx="8409300" cy="2842286"/>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0"/>
              </a:spcAft>
              <a:buNone/>
            </a:pPr>
            <a:r>
              <a:rPr lang="en-US" dirty="0"/>
              <a:t>Baseline Model Performance (Random Forest)</a:t>
            </a:r>
          </a:p>
          <a:p>
            <a:pPr marL="457200" lvl="0" indent="0" algn="l" rtl="0">
              <a:lnSpc>
                <a:spcPct val="115000"/>
              </a:lnSpc>
              <a:spcBef>
                <a:spcPts val="1200"/>
              </a:spcBef>
              <a:spcAft>
                <a:spcPts val="0"/>
              </a:spcAft>
              <a:buNone/>
            </a:pPr>
            <a:r>
              <a:rPr lang="en-US" dirty="0"/>
              <a:t>Accuracy: 43.2%</a:t>
            </a:r>
          </a:p>
          <a:p>
            <a:pPr marL="457200" lvl="0" indent="0" algn="l" rtl="0">
              <a:lnSpc>
                <a:spcPct val="115000"/>
              </a:lnSpc>
              <a:spcBef>
                <a:spcPts val="1200"/>
              </a:spcBef>
              <a:spcAft>
                <a:spcPts val="0"/>
              </a:spcAft>
              <a:buNone/>
            </a:pPr>
            <a:r>
              <a:rPr lang="en-US" dirty="0"/>
              <a:t>Precision: 48.9%</a:t>
            </a:r>
          </a:p>
          <a:p>
            <a:pPr marL="457200" lvl="0" indent="0" algn="l" rtl="0">
              <a:lnSpc>
                <a:spcPct val="115000"/>
              </a:lnSpc>
              <a:spcBef>
                <a:spcPts val="1200"/>
              </a:spcBef>
              <a:spcAft>
                <a:spcPts val="0"/>
              </a:spcAft>
              <a:buNone/>
            </a:pPr>
            <a:r>
              <a:rPr lang="en-US" dirty="0"/>
              <a:t>Recall: 48.2%</a:t>
            </a:r>
          </a:p>
          <a:p>
            <a:pPr marL="457200" lvl="0" indent="0" algn="l" rtl="0">
              <a:lnSpc>
                <a:spcPct val="115000"/>
              </a:lnSpc>
              <a:spcBef>
                <a:spcPts val="1200"/>
              </a:spcBef>
              <a:spcAft>
                <a:spcPts val="0"/>
              </a:spcAft>
              <a:buNone/>
            </a:pPr>
            <a:r>
              <a:rPr lang="en-US" dirty="0"/>
              <a:t>F1 Score: 48.6%</a:t>
            </a:r>
          </a:p>
          <a:p>
            <a:pPr marL="457200" lvl="0" indent="0" algn="l" rtl="0">
              <a:lnSpc>
                <a:spcPct val="115000"/>
              </a:lnSpc>
              <a:spcBef>
                <a:spcPts val="1200"/>
              </a:spcBef>
              <a:spcAft>
                <a:spcPts val="0"/>
              </a:spcAft>
              <a:buNone/>
            </a:pPr>
            <a:r>
              <a:rPr lang="en-US" dirty="0"/>
              <a:t>Interpretation : The baseline Random Forest model performs significantly better than random guessing (which would be ~33% for a 3-class problem), but still leaves room for improvement.</a:t>
            </a:r>
            <a:endParaRPr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45"/>
                                        </p:tgtEl>
                                        <p:attrNameLst>
                                          <p:attrName>style.visibility</p:attrName>
                                        </p:attrNameLst>
                                      </p:cBhvr>
                                      <p:to>
                                        <p:strVal val="visible"/>
                                      </p:to>
                                    </p:set>
                                    <p:anim calcmode="lin" valueType="num">
                                      <p:cBhvr additive="base">
                                        <p:cTn id="7" dur="500"/>
                                        <p:tgtEl>
                                          <p:spTgt spid="345"/>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46"/>
                                        </p:tgtEl>
                                        <p:attrNameLst>
                                          <p:attrName>style.visibility</p:attrName>
                                        </p:attrNameLst>
                                      </p:cBhvr>
                                      <p:to>
                                        <p:strVal val="visible"/>
                                      </p:to>
                                    </p:set>
                                    <p:animEffect transition="in" filter="fade">
                                      <p:cBhvr>
                                        <p:cTn id="11" dur="500"/>
                                        <p:tgtEl>
                                          <p:spTgt spid="346"/>
                                        </p:tgtEl>
                                      </p:cBhvr>
                                    </p:animEffect>
                                  </p:childTnLst>
                                </p:cTn>
                              </p:par>
                              <p:par>
                                <p:cTn id="12" presetID="10" presetClass="entr" presetSubtype="0" fill="hold" nodeType="withEffect">
                                  <p:stCondLst>
                                    <p:cond delay="0"/>
                                  </p:stCondLst>
                                  <p:childTnLst>
                                    <p:set>
                                      <p:cBhvr>
                                        <p:cTn id="13" dur="1" fill="hold">
                                          <p:stCondLst>
                                            <p:cond delay="0"/>
                                          </p:stCondLst>
                                        </p:cTn>
                                        <p:tgtEl>
                                          <p:spTgt spid="347"/>
                                        </p:tgtEl>
                                        <p:attrNameLst>
                                          <p:attrName>style.visibility</p:attrName>
                                        </p:attrNameLst>
                                      </p:cBhvr>
                                      <p:to>
                                        <p:strVal val="visible"/>
                                      </p:to>
                                    </p:set>
                                    <p:animEffect transition="in" filter="fade">
                                      <p:cBhvr>
                                        <p:cTn id="14" dur="500"/>
                                        <p:tgtEl>
                                          <p:spTgt spid="347"/>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48"/>
                                        </p:tgtEl>
                                        <p:attrNameLst>
                                          <p:attrName>style.visibility</p:attrName>
                                        </p:attrNameLst>
                                      </p:cBhvr>
                                      <p:to>
                                        <p:strVal val="visible"/>
                                      </p:to>
                                    </p:set>
                                    <p:animEffect transition="in" filter="fade">
                                      <p:cBhvr>
                                        <p:cTn id="18" dur="500"/>
                                        <p:tgtEl>
                                          <p:spTgt spid="348"/>
                                        </p:tgtEl>
                                      </p:cBhvr>
                                    </p:animEffect>
                                  </p:childTnLst>
                                </p:cTn>
                              </p:par>
                              <p:par>
                                <p:cTn id="19" presetID="10" presetClass="entr" presetSubtype="0" fill="hold" nodeType="withEffect">
                                  <p:stCondLst>
                                    <p:cond delay="0"/>
                                  </p:stCondLst>
                                  <p:childTnLst>
                                    <p:set>
                                      <p:cBhvr>
                                        <p:cTn id="20" dur="1" fill="hold">
                                          <p:stCondLst>
                                            <p:cond delay="0"/>
                                          </p:stCondLst>
                                        </p:cTn>
                                        <p:tgtEl>
                                          <p:spTgt spid="349"/>
                                        </p:tgtEl>
                                        <p:attrNameLst>
                                          <p:attrName>style.visibility</p:attrName>
                                        </p:attrNameLst>
                                      </p:cBhvr>
                                      <p:to>
                                        <p:strVal val="visible"/>
                                      </p:to>
                                    </p:set>
                                    <p:animEffect transition="in" filter="fade">
                                      <p:cBhvr>
                                        <p:cTn id="21" dur="500"/>
                                        <p:tgtEl>
                                          <p:spTgt spid="349"/>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350"/>
                                        </p:tgtEl>
                                        <p:attrNameLst>
                                          <p:attrName>style.visibility</p:attrName>
                                        </p:attrNameLst>
                                      </p:cBhvr>
                                      <p:to>
                                        <p:strVal val="visible"/>
                                      </p:to>
                                    </p:set>
                                    <p:animEffect transition="in" filter="fade">
                                      <p:cBhvr>
                                        <p:cTn id="25" dur="500"/>
                                        <p:tgtEl>
                                          <p:spTgt spid="350"/>
                                        </p:tgtEl>
                                      </p:cBhvr>
                                    </p:animEffect>
                                  </p:childTnLst>
                                </p:cTn>
                              </p:par>
                              <p:par>
                                <p:cTn id="26" presetID="10" presetClass="entr" presetSubtype="0" fill="hold" nodeType="withEffect">
                                  <p:stCondLst>
                                    <p:cond delay="0"/>
                                  </p:stCondLst>
                                  <p:childTnLst>
                                    <p:set>
                                      <p:cBhvr>
                                        <p:cTn id="27" dur="1" fill="hold">
                                          <p:stCondLst>
                                            <p:cond delay="0"/>
                                          </p:stCondLst>
                                        </p:cTn>
                                        <p:tgtEl>
                                          <p:spTgt spid="351"/>
                                        </p:tgtEl>
                                        <p:attrNameLst>
                                          <p:attrName>style.visibility</p:attrName>
                                        </p:attrNameLst>
                                      </p:cBhvr>
                                      <p:to>
                                        <p:strVal val="visible"/>
                                      </p:to>
                                    </p:set>
                                    <p:animEffect transition="in" filter="fade">
                                      <p:cBhvr>
                                        <p:cTn id="28"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343">
          <a:extLst>
            <a:ext uri="{FF2B5EF4-FFF2-40B4-BE49-F238E27FC236}">
              <a16:creationId xmlns:a16="http://schemas.microsoft.com/office/drawing/2014/main" id="{B04941C0-58A8-59AB-DFF3-F85E59790DEC}"/>
            </a:ext>
          </a:extLst>
        </p:cNvPr>
        <p:cNvGrpSpPr/>
        <p:nvPr/>
      </p:nvGrpSpPr>
      <p:grpSpPr>
        <a:xfrm>
          <a:off x="0" y="0"/>
          <a:ext cx="0" cy="0"/>
          <a:chOff x="0" y="0"/>
          <a:chExt cx="0" cy="0"/>
        </a:xfrm>
      </p:grpSpPr>
      <p:sp>
        <p:nvSpPr>
          <p:cNvPr id="344" name="Google Shape;344;p32">
            <a:extLst>
              <a:ext uri="{FF2B5EF4-FFF2-40B4-BE49-F238E27FC236}">
                <a16:creationId xmlns:a16="http://schemas.microsoft.com/office/drawing/2014/main" id="{EA161800-4CFF-E810-0C6D-CB6599E28FCA}"/>
              </a:ext>
            </a:extLst>
          </p:cNvPr>
          <p:cNvSpPr/>
          <p:nvPr/>
        </p:nvSpPr>
        <p:spPr>
          <a:xfrm>
            <a:off x="148114" y="163354"/>
            <a:ext cx="8847772" cy="4816316"/>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45" name="Google Shape;345;p32">
            <a:extLst>
              <a:ext uri="{FF2B5EF4-FFF2-40B4-BE49-F238E27FC236}">
                <a16:creationId xmlns:a16="http://schemas.microsoft.com/office/drawing/2014/main" id="{9AA276EA-CD39-2781-3A5E-995EF4BDE0A6}"/>
              </a:ext>
            </a:extLst>
          </p:cNvPr>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346" name="Google Shape;346;p32">
            <a:extLst>
              <a:ext uri="{FF2B5EF4-FFF2-40B4-BE49-F238E27FC236}">
                <a16:creationId xmlns:a16="http://schemas.microsoft.com/office/drawing/2014/main" id="{487948F7-3105-44A0-35EC-22D45AFB3A65}"/>
              </a:ext>
            </a:extLst>
          </p:cNvPr>
          <p:cNvSpPr txBox="1"/>
          <p:nvPr/>
        </p:nvSpPr>
        <p:spPr>
          <a:xfrm>
            <a:off x="1068943" y="2877501"/>
            <a:ext cx="12039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47" name="Google Shape;347;p32">
            <a:extLst>
              <a:ext uri="{FF2B5EF4-FFF2-40B4-BE49-F238E27FC236}">
                <a16:creationId xmlns:a16="http://schemas.microsoft.com/office/drawing/2014/main" id="{A14383B0-5E05-ADF4-BF69-986927F7C872}"/>
              </a:ext>
            </a:extLst>
          </p:cNvPr>
          <p:cNvSpPr txBox="1"/>
          <p:nvPr/>
        </p:nvSpPr>
        <p:spPr>
          <a:xfrm>
            <a:off x="714851" y="3164681"/>
            <a:ext cx="19122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48" name="Google Shape;348;p32">
            <a:extLst>
              <a:ext uri="{FF2B5EF4-FFF2-40B4-BE49-F238E27FC236}">
                <a16:creationId xmlns:a16="http://schemas.microsoft.com/office/drawing/2014/main" id="{9BFC2567-C1D2-4CCD-3C3B-7FE63D6239CA}"/>
              </a:ext>
            </a:extLst>
          </p:cNvPr>
          <p:cNvSpPr txBox="1"/>
          <p:nvPr/>
        </p:nvSpPr>
        <p:spPr>
          <a:xfrm>
            <a:off x="4161711" y="2881741"/>
            <a:ext cx="1203900" cy="2385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49" name="Google Shape;349;p32">
            <a:extLst>
              <a:ext uri="{FF2B5EF4-FFF2-40B4-BE49-F238E27FC236}">
                <a16:creationId xmlns:a16="http://schemas.microsoft.com/office/drawing/2014/main" id="{365E5B15-F9B9-E4F7-75C0-70AA1B7567E8}"/>
              </a:ext>
            </a:extLst>
          </p:cNvPr>
          <p:cNvSpPr txBox="1"/>
          <p:nvPr/>
        </p:nvSpPr>
        <p:spPr>
          <a:xfrm>
            <a:off x="3596640" y="3164681"/>
            <a:ext cx="19530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50" name="Google Shape;350;p32">
            <a:extLst>
              <a:ext uri="{FF2B5EF4-FFF2-40B4-BE49-F238E27FC236}">
                <a16:creationId xmlns:a16="http://schemas.microsoft.com/office/drawing/2014/main" id="{6CE98A04-D856-F23A-4A3F-920AE5FD38B7}"/>
              </a:ext>
            </a:extLst>
          </p:cNvPr>
          <p:cNvSpPr txBox="1"/>
          <p:nvPr/>
        </p:nvSpPr>
        <p:spPr>
          <a:xfrm>
            <a:off x="6870145" y="2877501"/>
            <a:ext cx="1203900" cy="2385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51" name="Google Shape;351;p32">
            <a:extLst>
              <a:ext uri="{FF2B5EF4-FFF2-40B4-BE49-F238E27FC236}">
                <a16:creationId xmlns:a16="http://schemas.microsoft.com/office/drawing/2014/main" id="{F7158D28-4530-5AAD-056F-E7119257267E}"/>
              </a:ext>
            </a:extLst>
          </p:cNvPr>
          <p:cNvSpPr txBox="1"/>
          <p:nvPr/>
        </p:nvSpPr>
        <p:spPr>
          <a:xfrm>
            <a:off x="6490335" y="3164681"/>
            <a:ext cx="19635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endParaRPr sz="800">
              <a:solidFill>
                <a:srgbClr val="3F3F3F"/>
              </a:solidFill>
              <a:latin typeface="Lora"/>
              <a:ea typeface="Lora"/>
              <a:cs typeface="Lora"/>
              <a:sym typeface="Lora"/>
            </a:endParaRPr>
          </a:p>
        </p:txBody>
      </p:sp>
      <p:sp>
        <p:nvSpPr>
          <p:cNvPr id="352" name="Google Shape;352;p32">
            <a:extLst>
              <a:ext uri="{FF2B5EF4-FFF2-40B4-BE49-F238E27FC236}">
                <a16:creationId xmlns:a16="http://schemas.microsoft.com/office/drawing/2014/main" id="{5B613158-5EBC-AAA5-4ACF-23B86268C1F6}"/>
              </a:ext>
            </a:extLst>
          </p:cNvPr>
          <p:cNvSpPr txBox="1"/>
          <p:nvPr/>
        </p:nvSpPr>
        <p:spPr>
          <a:xfrm>
            <a:off x="235750" y="303125"/>
            <a:ext cx="4849800" cy="109719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2200" b="1" dirty="0">
                <a:solidFill>
                  <a:schemeClr val="dk1"/>
                </a:solidFill>
              </a:rPr>
              <a:t>Results</a:t>
            </a:r>
            <a:endParaRPr sz="2200" b="1" dirty="0">
              <a:solidFill>
                <a:schemeClr val="dk1"/>
              </a:solidFill>
            </a:endParaRPr>
          </a:p>
          <a:p>
            <a:pPr marL="0" lvl="0" indent="0" algn="l" rtl="0">
              <a:spcBef>
                <a:spcPts val="1200"/>
              </a:spcBef>
              <a:spcAft>
                <a:spcPts val="0"/>
              </a:spcAft>
              <a:buNone/>
            </a:pPr>
            <a:endParaRPr dirty="0"/>
          </a:p>
        </p:txBody>
      </p:sp>
      <p:sp>
        <p:nvSpPr>
          <p:cNvPr id="353" name="Google Shape;353;p32">
            <a:extLst>
              <a:ext uri="{FF2B5EF4-FFF2-40B4-BE49-F238E27FC236}">
                <a16:creationId xmlns:a16="http://schemas.microsoft.com/office/drawing/2014/main" id="{7B89ECB0-3E42-7332-2CE6-B8E582001766}"/>
              </a:ext>
            </a:extLst>
          </p:cNvPr>
          <p:cNvSpPr txBox="1"/>
          <p:nvPr/>
        </p:nvSpPr>
        <p:spPr>
          <a:xfrm>
            <a:off x="335050" y="1129450"/>
            <a:ext cx="8409300" cy="2842286"/>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1200"/>
              </a:spcBef>
              <a:spcAft>
                <a:spcPts val="0"/>
              </a:spcAft>
              <a:buNone/>
            </a:pPr>
            <a:r>
              <a:rPr lang="en-US" dirty="0"/>
              <a:t>Tuned Model (</a:t>
            </a:r>
            <a:r>
              <a:rPr lang="en-US" dirty="0" err="1"/>
              <a:t>GridSearchCV</a:t>
            </a:r>
            <a:r>
              <a:rPr lang="en-US" dirty="0"/>
              <a:t>)</a:t>
            </a:r>
          </a:p>
          <a:p>
            <a:pPr marL="457200" lvl="0" indent="0" algn="l" rtl="0">
              <a:lnSpc>
                <a:spcPct val="115000"/>
              </a:lnSpc>
              <a:spcBef>
                <a:spcPts val="1200"/>
              </a:spcBef>
              <a:spcAft>
                <a:spcPts val="0"/>
              </a:spcAft>
              <a:buNone/>
            </a:pPr>
            <a:r>
              <a:rPr lang="en-US" dirty="0"/>
              <a:t>Accuracy: 46.4%</a:t>
            </a:r>
          </a:p>
          <a:p>
            <a:pPr marL="457200" lvl="0" indent="0" algn="l" rtl="0">
              <a:lnSpc>
                <a:spcPct val="115000"/>
              </a:lnSpc>
              <a:spcBef>
                <a:spcPts val="1200"/>
              </a:spcBef>
              <a:spcAft>
                <a:spcPts val="0"/>
              </a:spcAft>
              <a:buNone/>
            </a:pPr>
            <a:r>
              <a:rPr lang="en-US" dirty="0"/>
              <a:t>Precision: 51.8%</a:t>
            </a:r>
          </a:p>
          <a:p>
            <a:pPr marL="457200" lvl="0" indent="0" algn="l" rtl="0">
              <a:lnSpc>
                <a:spcPct val="115000"/>
              </a:lnSpc>
              <a:spcBef>
                <a:spcPts val="1200"/>
              </a:spcBef>
              <a:spcAft>
                <a:spcPts val="0"/>
              </a:spcAft>
              <a:buNone/>
            </a:pPr>
            <a:r>
              <a:rPr lang="en-US" dirty="0"/>
              <a:t>Recall: 51.1%F1 </a:t>
            </a:r>
          </a:p>
          <a:p>
            <a:pPr marL="457200" lvl="0" indent="0" algn="l" rtl="0">
              <a:lnSpc>
                <a:spcPct val="115000"/>
              </a:lnSpc>
              <a:spcBef>
                <a:spcPts val="1200"/>
              </a:spcBef>
              <a:spcAft>
                <a:spcPts val="0"/>
              </a:spcAft>
              <a:buNone/>
            </a:pPr>
            <a:r>
              <a:rPr lang="en-US" dirty="0"/>
              <a:t>Score: 51.4%</a:t>
            </a:r>
          </a:p>
          <a:p>
            <a:pPr marL="457200" lvl="0" indent="0" algn="l" rtl="0">
              <a:lnSpc>
                <a:spcPct val="115000"/>
              </a:lnSpc>
              <a:spcBef>
                <a:spcPts val="1200"/>
              </a:spcBef>
              <a:spcAft>
                <a:spcPts val="0"/>
              </a:spcAft>
              <a:buNone/>
            </a:pPr>
            <a:r>
              <a:rPr lang="en-US" dirty="0" err="1"/>
              <a:t>Interpretation:Hyperparameter</a:t>
            </a:r>
            <a:r>
              <a:rPr lang="en-US" dirty="0"/>
              <a:t> tuning via </a:t>
            </a:r>
            <a:r>
              <a:rPr lang="en-US" dirty="0" err="1"/>
              <a:t>GridSearchCV</a:t>
            </a:r>
            <a:r>
              <a:rPr lang="en-US" dirty="0"/>
              <a:t> improved all metrics, especially precision and recall, indicating a better balance between false positives and false negatives.</a:t>
            </a:r>
            <a:endParaRPr dirty="0"/>
          </a:p>
        </p:txBody>
      </p:sp>
    </p:spTree>
    <p:extLst>
      <p:ext uri="{BB962C8B-B14F-4D97-AF65-F5344CB8AC3E}">
        <p14:creationId xmlns:p14="http://schemas.microsoft.com/office/powerpoint/2010/main" val="184194596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45"/>
                                        </p:tgtEl>
                                        <p:attrNameLst>
                                          <p:attrName>style.visibility</p:attrName>
                                        </p:attrNameLst>
                                      </p:cBhvr>
                                      <p:to>
                                        <p:strVal val="visible"/>
                                      </p:to>
                                    </p:set>
                                    <p:anim calcmode="lin" valueType="num">
                                      <p:cBhvr additive="base">
                                        <p:cTn id="7" dur="500"/>
                                        <p:tgtEl>
                                          <p:spTgt spid="345"/>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46"/>
                                        </p:tgtEl>
                                        <p:attrNameLst>
                                          <p:attrName>style.visibility</p:attrName>
                                        </p:attrNameLst>
                                      </p:cBhvr>
                                      <p:to>
                                        <p:strVal val="visible"/>
                                      </p:to>
                                    </p:set>
                                    <p:animEffect transition="in" filter="fade">
                                      <p:cBhvr>
                                        <p:cTn id="11" dur="500"/>
                                        <p:tgtEl>
                                          <p:spTgt spid="346"/>
                                        </p:tgtEl>
                                      </p:cBhvr>
                                    </p:animEffect>
                                  </p:childTnLst>
                                </p:cTn>
                              </p:par>
                              <p:par>
                                <p:cTn id="12" presetID="10" presetClass="entr" presetSubtype="0" fill="hold" nodeType="withEffect">
                                  <p:stCondLst>
                                    <p:cond delay="0"/>
                                  </p:stCondLst>
                                  <p:childTnLst>
                                    <p:set>
                                      <p:cBhvr>
                                        <p:cTn id="13" dur="1" fill="hold">
                                          <p:stCondLst>
                                            <p:cond delay="0"/>
                                          </p:stCondLst>
                                        </p:cTn>
                                        <p:tgtEl>
                                          <p:spTgt spid="347"/>
                                        </p:tgtEl>
                                        <p:attrNameLst>
                                          <p:attrName>style.visibility</p:attrName>
                                        </p:attrNameLst>
                                      </p:cBhvr>
                                      <p:to>
                                        <p:strVal val="visible"/>
                                      </p:to>
                                    </p:set>
                                    <p:animEffect transition="in" filter="fade">
                                      <p:cBhvr>
                                        <p:cTn id="14" dur="500"/>
                                        <p:tgtEl>
                                          <p:spTgt spid="347"/>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48"/>
                                        </p:tgtEl>
                                        <p:attrNameLst>
                                          <p:attrName>style.visibility</p:attrName>
                                        </p:attrNameLst>
                                      </p:cBhvr>
                                      <p:to>
                                        <p:strVal val="visible"/>
                                      </p:to>
                                    </p:set>
                                    <p:animEffect transition="in" filter="fade">
                                      <p:cBhvr>
                                        <p:cTn id="18" dur="500"/>
                                        <p:tgtEl>
                                          <p:spTgt spid="348"/>
                                        </p:tgtEl>
                                      </p:cBhvr>
                                    </p:animEffect>
                                  </p:childTnLst>
                                </p:cTn>
                              </p:par>
                              <p:par>
                                <p:cTn id="19" presetID="10" presetClass="entr" presetSubtype="0" fill="hold" nodeType="withEffect">
                                  <p:stCondLst>
                                    <p:cond delay="0"/>
                                  </p:stCondLst>
                                  <p:childTnLst>
                                    <p:set>
                                      <p:cBhvr>
                                        <p:cTn id="20" dur="1" fill="hold">
                                          <p:stCondLst>
                                            <p:cond delay="0"/>
                                          </p:stCondLst>
                                        </p:cTn>
                                        <p:tgtEl>
                                          <p:spTgt spid="349"/>
                                        </p:tgtEl>
                                        <p:attrNameLst>
                                          <p:attrName>style.visibility</p:attrName>
                                        </p:attrNameLst>
                                      </p:cBhvr>
                                      <p:to>
                                        <p:strVal val="visible"/>
                                      </p:to>
                                    </p:set>
                                    <p:animEffect transition="in" filter="fade">
                                      <p:cBhvr>
                                        <p:cTn id="21" dur="500"/>
                                        <p:tgtEl>
                                          <p:spTgt spid="349"/>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350"/>
                                        </p:tgtEl>
                                        <p:attrNameLst>
                                          <p:attrName>style.visibility</p:attrName>
                                        </p:attrNameLst>
                                      </p:cBhvr>
                                      <p:to>
                                        <p:strVal val="visible"/>
                                      </p:to>
                                    </p:set>
                                    <p:animEffect transition="in" filter="fade">
                                      <p:cBhvr>
                                        <p:cTn id="25" dur="500"/>
                                        <p:tgtEl>
                                          <p:spTgt spid="350"/>
                                        </p:tgtEl>
                                      </p:cBhvr>
                                    </p:animEffect>
                                  </p:childTnLst>
                                </p:cTn>
                              </p:par>
                              <p:par>
                                <p:cTn id="26" presetID="10" presetClass="entr" presetSubtype="0" fill="hold" nodeType="withEffect">
                                  <p:stCondLst>
                                    <p:cond delay="0"/>
                                  </p:stCondLst>
                                  <p:childTnLst>
                                    <p:set>
                                      <p:cBhvr>
                                        <p:cTn id="27" dur="1" fill="hold">
                                          <p:stCondLst>
                                            <p:cond delay="0"/>
                                          </p:stCondLst>
                                        </p:cTn>
                                        <p:tgtEl>
                                          <p:spTgt spid="351"/>
                                        </p:tgtEl>
                                        <p:attrNameLst>
                                          <p:attrName>style.visibility</p:attrName>
                                        </p:attrNameLst>
                                      </p:cBhvr>
                                      <p:to>
                                        <p:strVal val="visible"/>
                                      </p:to>
                                    </p:set>
                                    <p:animEffect transition="in" filter="fade">
                                      <p:cBhvr>
                                        <p:cTn id="28" dur="500"/>
                                        <p:tgtEl>
                                          <p:spTgt spid="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371"/>
        <p:cNvGrpSpPr/>
        <p:nvPr/>
      </p:nvGrpSpPr>
      <p:grpSpPr>
        <a:xfrm>
          <a:off x="0" y="0"/>
          <a:ext cx="0" cy="0"/>
          <a:chOff x="0" y="0"/>
          <a:chExt cx="0" cy="0"/>
        </a:xfrm>
      </p:grpSpPr>
      <p:sp>
        <p:nvSpPr>
          <p:cNvPr id="372" name="Google Shape;372;p34"/>
          <p:cNvSpPr/>
          <p:nvPr/>
        </p:nvSpPr>
        <p:spPr>
          <a:xfrm>
            <a:off x="148039" y="1636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73" name="Google Shape;373;p34"/>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374" name="Google Shape;374;p34"/>
          <p:cNvSpPr/>
          <p:nvPr/>
        </p:nvSpPr>
        <p:spPr>
          <a:xfrm>
            <a:off x="5199221" y="1265376"/>
            <a:ext cx="1203960" cy="23002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75" name="Google Shape;375;p34"/>
          <p:cNvSpPr/>
          <p:nvPr/>
        </p:nvSpPr>
        <p:spPr>
          <a:xfrm>
            <a:off x="4826521" y="1516829"/>
            <a:ext cx="31443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376" name="Google Shape;376;p34"/>
          <p:cNvSpPr/>
          <p:nvPr/>
        </p:nvSpPr>
        <p:spPr>
          <a:xfrm>
            <a:off x="5199221" y="2339320"/>
            <a:ext cx="1203960" cy="23002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77" name="Google Shape;377;p34"/>
          <p:cNvSpPr/>
          <p:nvPr/>
        </p:nvSpPr>
        <p:spPr>
          <a:xfrm>
            <a:off x="4685821" y="2533123"/>
            <a:ext cx="31443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378" name="Google Shape;378;p34"/>
          <p:cNvSpPr/>
          <p:nvPr/>
        </p:nvSpPr>
        <p:spPr>
          <a:xfrm>
            <a:off x="5093799" y="3421817"/>
            <a:ext cx="1309500" cy="414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79" name="Google Shape;379;p34"/>
          <p:cNvSpPr/>
          <p:nvPr/>
        </p:nvSpPr>
        <p:spPr>
          <a:xfrm>
            <a:off x="4039671" y="3836714"/>
            <a:ext cx="31443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380" name="Google Shape;380;p34"/>
          <p:cNvSpPr txBox="1"/>
          <p:nvPr/>
        </p:nvSpPr>
        <p:spPr>
          <a:xfrm>
            <a:off x="445950" y="331450"/>
            <a:ext cx="80904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t>Conclusion</a:t>
            </a:r>
            <a:endParaRPr sz="2200" b="1" dirty="0"/>
          </a:p>
        </p:txBody>
      </p:sp>
      <p:sp>
        <p:nvSpPr>
          <p:cNvPr id="381" name="Google Shape;381;p34"/>
          <p:cNvSpPr txBox="1"/>
          <p:nvPr/>
        </p:nvSpPr>
        <p:spPr>
          <a:xfrm>
            <a:off x="558145" y="869323"/>
            <a:ext cx="8208000" cy="3742500"/>
          </a:xfrm>
          <a:prstGeom prst="rect">
            <a:avLst/>
          </a:prstGeom>
          <a:noFill/>
          <a:ln>
            <a:noFill/>
          </a:ln>
        </p:spPr>
        <p:txBody>
          <a:bodyPr spcFirstLastPara="1" wrap="square" lIns="91425" tIns="91425" rIns="91425" bIns="91425" anchor="t" anchorCtr="0">
            <a:noAutofit/>
          </a:bodyPr>
          <a:lstStyle/>
          <a:p>
            <a:pPr lvl="0" algn="l" rtl="0">
              <a:lnSpc>
                <a:spcPct val="115000"/>
              </a:lnSpc>
              <a:spcBef>
                <a:spcPts val="1200"/>
              </a:spcBef>
              <a:spcAft>
                <a:spcPts val="0"/>
              </a:spcAft>
              <a:buClr>
                <a:schemeClr val="dk1"/>
              </a:buClr>
              <a:buSzPts val="1100"/>
            </a:pPr>
            <a:r>
              <a:rPr lang="en-US" sz="1600" dirty="0">
                <a:solidFill>
                  <a:schemeClr val="dk1"/>
                </a:solidFill>
              </a:rPr>
              <a:t>1. Predictive Value </a:t>
            </a:r>
            <a:r>
              <a:rPr lang="en-US" sz="1600" dirty="0" err="1">
                <a:solidFill>
                  <a:schemeClr val="dk1"/>
                </a:solidFill>
              </a:rPr>
              <a:t>ExistsEven</a:t>
            </a:r>
            <a:r>
              <a:rPr lang="en-US" sz="1600" dirty="0">
                <a:solidFill>
                  <a:schemeClr val="dk1"/>
                </a:solidFill>
              </a:rPr>
              <a:t> with basic features (lagged price, return, volatility), the model achieved:F1 Score &gt; 50% after </a:t>
            </a:r>
            <a:r>
              <a:rPr lang="en-US" sz="1600" dirty="0" err="1">
                <a:solidFill>
                  <a:schemeClr val="dk1"/>
                </a:solidFill>
              </a:rPr>
              <a:t>tuningClear</a:t>
            </a:r>
            <a:r>
              <a:rPr lang="en-US" sz="1600" dirty="0">
                <a:solidFill>
                  <a:schemeClr val="dk1"/>
                </a:solidFill>
              </a:rPr>
              <a:t> improvement over random guessing (33% baseline for 3 classes)</a:t>
            </a:r>
          </a:p>
          <a:p>
            <a:pPr lvl="0" algn="l" rtl="0">
              <a:lnSpc>
                <a:spcPct val="115000"/>
              </a:lnSpc>
              <a:spcBef>
                <a:spcPts val="1200"/>
              </a:spcBef>
              <a:spcAft>
                <a:spcPts val="0"/>
              </a:spcAft>
              <a:buClr>
                <a:schemeClr val="dk1"/>
              </a:buClr>
              <a:buSzPts val="1100"/>
            </a:pPr>
            <a:r>
              <a:rPr lang="en-US" sz="1600" b="1" dirty="0">
                <a:solidFill>
                  <a:schemeClr val="dk1"/>
                </a:solidFill>
              </a:rPr>
              <a:t>This shows that stock trend direction is partially predictable using engineered technical features.</a:t>
            </a:r>
          </a:p>
          <a:p>
            <a:pPr lvl="0" algn="l" rtl="0">
              <a:lnSpc>
                <a:spcPct val="115000"/>
              </a:lnSpc>
              <a:spcBef>
                <a:spcPts val="1200"/>
              </a:spcBef>
              <a:spcAft>
                <a:spcPts val="0"/>
              </a:spcAft>
              <a:buClr>
                <a:schemeClr val="dk1"/>
              </a:buClr>
              <a:buSzPts val="1100"/>
            </a:pPr>
            <a:r>
              <a:rPr lang="en-US" sz="1600" dirty="0">
                <a:solidFill>
                  <a:schemeClr val="dk1"/>
                </a:solidFill>
              </a:rPr>
              <a:t>2. Model Tuning </a:t>
            </a:r>
            <a:r>
              <a:rPr lang="en-US" sz="1600" dirty="0" err="1">
                <a:solidFill>
                  <a:schemeClr val="dk1"/>
                </a:solidFill>
              </a:rPr>
              <a:t>MattersGridSearchCV</a:t>
            </a:r>
            <a:r>
              <a:rPr lang="en-US" sz="1600" dirty="0">
                <a:solidFill>
                  <a:schemeClr val="dk1"/>
                </a:solidFill>
              </a:rPr>
              <a:t> enhanced all key metrics:F1 Score increased from 48.6% → 51.4%Accuracy improved from 43.2% → 46.4%</a:t>
            </a:r>
          </a:p>
          <a:p>
            <a:pPr lvl="0" algn="l" rtl="0">
              <a:lnSpc>
                <a:spcPct val="115000"/>
              </a:lnSpc>
              <a:spcBef>
                <a:spcPts val="1200"/>
              </a:spcBef>
              <a:spcAft>
                <a:spcPts val="0"/>
              </a:spcAft>
              <a:buClr>
                <a:schemeClr val="dk1"/>
              </a:buClr>
              <a:buSzPts val="1100"/>
            </a:pPr>
            <a:r>
              <a:rPr lang="en-US" sz="1600" b="1" dirty="0">
                <a:solidFill>
                  <a:schemeClr val="dk1"/>
                </a:solidFill>
              </a:rPr>
              <a:t>This highlights the importance of hyperparameter optimization even in classical models</a:t>
            </a:r>
            <a:r>
              <a:rPr lang="en-US" sz="1600" dirty="0">
                <a:solidFill>
                  <a:schemeClr val="dk1"/>
                </a:solidFill>
              </a:rPr>
              <a:t>.</a:t>
            </a:r>
            <a:endParaRPr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73"/>
                                        </p:tgtEl>
                                        <p:attrNameLst>
                                          <p:attrName>style.visibility</p:attrName>
                                        </p:attrNameLst>
                                      </p:cBhvr>
                                      <p:to>
                                        <p:strVal val="visible"/>
                                      </p:to>
                                    </p:set>
                                    <p:anim calcmode="lin" valueType="num">
                                      <p:cBhvr additive="base">
                                        <p:cTn id="7" dur="500"/>
                                        <p:tgtEl>
                                          <p:spTgt spid="373"/>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4"/>
                                        </p:tgtEl>
                                        <p:attrNameLst>
                                          <p:attrName>style.visibility</p:attrName>
                                        </p:attrNameLst>
                                      </p:cBhvr>
                                      <p:to>
                                        <p:strVal val="visible"/>
                                      </p:to>
                                    </p:set>
                                    <p:animEffect transition="in" filter="fade">
                                      <p:cBhvr>
                                        <p:cTn id="11" dur="500"/>
                                        <p:tgtEl>
                                          <p:spTgt spid="374"/>
                                        </p:tgtEl>
                                      </p:cBhvr>
                                    </p:animEffect>
                                  </p:childTnLst>
                                </p:cTn>
                              </p:par>
                              <p:par>
                                <p:cTn id="12" presetID="10" presetClass="entr" presetSubtype="0" fill="hold" nodeType="withEffect">
                                  <p:stCondLst>
                                    <p:cond delay="0"/>
                                  </p:stCondLst>
                                  <p:childTnLst>
                                    <p:set>
                                      <p:cBhvr>
                                        <p:cTn id="13" dur="1" fill="hold">
                                          <p:stCondLst>
                                            <p:cond delay="0"/>
                                          </p:stCondLst>
                                        </p:cTn>
                                        <p:tgtEl>
                                          <p:spTgt spid="375"/>
                                        </p:tgtEl>
                                        <p:attrNameLst>
                                          <p:attrName>style.visibility</p:attrName>
                                        </p:attrNameLst>
                                      </p:cBhvr>
                                      <p:to>
                                        <p:strVal val="visible"/>
                                      </p:to>
                                    </p:set>
                                    <p:animEffect transition="in" filter="fade">
                                      <p:cBhvr>
                                        <p:cTn id="14" dur="500"/>
                                        <p:tgtEl>
                                          <p:spTgt spid="375"/>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76"/>
                                        </p:tgtEl>
                                        <p:attrNameLst>
                                          <p:attrName>style.visibility</p:attrName>
                                        </p:attrNameLst>
                                      </p:cBhvr>
                                      <p:to>
                                        <p:strVal val="visible"/>
                                      </p:to>
                                    </p:set>
                                    <p:animEffect transition="in" filter="fade">
                                      <p:cBhvr>
                                        <p:cTn id="18" dur="500"/>
                                        <p:tgtEl>
                                          <p:spTgt spid="376"/>
                                        </p:tgtEl>
                                      </p:cBhvr>
                                    </p:animEffect>
                                  </p:childTnLst>
                                </p:cTn>
                              </p:par>
                              <p:par>
                                <p:cTn id="19" presetID="10" presetClass="entr" presetSubtype="0" fill="hold" nodeType="withEffect">
                                  <p:stCondLst>
                                    <p:cond delay="0"/>
                                  </p:stCondLst>
                                  <p:childTnLst>
                                    <p:set>
                                      <p:cBhvr>
                                        <p:cTn id="20" dur="1" fill="hold">
                                          <p:stCondLst>
                                            <p:cond delay="0"/>
                                          </p:stCondLst>
                                        </p:cTn>
                                        <p:tgtEl>
                                          <p:spTgt spid="377"/>
                                        </p:tgtEl>
                                        <p:attrNameLst>
                                          <p:attrName>style.visibility</p:attrName>
                                        </p:attrNameLst>
                                      </p:cBhvr>
                                      <p:to>
                                        <p:strVal val="visible"/>
                                      </p:to>
                                    </p:set>
                                    <p:animEffect transition="in" filter="fade">
                                      <p:cBhvr>
                                        <p:cTn id="21" dur="500"/>
                                        <p:tgtEl>
                                          <p:spTgt spid="377"/>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378"/>
                                        </p:tgtEl>
                                        <p:attrNameLst>
                                          <p:attrName>style.visibility</p:attrName>
                                        </p:attrNameLst>
                                      </p:cBhvr>
                                      <p:to>
                                        <p:strVal val="visible"/>
                                      </p:to>
                                    </p:set>
                                    <p:animEffect transition="in" filter="fade">
                                      <p:cBhvr>
                                        <p:cTn id="25" dur="500"/>
                                        <p:tgtEl>
                                          <p:spTgt spid="378"/>
                                        </p:tgtEl>
                                      </p:cBhvr>
                                    </p:animEffect>
                                  </p:childTnLst>
                                </p:cTn>
                              </p:par>
                              <p:par>
                                <p:cTn id="26" presetID="10" presetClass="entr" presetSubtype="0" fill="hold" nodeType="withEffect">
                                  <p:stCondLst>
                                    <p:cond delay="0"/>
                                  </p:stCondLst>
                                  <p:childTnLst>
                                    <p:set>
                                      <p:cBhvr>
                                        <p:cTn id="27" dur="1" fill="hold">
                                          <p:stCondLst>
                                            <p:cond delay="0"/>
                                          </p:stCondLst>
                                        </p:cTn>
                                        <p:tgtEl>
                                          <p:spTgt spid="379"/>
                                        </p:tgtEl>
                                        <p:attrNameLst>
                                          <p:attrName>style.visibility</p:attrName>
                                        </p:attrNameLst>
                                      </p:cBhvr>
                                      <p:to>
                                        <p:strVal val="visible"/>
                                      </p:to>
                                    </p:set>
                                    <p:animEffect transition="in" filter="fade">
                                      <p:cBhvr>
                                        <p:cTn id="28" dur="500"/>
                                        <p:tgtEl>
                                          <p:spTgt spid="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F3F3F"/>
        </a:solidFill>
        <a:effectLst/>
      </p:bgPr>
    </p:bg>
    <p:spTree>
      <p:nvGrpSpPr>
        <p:cNvPr id="1" name="Shape 371">
          <a:extLst>
            <a:ext uri="{FF2B5EF4-FFF2-40B4-BE49-F238E27FC236}">
              <a16:creationId xmlns:a16="http://schemas.microsoft.com/office/drawing/2014/main" id="{184C2688-4D6B-4EBE-CAFC-F40905089E99}"/>
            </a:ext>
          </a:extLst>
        </p:cNvPr>
        <p:cNvGrpSpPr/>
        <p:nvPr/>
      </p:nvGrpSpPr>
      <p:grpSpPr>
        <a:xfrm>
          <a:off x="0" y="0"/>
          <a:ext cx="0" cy="0"/>
          <a:chOff x="0" y="0"/>
          <a:chExt cx="0" cy="0"/>
        </a:xfrm>
      </p:grpSpPr>
      <p:sp>
        <p:nvSpPr>
          <p:cNvPr id="372" name="Google Shape;372;p34">
            <a:extLst>
              <a:ext uri="{FF2B5EF4-FFF2-40B4-BE49-F238E27FC236}">
                <a16:creationId xmlns:a16="http://schemas.microsoft.com/office/drawing/2014/main" id="{45C7C846-1C10-88A4-C08D-435866811351}"/>
              </a:ext>
            </a:extLst>
          </p:cNvPr>
          <p:cNvSpPr/>
          <p:nvPr/>
        </p:nvSpPr>
        <p:spPr>
          <a:xfrm>
            <a:off x="148039" y="163654"/>
            <a:ext cx="8847900" cy="4816200"/>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73" name="Google Shape;373;p34">
            <a:extLst>
              <a:ext uri="{FF2B5EF4-FFF2-40B4-BE49-F238E27FC236}">
                <a16:creationId xmlns:a16="http://schemas.microsoft.com/office/drawing/2014/main" id="{C03602F8-4FFD-6E10-AB13-327403AE4BF0}"/>
              </a:ext>
            </a:extLst>
          </p:cNvPr>
          <p:cNvSpPr/>
          <p:nvPr/>
        </p:nvSpPr>
        <p:spPr>
          <a:xfrm>
            <a:off x="754856" y="412909"/>
            <a:ext cx="1959769" cy="225742"/>
          </a:xfrm>
          <a:prstGeom prst="roundRect">
            <a:avLst>
              <a:gd name="adj" fmla="val 16667"/>
            </a:avLst>
          </a:prstGeom>
          <a:no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b="1">
              <a:solidFill>
                <a:srgbClr val="3F3F3F"/>
              </a:solidFill>
              <a:latin typeface="Microsoft Yahei"/>
              <a:ea typeface="Microsoft Yahei"/>
              <a:cs typeface="Microsoft Yahei"/>
              <a:sym typeface="Microsoft Yahei"/>
            </a:endParaRPr>
          </a:p>
        </p:txBody>
      </p:sp>
      <p:sp>
        <p:nvSpPr>
          <p:cNvPr id="374" name="Google Shape;374;p34">
            <a:extLst>
              <a:ext uri="{FF2B5EF4-FFF2-40B4-BE49-F238E27FC236}">
                <a16:creationId xmlns:a16="http://schemas.microsoft.com/office/drawing/2014/main" id="{56C7C054-5555-ED9F-B169-672A82814C1A}"/>
              </a:ext>
            </a:extLst>
          </p:cNvPr>
          <p:cNvSpPr/>
          <p:nvPr/>
        </p:nvSpPr>
        <p:spPr>
          <a:xfrm>
            <a:off x="5199221" y="1265376"/>
            <a:ext cx="1203960" cy="23002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75" name="Google Shape;375;p34">
            <a:extLst>
              <a:ext uri="{FF2B5EF4-FFF2-40B4-BE49-F238E27FC236}">
                <a16:creationId xmlns:a16="http://schemas.microsoft.com/office/drawing/2014/main" id="{91202188-63FA-E49D-86D7-F80C693D13C4}"/>
              </a:ext>
            </a:extLst>
          </p:cNvPr>
          <p:cNvSpPr/>
          <p:nvPr/>
        </p:nvSpPr>
        <p:spPr>
          <a:xfrm>
            <a:off x="4826521" y="1516829"/>
            <a:ext cx="31443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376" name="Google Shape;376;p34">
            <a:extLst>
              <a:ext uri="{FF2B5EF4-FFF2-40B4-BE49-F238E27FC236}">
                <a16:creationId xmlns:a16="http://schemas.microsoft.com/office/drawing/2014/main" id="{F4840707-F027-692E-44FE-A0E1F41B92AE}"/>
              </a:ext>
            </a:extLst>
          </p:cNvPr>
          <p:cNvSpPr/>
          <p:nvPr/>
        </p:nvSpPr>
        <p:spPr>
          <a:xfrm>
            <a:off x="5199221" y="2339320"/>
            <a:ext cx="1203960" cy="23002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77" name="Google Shape;377;p34">
            <a:extLst>
              <a:ext uri="{FF2B5EF4-FFF2-40B4-BE49-F238E27FC236}">
                <a16:creationId xmlns:a16="http://schemas.microsoft.com/office/drawing/2014/main" id="{268FD1F8-A1A7-509F-A491-92F7226A25EA}"/>
              </a:ext>
            </a:extLst>
          </p:cNvPr>
          <p:cNvSpPr/>
          <p:nvPr/>
        </p:nvSpPr>
        <p:spPr>
          <a:xfrm>
            <a:off x="4685821" y="2533123"/>
            <a:ext cx="31443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378" name="Google Shape;378;p34">
            <a:extLst>
              <a:ext uri="{FF2B5EF4-FFF2-40B4-BE49-F238E27FC236}">
                <a16:creationId xmlns:a16="http://schemas.microsoft.com/office/drawing/2014/main" id="{87C45E9D-7471-F159-99B6-6816CFB7BE63}"/>
              </a:ext>
            </a:extLst>
          </p:cNvPr>
          <p:cNvSpPr/>
          <p:nvPr/>
        </p:nvSpPr>
        <p:spPr>
          <a:xfrm>
            <a:off x="5093799" y="3421817"/>
            <a:ext cx="1309500" cy="414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100" b="1">
              <a:solidFill>
                <a:srgbClr val="3F3F3F"/>
              </a:solidFill>
              <a:latin typeface="Microsoft Yahei"/>
              <a:ea typeface="Microsoft Yahei"/>
              <a:cs typeface="Microsoft Yahei"/>
              <a:sym typeface="Microsoft Yahei"/>
            </a:endParaRPr>
          </a:p>
        </p:txBody>
      </p:sp>
      <p:sp>
        <p:nvSpPr>
          <p:cNvPr id="379" name="Google Shape;379;p34">
            <a:extLst>
              <a:ext uri="{FF2B5EF4-FFF2-40B4-BE49-F238E27FC236}">
                <a16:creationId xmlns:a16="http://schemas.microsoft.com/office/drawing/2014/main" id="{1CEA7B74-F885-9EAA-4C2E-5ED567A0F558}"/>
              </a:ext>
            </a:extLst>
          </p:cNvPr>
          <p:cNvSpPr/>
          <p:nvPr/>
        </p:nvSpPr>
        <p:spPr>
          <a:xfrm>
            <a:off x="4039671" y="3836714"/>
            <a:ext cx="3144300" cy="414900"/>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None/>
            </a:pPr>
            <a:endParaRPr sz="800">
              <a:solidFill>
                <a:srgbClr val="3F3F3F"/>
              </a:solidFill>
              <a:latin typeface="Microsoft Yahei"/>
              <a:ea typeface="Microsoft Yahei"/>
              <a:cs typeface="Microsoft Yahei"/>
              <a:sym typeface="Microsoft Yahei"/>
            </a:endParaRPr>
          </a:p>
        </p:txBody>
      </p:sp>
      <p:sp>
        <p:nvSpPr>
          <p:cNvPr id="380" name="Google Shape;380;p34">
            <a:extLst>
              <a:ext uri="{FF2B5EF4-FFF2-40B4-BE49-F238E27FC236}">
                <a16:creationId xmlns:a16="http://schemas.microsoft.com/office/drawing/2014/main" id="{8DF7B4A9-CD14-405A-C170-C938E8BD3868}"/>
              </a:ext>
            </a:extLst>
          </p:cNvPr>
          <p:cNvSpPr txBox="1"/>
          <p:nvPr/>
        </p:nvSpPr>
        <p:spPr>
          <a:xfrm>
            <a:off x="445950" y="331450"/>
            <a:ext cx="80904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200" b="1" dirty="0"/>
              <a:t>Conclusion</a:t>
            </a:r>
            <a:endParaRPr sz="2200" b="1" dirty="0"/>
          </a:p>
        </p:txBody>
      </p:sp>
      <p:sp>
        <p:nvSpPr>
          <p:cNvPr id="381" name="Google Shape;381;p34">
            <a:extLst>
              <a:ext uri="{FF2B5EF4-FFF2-40B4-BE49-F238E27FC236}">
                <a16:creationId xmlns:a16="http://schemas.microsoft.com/office/drawing/2014/main" id="{00B2A5AB-B1A0-ACB2-AFD2-F4F463812A95}"/>
              </a:ext>
            </a:extLst>
          </p:cNvPr>
          <p:cNvSpPr txBox="1"/>
          <p:nvPr/>
        </p:nvSpPr>
        <p:spPr>
          <a:xfrm>
            <a:off x="558145" y="869323"/>
            <a:ext cx="8208000" cy="3742500"/>
          </a:xfrm>
          <a:prstGeom prst="rect">
            <a:avLst/>
          </a:prstGeom>
          <a:noFill/>
          <a:ln>
            <a:noFill/>
          </a:ln>
        </p:spPr>
        <p:txBody>
          <a:bodyPr spcFirstLastPara="1" wrap="square" lIns="91425" tIns="91425" rIns="91425" bIns="91425" anchor="t" anchorCtr="0">
            <a:noAutofit/>
          </a:bodyPr>
          <a:lstStyle/>
          <a:p>
            <a:pPr lvl="0" algn="l" rtl="0">
              <a:lnSpc>
                <a:spcPct val="115000"/>
              </a:lnSpc>
              <a:spcBef>
                <a:spcPts val="1200"/>
              </a:spcBef>
              <a:spcAft>
                <a:spcPts val="0"/>
              </a:spcAft>
              <a:buClr>
                <a:schemeClr val="dk1"/>
              </a:buClr>
              <a:buSzPts val="1100"/>
            </a:pPr>
            <a:r>
              <a:rPr lang="en-US" b="1" dirty="0"/>
              <a:t>3. Limitations Results are stock-specific (e.g., AAPL); </a:t>
            </a:r>
          </a:p>
          <a:p>
            <a:pPr lvl="0" algn="l" rtl="0">
              <a:lnSpc>
                <a:spcPct val="115000"/>
              </a:lnSpc>
              <a:spcBef>
                <a:spcPts val="1200"/>
              </a:spcBef>
              <a:spcAft>
                <a:spcPts val="0"/>
              </a:spcAft>
              <a:buClr>
                <a:schemeClr val="dk1"/>
              </a:buClr>
              <a:buSzPts val="1100"/>
            </a:pPr>
            <a:r>
              <a:rPr lang="en-US" dirty="0"/>
              <a:t>generalization across sectors/stocks is untested.</a:t>
            </a:r>
          </a:p>
          <a:p>
            <a:pPr lvl="0" algn="l" rtl="0">
              <a:lnSpc>
                <a:spcPct val="115000"/>
              </a:lnSpc>
              <a:spcBef>
                <a:spcPts val="1200"/>
              </a:spcBef>
              <a:spcAft>
                <a:spcPts val="0"/>
              </a:spcAft>
              <a:buClr>
                <a:schemeClr val="dk1"/>
              </a:buClr>
              <a:buSzPts val="1100"/>
            </a:pPr>
            <a:r>
              <a:rPr lang="en-US" dirty="0"/>
              <a:t>Current features exclude news, macro data, and sentiment, which likely carry predictive value.</a:t>
            </a:r>
          </a:p>
          <a:p>
            <a:pPr lvl="0" algn="l" rtl="0">
              <a:lnSpc>
                <a:spcPct val="115000"/>
              </a:lnSpc>
              <a:spcBef>
                <a:spcPts val="1200"/>
              </a:spcBef>
              <a:spcAft>
                <a:spcPts val="0"/>
              </a:spcAft>
              <a:buClr>
                <a:schemeClr val="dk1"/>
              </a:buClr>
              <a:buSzPts val="1100"/>
            </a:pPr>
            <a:r>
              <a:rPr lang="en-US" dirty="0"/>
              <a:t>Class imbalance and market randomness limit achievable accuracy.</a:t>
            </a:r>
          </a:p>
          <a:p>
            <a:pPr lvl="0" algn="l" rtl="0">
              <a:lnSpc>
                <a:spcPct val="115000"/>
              </a:lnSpc>
              <a:spcBef>
                <a:spcPts val="1200"/>
              </a:spcBef>
              <a:spcAft>
                <a:spcPts val="0"/>
              </a:spcAft>
              <a:buClr>
                <a:schemeClr val="dk1"/>
              </a:buClr>
              <a:buSzPts val="1100"/>
            </a:pPr>
            <a:r>
              <a:rPr lang="en-US" b="1" dirty="0"/>
              <a:t>4. Future Enhancements</a:t>
            </a:r>
          </a:p>
          <a:p>
            <a:pPr lvl="0" algn="l" rtl="0">
              <a:lnSpc>
                <a:spcPct val="115000"/>
              </a:lnSpc>
              <a:spcBef>
                <a:spcPts val="1200"/>
              </a:spcBef>
              <a:spcAft>
                <a:spcPts val="0"/>
              </a:spcAft>
              <a:buClr>
                <a:schemeClr val="dk1"/>
              </a:buClr>
              <a:buSzPts val="1100"/>
            </a:pPr>
            <a:r>
              <a:rPr lang="en-US" dirty="0"/>
              <a:t>Add text-based features (e.g., sentiment from news or Twitter)</a:t>
            </a:r>
          </a:p>
          <a:p>
            <a:pPr lvl="0" algn="l" rtl="0">
              <a:lnSpc>
                <a:spcPct val="115000"/>
              </a:lnSpc>
              <a:spcBef>
                <a:spcPts val="1200"/>
              </a:spcBef>
              <a:spcAft>
                <a:spcPts val="0"/>
              </a:spcAft>
              <a:buClr>
                <a:schemeClr val="dk1"/>
              </a:buClr>
              <a:buSzPts val="1100"/>
            </a:pPr>
            <a:r>
              <a:rPr lang="en-US" dirty="0"/>
              <a:t>Try cross-stock or sector-specific models</a:t>
            </a:r>
          </a:p>
          <a:p>
            <a:pPr lvl="0" algn="l" rtl="0">
              <a:lnSpc>
                <a:spcPct val="115000"/>
              </a:lnSpc>
              <a:spcBef>
                <a:spcPts val="1200"/>
              </a:spcBef>
              <a:spcAft>
                <a:spcPts val="0"/>
              </a:spcAft>
              <a:buClr>
                <a:schemeClr val="dk1"/>
              </a:buClr>
              <a:buSzPts val="1100"/>
            </a:pPr>
            <a:r>
              <a:rPr lang="en-US" dirty="0"/>
              <a:t>Explore advanced models (e.g., LSTM, transformers for time series)</a:t>
            </a:r>
            <a:endParaRPr dirty="0"/>
          </a:p>
        </p:txBody>
      </p:sp>
    </p:spTree>
    <p:extLst>
      <p:ext uri="{BB962C8B-B14F-4D97-AF65-F5344CB8AC3E}">
        <p14:creationId xmlns:p14="http://schemas.microsoft.com/office/powerpoint/2010/main" val="386905433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73"/>
                                        </p:tgtEl>
                                        <p:attrNameLst>
                                          <p:attrName>style.visibility</p:attrName>
                                        </p:attrNameLst>
                                      </p:cBhvr>
                                      <p:to>
                                        <p:strVal val="visible"/>
                                      </p:to>
                                    </p:set>
                                    <p:anim calcmode="lin" valueType="num">
                                      <p:cBhvr additive="base">
                                        <p:cTn id="7" dur="500"/>
                                        <p:tgtEl>
                                          <p:spTgt spid="373"/>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74"/>
                                        </p:tgtEl>
                                        <p:attrNameLst>
                                          <p:attrName>style.visibility</p:attrName>
                                        </p:attrNameLst>
                                      </p:cBhvr>
                                      <p:to>
                                        <p:strVal val="visible"/>
                                      </p:to>
                                    </p:set>
                                    <p:animEffect transition="in" filter="fade">
                                      <p:cBhvr>
                                        <p:cTn id="11" dur="500"/>
                                        <p:tgtEl>
                                          <p:spTgt spid="374"/>
                                        </p:tgtEl>
                                      </p:cBhvr>
                                    </p:animEffect>
                                  </p:childTnLst>
                                </p:cTn>
                              </p:par>
                              <p:par>
                                <p:cTn id="12" presetID="10" presetClass="entr" presetSubtype="0" fill="hold" nodeType="withEffect">
                                  <p:stCondLst>
                                    <p:cond delay="0"/>
                                  </p:stCondLst>
                                  <p:childTnLst>
                                    <p:set>
                                      <p:cBhvr>
                                        <p:cTn id="13" dur="1" fill="hold">
                                          <p:stCondLst>
                                            <p:cond delay="0"/>
                                          </p:stCondLst>
                                        </p:cTn>
                                        <p:tgtEl>
                                          <p:spTgt spid="375"/>
                                        </p:tgtEl>
                                        <p:attrNameLst>
                                          <p:attrName>style.visibility</p:attrName>
                                        </p:attrNameLst>
                                      </p:cBhvr>
                                      <p:to>
                                        <p:strVal val="visible"/>
                                      </p:to>
                                    </p:set>
                                    <p:animEffect transition="in" filter="fade">
                                      <p:cBhvr>
                                        <p:cTn id="14" dur="500"/>
                                        <p:tgtEl>
                                          <p:spTgt spid="375"/>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76"/>
                                        </p:tgtEl>
                                        <p:attrNameLst>
                                          <p:attrName>style.visibility</p:attrName>
                                        </p:attrNameLst>
                                      </p:cBhvr>
                                      <p:to>
                                        <p:strVal val="visible"/>
                                      </p:to>
                                    </p:set>
                                    <p:animEffect transition="in" filter="fade">
                                      <p:cBhvr>
                                        <p:cTn id="18" dur="500"/>
                                        <p:tgtEl>
                                          <p:spTgt spid="376"/>
                                        </p:tgtEl>
                                      </p:cBhvr>
                                    </p:animEffect>
                                  </p:childTnLst>
                                </p:cTn>
                              </p:par>
                              <p:par>
                                <p:cTn id="19" presetID="10" presetClass="entr" presetSubtype="0" fill="hold" nodeType="withEffect">
                                  <p:stCondLst>
                                    <p:cond delay="0"/>
                                  </p:stCondLst>
                                  <p:childTnLst>
                                    <p:set>
                                      <p:cBhvr>
                                        <p:cTn id="20" dur="1" fill="hold">
                                          <p:stCondLst>
                                            <p:cond delay="0"/>
                                          </p:stCondLst>
                                        </p:cTn>
                                        <p:tgtEl>
                                          <p:spTgt spid="377"/>
                                        </p:tgtEl>
                                        <p:attrNameLst>
                                          <p:attrName>style.visibility</p:attrName>
                                        </p:attrNameLst>
                                      </p:cBhvr>
                                      <p:to>
                                        <p:strVal val="visible"/>
                                      </p:to>
                                    </p:set>
                                    <p:animEffect transition="in" filter="fade">
                                      <p:cBhvr>
                                        <p:cTn id="21" dur="500"/>
                                        <p:tgtEl>
                                          <p:spTgt spid="377"/>
                                        </p:tgtEl>
                                      </p:cBhvr>
                                    </p:animEffect>
                                  </p:childTnLst>
                                </p:cTn>
                              </p:par>
                            </p:childTnLst>
                          </p:cTn>
                        </p:par>
                        <p:par>
                          <p:cTn id="22" fill="hold">
                            <p:stCondLst>
                              <p:cond delay="1500"/>
                            </p:stCondLst>
                            <p:childTnLst>
                              <p:par>
                                <p:cTn id="23" presetID="10" presetClass="entr" presetSubtype="0" fill="hold" nodeType="afterEffect">
                                  <p:stCondLst>
                                    <p:cond delay="0"/>
                                  </p:stCondLst>
                                  <p:childTnLst>
                                    <p:set>
                                      <p:cBhvr>
                                        <p:cTn id="24" dur="1" fill="hold">
                                          <p:stCondLst>
                                            <p:cond delay="0"/>
                                          </p:stCondLst>
                                        </p:cTn>
                                        <p:tgtEl>
                                          <p:spTgt spid="378"/>
                                        </p:tgtEl>
                                        <p:attrNameLst>
                                          <p:attrName>style.visibility</p:attrName>
                                        </p:attrNameLst>
                                      </p:cBhvr>
                                      <p:to>
                                        <p:strVal val="visible"/>
                                      </p:to>
                                    </p:set>
                                    <p:animEffect transition="in" filter="fade">
                                      <p:cBhvr>
                                        <p:cTn id="25" dur="500"/>
                                        <p:tgtEl>
                                          <p:spTgt spid="378"/>
                                        </p:tgtEl>
                                      </p:cBhvr>
                                    </p:animEffect>
                                  </p:childTnLst>
                                </p:cTn>
                              </p:par>
                              <p:par>
                                <p:cTn id="26" presetID="10" presetClass="entr" presetSubtype="0" fill="hold" nodeType="withEffect">
                                  <p:stCondLst>
                                    <p:cond delay="0"/>
                                  </p:stCondLst>
                                  <p:childTnLst>
                                    <p:set>
                                      <p:cBhvr>
                                        <p:cTn id="27" dur="1" fill="hold">
                                          <p:stCondLst>
                                            <p:cond delay="0"/>
                                          </p:stCondLst>
                                        </p:cTn>
                                        <p:tgtEl>
                                          <p:spTgt spid="379"/>
                                        </p:tgtEl>
                                        <p:attrNameLst>
                                          <p:attrName>style.visibility</p:attrName>
                                        </p:attrNameLst>
                                      </p:cBhvr>
                                      <p:to>
                                        <p:strVal val="visible"/>
                                      </p:to>
                                    </p:set>
                                    <p:animEffect transition="in" filter="fade">
                                      <p:cBhvr>
                                        <p:cTn id="28" dur="500"/>
                                        <p:tgtEl>
                                          <p:spTgt spid="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5"/>
          <p:cNvSpPr/>
          <p:nvPr/>
        </p:nvSpPr>
        <p:spPr>
          <a:xfrm>
            <a:off x="276701" y="473869"/>
            <a:ext cx="8590597" cy="4030504"/>
          </a:xfrm>
          <a:prstGeom prst="rect">
            <a:avLst/>
          </a:prstGeom>
          <a:solidFill>
            <a:srgbClr val="F2F2F2"/>
          </a:solidFill>
          <a:ln>
            <a:noFill/>
          </a:ln>
          <a:effectLst>
            <a:outerShdw blurRad="50800" dist="38100" dir="10800000" algn="r" rotWithShape="0">
              <a:srgbClr val="000000">
                <a:alpha val="4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88" name="Google Shape;388;p35"/>
          <p:cNvSpPr/>
          <p:nvPr/>
        </p:nvSpPr>
        <p:spPr>
          <a:xfrm>
            <a:off x="3213735" y="4367213"/>
            <a:ext cx="2783681" cy="291465"/>
          </a:xfrm>
          <a:prstGeom prst="roundRect">
            <a:avLst>
              <a:gd name="adj" fmla="val 50000"/>
            </a:avLst>
          </a:prstGeom>
          <a:solidFill>
            <a:srgbClr val="3F3F3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Microsoft Yahei"/>
              <a:ea typeface="Microsoft Yahei"/>
              <a:cs typeface="Microsoft Yahei"/>
              <a:sym typeface="Microsoft Yahei"/>
            </a:endParaRPr>
          </a:p>
        </p:txBody>
      </p:sp>
      <p:sp>
        <p:nvSpPr>
          <p:cNvPr id="389" name="Google Shape;389;p35"/>
          <p:cNvSpPr txBox="1"/>
          <p:nvPr/>
        </p:nvSpPr>
        <p:spPr>
          <a:xfrm>
            <a:off x="1453039" y="1653064"/>
            <a:ext cx="6236400" cy="10851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6600" b="1">
                <a:solidFill>
                  <a:srgbClr val="3F3F3F"/>
                </a:solidFill>
                <a:latin typeface="Microsoft Yahei"/>
                <a:ea typeface="Microsoft Yahei"/>
                <a:cs typeface="Microsoft Yahei"/>
                <a:sym typeface="Microsoft Yahei"/>
              </a:rPr>
              <a:t>Thank you</a:t>
            </a:r>
            <a:endParaRPr sz="6600" b="1">
              <a:solidFill>
                <a:srgbClr val="3F3F3F"/>
              </a:solidFill>
              <a:latin typeface="Microsoft Yahei"/>
              <a:ea typeface="Microsoft Yahei"/>
              <a:cs typeface="Microsoft Yahei"/>
              <a:sym typeface="Microsoft Yahei"/>
            </a:endParaRPr>
          </a:p>
        </p:txBody>
      </p:sp>
      <p:cxnSp>
        <p:nvCxnSpPr>
          <p:cNvPr id="390" name="Google Shape;390;p35"/>
          <p:cNvCxnSpPr/>
          <p:nvPr/>
        </p:nvCxnSpPr>
        <p:spPr>
          <a:xfrm>
            <a:off x="276701" y="2195036"/>
            <a:ext cx="1273016" cy="0"/>
          </a:xfrm>
          <a:prstGeom prst="straightConnector1">
            <a:avLst/>
          </a:prstGeom>
          <a:noFill/>
          <a:ln w="25400" cap="flat" cmpd="sng">
            <a:solidFill>
              <a:srgbClr val="3F3F3F"/>
            </a:solidFill>
            <a:prstDash val="solid"/>
            <a:miter lim="800000"/>
            <a:headEnd type="none" w="sm" len="sm"/>
            <a:tailEnd type="none" w="sm" len="sm"/>
          </a:ln>
        </p:spPr>
      </p:cxnSp>
      <p:cxnSp>
        <p:nvCxnSpPr>
          <p:cNvPr id="391" name="Google Shape;391;p35"/>
          <p:cNvCxnSpPr/>
          <p:nvPr/>
        </p:nvCxnSpPr>
        <p:spPr>
          <a:xfrm>
            <a:off x="7594283" y="2195036"/>
            <a:ext cx="1273016" cy="0"/>
          </a:xfrm>
          <a:prstGeom prst="straightConnector1">
            <a:avLst/>
          </a:prstGeom>
          <a:noFill/>
          <a:ln w="25400" cap="flat" cmpd="sng">
            <a:solidFill>
              <a:srgbClr val="3F3F3F"/>
            </a:solidFill>
            <a:prstDash val="solid"/>
            <a:miter lim="800000"/>
            <a:headEnd type="none" w="sm" len="sm"/>
            <a:tailEnd type="none" w="sm" len="sm"/>
          </a:ln>
        </p:spPr>
      </p:cxnSp>
      <p:sp>
        <p:nvSpPr>
          <p:cNvPr id="392" name="Google Shape;392;p35"/>
          <p:cNvSpPr txBox="1"/>
          <p:nvPr/>
        </p:nvSpPr>
        <p:spPr>
          <a:xfrm>
            <a:off x="1793368" y="2738181"/>
            <a:ext cx="5471700" cy="269400"/>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None/>
            </a:pPr>
            <a:r>
              <a:rPr lang="en" sz="1300" b="1">
                <a:solidFill>
                  <a:srgbClr val="595959"/>
                </a:solidFill>
                <a:latin typeface="Lora"/>
                <a:ea typeface="Lora"/>
                <a:cs typeface="Lora"/>
                <a:sym typeface="Lora"/>
              </a:rPr>
              <a:t>Q &amp; A</a:t>
            </a:r>
            <a:endParaRPr sz="1300" b="1">
              <a:solidFill>
                <a:srgbClr val="595959"/>
              </a:solidFill>
              <a:latin typeface="Lora"/>
              <a:ea typeface="Lora"/>
              <a:cs typeface="Lora"/>
              <a:sym typeface="Lora"/>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7"/>
                                        </p:tgtEl>
                                        <p:attrNameLst>
                                          <p:attrName>style.visibility</p:attrName>
                                        </p:attrNameLst>
                                      </p:cBhvr>
                                      <p:to>
                                        <p:strVal val="visible"/>
                                      </p:to>
                                    </p:set>
                                    <p:animEffect transition="in" filter="fade">
                                      <p:cBhvr>
                                        <p:cTn id="7" dur="500"/>
                                        <p:tgtEl>
                                          <p:spTgt spid="387"/>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389"/>
                                        </p:tgtEl>
                                        <p:attrNameLst>
                                          <p:attrName>style.visibility</p:attrName>
                                        </p:attrNameLst>
                                      </p:cBhvr>
                                      <p:to>
                                        <p:strVal val="visible"/>
                                      </p:to>
                                    </p:set>
                                    <p:anim calcmode="lin" valueType="num">
                                      <p:cBhvr additive="base">
                                        <p:cTn id="11" dur="500"/>
                                        <p:tgtEl>
                                          <p:spTgt spid="389"/>
                                        </p:tgtEl>
                                        <p:attrNameLst>
                                          <p:attrName>ppt_x</p:attrName>
                                        </p:attrNameLst>
                                      </p:cBhvr>
                                      <p:tavLst>
                                        <p:tav tm="0">
                                          <p:val>
                                            <p:strVal val="#ppt_x-1"/>
                                          </p:val>
                                        </p:tav>
                                        <p:tav tm="100000">
                                          <p:val>
                                            <p:strVal val="#ppt_x"/>
                                          </p:val>
                                        </p:tav>
                                      </p:tavLst>
                                    </p:anim>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90"/>
                                        </p:tgtEl>
                                        <p:attrNameLst>
                                          <p:attrName>style.visibility</p:attrName>
                                        </p:attrNameLst>
                                      </p:cBhvr>
                                      <p:to>
                                        <p:strVal val="visible"/>
                                      </p:to>
                                    </p:set>
                                    <p:animEffect transition="in" filter="fade">
                                      <p:cBhvr>
                                        <p:cTn id="15" dur="500"/>
                                        <p:tgtEl>
                                          <p:spTgt spid="390"/>
                                        </p:tgtEl>
                                      </p:cBhvr>
                                    </p:animEffect>
                                  </p:childTnLst>
                                </p:cTn>
                              </p:par>
                              <p:par>
                                <p:cTn id="16" presetID="10" presetClass="entr" presetSubtype="0" fill="hold" nodeType="withEffect">
                                  <p:stCondLst>
                                    <p:cond delay="0"/>
                                  </p:stCondLst>
                                  <p:childTnLst>
                                    <p:set>
                                      <p:cBhvr>
                                        <p:cTn id="17" dur="1" fill="hold">
                                          <p:stCondLst>
                                            <p:cond delay="0"/>
                                          </p:stCondLst>
                                        </p:cTn>
                                        <p:tgtEl>
                                          <p:spTgt spid="391"/>
                                        </p:tgtEl>
                                        <p:attrNameLst>
                                          <p:attrName>style.visibility</p:attrName>
                                        </p:attrNameLst>
                                      </p:cBhvr>
                                      <p:to>
                                        <p:strVal val="visible"/>
                                      </p:to>
                                    </p:set>
                                    <p:animEffect transition="in" filter="fade">
                                      <p:cBhvr>
                                        <p:cTn id="18" dur="500"/>
                                        <p:tgtEl>
                                          <p:spTgt spid="391"/>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392"/>
                                        </p:tgtEl>
                                        <p:attrNameLst>
                                          <p:attrName>style.visibility</p:attrName>
                                        </p:attrNameLst>
                                      </p:cBhvr>
                                      <p:to>
                                        <p:strVal val="visible"/>
                                      </p:to>
                                    </p:set>
                                    <p:animEffect transition="in" filter="fade">
                                      <p:cBhvr>
                                        <p:cTn id="22" dur="500"/>
                                        <p:tgtEl>
                                          <p:spTgt spid="392"/>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388"/>
                                        </p:tgtEl>
                                        <p:attrNameLst>
                                          <p:attrName>style.visibility</p:attrName>
                                        </p:attrNameLst>
                                      </p:cBhvr>
                                      <p:to>
                                        <p:strVal val="visible"/>
                                      </p:to>
                                    </p:set>
                                    <p:animEffect transition="in" filter="fade">
                                      <p:cBhvr>
                                        <p:cTn id="26" dur="500"/>
                                        <p:tgtEl>
                                          <p:spTgt spid="3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TotalTime>
  <Words>1025</Words>
  <Application>Microsoft Office PowerPoint</Application>
  <PresentationFormat>全屏显示(16:9)</PresentationFormat>
  <Paragraphs>165</Paragraphs>
  <Slides>21</Slides>
  <Notes>21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21</vt:i4>
      </vt:variant>
    </vt:vector>
  </HeadingPairs>
  <TitlesOfParts>
    <vt:vector size="29" baseType="lpstr">
      <vt:lpstr>Arial</vt:lpstr>
      <vt:lpstr>Wingdings</vt:lpstr>
      <vt:lpstr>Calibri</vt:lpstr>
      <vt:lpstr>Microsoft Yahei</vt:lpstr>
      <vt:lpstr>Lora</vt:lpstr>
      <vt:lpstr>Roboto Mono</vt:lpstr>
      <vt:lpstr>Simple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简仪 吴</cp:lastModifiedBy>
  <cp:revision>23</cp:revision>
  <dcterms:modified xsi:type="dcterms:W3CDTF">2025-04-23T19:43:19Z</dcterms:modified>
</cp:coreProperties>
</file>